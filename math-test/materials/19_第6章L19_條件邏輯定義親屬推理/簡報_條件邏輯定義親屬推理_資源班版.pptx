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0808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0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>
                <a:solidFill>
                  <a:srgbClr val="FFFFFF"/>
                </a:solidFill>
                <a:latin typeface="Microsoft JhengHei"/>
                <a:ea typeface="Microsoft JhengHei"/>
              </a:rPr>
              <a:t>高三數學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743200"/>
            <a:ext cx="11094415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>
                <a:solidFill>
                  <a:srgbClr val="FFFFFF"/>
                </a:solidFill>
                <a:latin typeface="Microsoft JhengHei"/>
                <a:ea typeface="Microsoft JhengHei"/>
              </a:rPr>
              <a:t>L19　條件邏輯・定義判斷・親屬推理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4297680"/>
            <a:ext cx="6858000" cy="822960"/>
          </a:xfrm>
          <a:prstGeom prst="roundRect">
            <a:avLst>
              <a:gd name="adj" fmla="val 6000"/>
            </a:avLst>
          </a:prstGeom>
          <a:solidFill>
            <a:srgbClr val="69A2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4297680"/>
            <a:ext cx="64008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</a:rPr>
              <a:t>資源班課堂簡報｜D8 關鍵字對譯法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DDE8E4"/>
                </a:solidFill>
                <a:latin typeface="Microsoft JhengHei"/>
                <a:ea typeface="Microsoft JhengHei"/>
              </a:rPr>
              <a:t>高三數學．第6章 語文與邏輯推理(一)．L19 條件邏輯／定義判斷／親屬關係．資源班課堂簡報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A1A1A"/>
                </a:solidFill>
                <a:latin typeface="Microsoft JhengHei"/>
                <a:ea typeface="Microsoft JhengHei"/>
              </a:rPr>
              <a:t>今日要做嘅4件事</a:t>
            </a:r>
          </a:p>
        </p:txBody>
      </p:sp>
      <p:sp>
        <p:nvSpPr>
          <p:cNvPr id="3" name="Oval 2"/>
          <p:cNvSpPr/>
          <p:nvPr/>
        </p:nvSpPr>
        <p:spPr>
          <a:xfrm>
            <a:off x="548640" y="1737360"/>
            <a:ext cx="502920" cy="50292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234440" y="1691640"/>
            <a:ext cx="10408615" cy="64008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63040" y="1810512"/>
            <a:ext cx="9905695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拆解條件句：畫箭嘴、認陷阱詞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651760"/>
            <a:ext cx="502920" cy="50292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34440" y="2606040"/>
            <a:ext cx="10408615" cy="64008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63040" y="2724912"/>
            <a:ext cx="9905695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定義判斷：逐項核對「要件」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566160"/>
            <a:ext cx="502920" cy="50292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34440" y="3520440"/>
            <a:ext cx="10408615" cy="64008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63040" y="3639312"/>
            <a:ext cx="9905695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親屬關係：由外層一步步代入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4480560"/>
            <a:ext cx="502920" cy="50292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JhengHei"/>
              </a:rPr>
              <a:t>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34440" y="4434840"/>
            <a:ext cx="10408615" cy="64008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63040" y="4553712"/>
            <a:ext cx="9905695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動手做：練習A、B、C三層任務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66666"/>
                </a:solidFill>
                <a:latin typeface="Microsoft JhengHei"/>
                <a:ea typeface="Microsoft JhengHei"/>
              </a:rPr>
              <a:t>高三數學．第6章 語文與邏輯推理(一)．L19 條件邏輯／定義判斷／親屬關係．資源班課堂簡報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A1A1A"/>
                </a:solidFill>
                <a:latin typeface="Microsoft JhengHei"/>
                <a:ea typeface="Microsoft JhengHei"/>
              </a:rPr>
              <a:t>先估估：呢個結論啱唔啱？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737360"/>
            <a:ext cx="11094415" cy="146304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1054577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1">
                <a:solidFill>
                  <a:srgbClr val="1A1A1A"/>
                </a:solidFill>
                <a:latin typeface="Microsoft JhengHei"/>
                <a:ea typeface="Microsoft JhengHei"/>
              </a:rPr>
              <a:t>犯法→受制裁→被睇唔起→唔受尊重；只有受尊重，先至舒心。邊個結論一定啱？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3474720"/>
            <a:ext cx="457200" cy="457200"/>
          </a:xfrm>
          <a:prstGeom prst="ellipse">
            <a:avLst/>
          </a:prstGeom>
          <a:solidFill>
            <a:srgbClr val="69A2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520440"/>
            <a:ext cx="104543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你不犯法，日子就會過得舒心。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4160520"/>
            <a:ext cx="457200" cy="457200"/>
          </a:xfrm>
          <a:prstGeom prst="ellipse">
            <a:avLst/>
          </a:prstGeom>
          <a:solidFill>
            <a:srgbClr val="69A2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4206240"/>
            <a:ext cx="104543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你犯了法，日子就不會過得舒心。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4846320"/>
            <a:ext cx="457200" cy="457200"/>
          </a:xfrm>
          <a:prstGeom prst="ellipse">
            <a:avLst/>
          </a:prstGeom>
          <a:solidFill>
            <a:srgbClr val="69A2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4892040"/>
            <a:ext cx="104543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你日子過得不舒心，證明你犯了法。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852160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444444"/>
                </a:solidFill>
                <a:latin typeface="Microsoft JhengHei"/>
                <a:ea typeface="Microsoft JhengHei"/>
              </a:rPr>
              <a:t>提示：第4句係「只有…才…」，要調轉先可以連落去。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66666"/>
                </a:solidFill>
                <a:latin typeface="Microsoft JhengHei"/>
                <a:ea typeface="Microsoft JhengHei"/>
              </a:rPr>
              <a:t>高三數學．第6章 語文與邏輯推理(一)．L19 條件邏輯／定義判斷／親屬關係．資源班課堂簡報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A1A1A"/>
                </a:solidFill>
                <a:latin typeface="Microsoft JhengHei"/>
                <a:ea typeface="Microsoft JhengHei"/>
              </a:rPr>
              <a:t>三種題型，一個共通動作：轉符號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737360"/>
            <a:ext cx="3515258" cy="548640"/>
          </a:xfrm>
          <a:prstGeom prst="roundRect">
            <a:avLst>
              <a:gd name="adj" fmla="val 6000"/>
            </a:avLst>
          </a:prstGeom>
          <a:solidFill>
            <a:srgbClr val="84B5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351525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000" b="1">
                <a:solidFill>
                  <a:srgbClr val="FFFFFF"/>
                </a:solidFill>
                <a:latin typeface="Microsoft JhengHei"/>
                <a:ea typeface="Microsoft JhengHei"/>
              </a:rPr>
              <a:t>條件邏輯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423160"/>
            <a:ext cx="3515258" cy="356616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606040"/>
            <a:ext cx="3149498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若P則Q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寫成P→Q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只有P才Q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主客要調轉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除非P否則Q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要接否定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逆否命題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先可以用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38218" y="1737360"/>
            <a:ext cx="3515258" cy="548640"/>
          </a:xfrm>
          <a:prstGeom prst="roundRect">
            <a:avLst>
              <a:gd name="adj" fmla="val 6000"/>
            </a:avLst>
          </a:prstGeom>
          <a:solidFill>
            <a:srgbClr val="69A2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38218" y="1737360"/>
            <a:ext cx="351525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000" b="1">
                <a:solidFill>
                  <a:srgbClr val="FFFFFF"/>
                </a:solidFill>
                <a:latin typeface="Microsoft JhengHei"/>
                <a:ea typeface="Microsoft JhengHei"/>
              </a:rPr>
              <a:t>定義判斷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38218" y="2423160"/>
            <a:ext cx="3515258" cy="356616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1098" y="2606040"/>
            <a:ext cx="3149498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定義拆件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編號①②③④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四個選項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逐項核對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漏一項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就不算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全部符合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先算啱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27796" y="1737360"/>
            <a:ext cx="3515258" cy="548640"/>
          </a:xfrm>
          <a:prstGeom prst="roundRect">
            <a:avLst>
              <a:gd name="adj" fmla="val 6000"/>
            </a:avLst>
          </a:prstGeom>
          <a:solidFill>
            <a:srgbClr val="508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27796" y="1737360"/>
            <a:ext cx="351525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000" b="1">
                <a:solidFill>
                  <a:srgbClr val="FFFFFF"/>
                </a:solidFill>
                <a:latin typeface="Microsoft JhengHei"/>
                <a:ea typeface="Microsoft JhengHei"/>
              </a:rPr>
              <a:t>親屬推理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27796" y="2423160"/>
            <a:ext cx="3515258" cy="356616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10676" y="2606040"/>
            <a:ext cx="3149498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由外層開始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一步步代入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先搞清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呢個人係邊個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再問佢嘅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某某係邊個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唔好一次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跳幾層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66666"/>
                </a:solidFill>
                <a:latin typeface="Microsoft JhengHei"/>
                <a:ea typeface="Microsoft JhengHei"/>
              </a:rPr>
              <a:t>高三數學．第6章 語文與邏輯推理(一)．L19 條件邏輯／定義判斷／親屬關係．資源班課堂簡報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A1A1A"/>
                </a:solidFill>
                <a:latin typeface="Microsoft JhengHei"/>
                <a:ea typeface="Microsoft JhengHei"/>
              </a:rPr>
              <a:t>關鍵字對譯規則（背呢6條）</a:t>
            </a:r>
          </a:p>
        </p:txBody>
      </p:sp>
      <p:sp>
        <p:nvSpPr>
          <p:cNvPr id="3" name="Oval 2"/>
          <p:cNvSpPr/>
          <p:nvPr/>
        </p:nvSpPr>
        <p:spPr>
          <a:xfrm>
            <a:off x="548640" y="1737360"/>
            <a:ext cx="457200" cy="45720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1755648"/>
            <a:ext cx="10408615" cy="6019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若P則Q、只要P就Q → 寫成P→Q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2385060"/>
            <a:ext cx="457200" cy="45720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2403348"/>
            <a:ext cx="10408615" cy="6019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只有P才Q → Q→P（主客詞調轉）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3032760"/>
            <a:ext cx="457200" cy="45720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3051048"/>
            <a:ext cx="10408615" cy="6019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除非P否則Q → ¬P→Q（要接否定）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680460"/>
            <a:ext cx="457200" cy="45720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698748"/>
            <a:ext cx="10408615" cy="6019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逆命題唔等價，逆否命題先等價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328160"/>
            <a:ext cx="457200" cy="45720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346448"/>
            <a:ext cx="10408615" cy="6019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定義題：逐項要件核對，唔漏一項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975860"/>
            <a:ext cx="457200" cy="45720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4994148"/>
            <a:ext cx="10408615" cy="6019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親屬題：由外層開始，一步步代入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5760720"/>
            <a:ext cx="11094415" cy="59436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5870448"/>
            <a:ext cx="10637215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呢張表全程可以睇，唔使死記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66666"/>
                </a:solidFill>
                <a:latin typeface="Microsoft JhengHei"/>
                <a:ea typeface="Microsoft JhengHei"/>
              </a:rPr>
              <a:t>高三數學．第6章 語文與邏輯推理(一)．L19 條件邏輯／定義判斷／親屬關係．資源班課堂簡報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0808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2743200"/>
            <a:ext cx="9997135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3200" b="1">
                <a:solidFill>
                  <a:srgbClr val="FFFFFF"/>
                </a:solidFill>
                <a:latin typeface="Microsoft JhengHei"/>
                <a:ea typeface="Microsoft JhengHei"/>
              </a:rPr>
              <a:t>呢啲規則入面</a:t>
            </a:r>
          </a:p>
          <a:p>
            <a:pPr algn="ctr">
              <a:lnSpc>
                <a:spcPct val="130000"/>
              </a:lnSpc>
            </a:pPr>
            <a:r>
              <a:rPr sz="3200" b="1">
                <a:solidFill>
                  <a:srgbClr val="FFFFFF"/>
                </a:solidFill>
                <a:latin typeface="Microsoft JhengHei"/>
                <a:ea typeface="Microsoft JhengHei"/>
              </a:rPr>
              <a:t>有幾條陷阱最易中招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DDE8E4"/>
                </a:solidFill>
                <a:latin typeface="Microsoft JhengHei"/>
                <a:ea typeface="Microsoft JhengHei"/>
              </a:rPr>
              <a:t>高三數學．第6章 語文與邏輯推理(一)．L19 條件邏輯／定義判斷／親屬關係．資源班課堂簡報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A1A1A"/>
                </a:solidFill>
                <a:latin typeface="Microsoft JhengHei"/>
                <a:ea typeface="Microsoft JhengHei"/>
              </a:rPr>
              <a:t>3個常見中招位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737360"/>
            <a:ext cx="5410047" cy="1143000"/>
          </a:xfrm>
          <a:prstGeom prst="roundRect">
            <a:avLst>
              <a:gd name="adj" fmla="val 6000"/>
            </a:avLst>
          </a:prstGeom>
          <a:solidFill>
            <a:srgbClr val="E9D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5044287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✗　以為逆命題同原命題一樣啱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33007" y="1737360"/>
            <a:ext cx="5410047" cy="114300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15887" y="1828800"/>
            <a:ext cx="5044287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✓　逆否命題¬Q→¬P先同原命題等價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108960"/>
            <a:ext cx="5410047" cy="1143000"/>
          </a:xfrm>
          <a:prstGeom prst="roundRect">
            <a:avLst>
              <a:gd name="adj" fmla="val 6000"/>
            </a:avLst>
          </a:prstGeom>
          <a:solidFill>
            <a:srgbClr val="E9D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200400"/>
            <a:ext cx="5044287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✗　見到一兩項符合就快手選咗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3007" y="3108960"/>
            <a:ext cx="5410047" cy="114300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15887" y="3200400"/>
            <a:ext cx="5044287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✓　要逐項核對晒全部要件先算啱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480560"/>
            <a:ext cx="5410047" cy="1143000"/>
          </a:xfrm>
          <a:prstGeom prst="roundRect">
            <a:avLst>
              <a:gd name="adj" fmla="val 6000"/>
            </a:avLst>
          </a:prstGeom>
          <a:solidFill>
            <a:srgbClr val="E9D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572000"/>
            <a:ext cx="5044287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✗　一次過睇成句，唔知邊個係邊個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3007" y="4480560"/>
            <a:ext cx="5410047" cy="114300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5887" y="4572000"/>
            <a:ext cx="5044287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✓　由外層開始，一步步代入先搞清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66666"/>
                </a:solidFill>
                <a:latin typeface="Microsoft JhengHei"/>
                <a:ea typeface="Microsoft JhengHei"/>
              </a:rPr>
              <a:t>高三數學．第6章 語文與邏輯推理(一)．L19 條件邏輯／定義判斷／親屬關係．資源班課堂簡報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A1A1A"/>
                </a:solidFill>
                <a:latin typeface="Microsoft JhengHei"/>
                <a:ea typeface="Microsoft JhengHei"/>
              </a:rPr>
              <a:t>深堂示範：判斷邊句意思相同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63040"/>
            <a:ext cx="11094415" cy="59436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637215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1A1A1A"/>
                </a:solidFill>
                <a:latin typeface="Microsoft JhengHei"/>
                <a:ea typeface="Microsoft JhengHei"/>
              </a:rPr>
              <a:t>「如果太陽毀滅，就有外星人」邊個選項意思相同？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94560"/>
            <a:ext cx="5410047" cy="411480"/>
          </a:xfrm>
          <a:prstGeom prst="roundRect">
            <a:avLst>
              <a:gd name="adj" fmla="val 6000"/>
            </a:avLst>
          </a:prstGeom>
          <a:solidFill>
            <a:srgbClr val="84B5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5410047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</a:rPr>
              <a:t>問什麼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651760"/>
            <a:ext cx="5410047" cy="150876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743200"/>
            <a:ext cx="5044287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邊個選項</a:t>
            </a:r>
          </a:p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同原句</a:t>
            </a:r>
          </a:p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意思相等？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3007" y="2194560"/>
            <a:ext cx="5410047" cy="411480"/>
          </a:xfrm>
          <a:prstGeom prst="roundRect">
            <a:avLst>
              <a:gd name="adj" fmla="val 6000"/>
            </a:avLst>
          </a:prstGeom>
          <a:solidFill>
            <a:srgbClr val="69A2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33007" y="2194560"/>
            <a:ext cx="5410047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</a:rPr>
              <a:t>已知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3007" y="2651760"/>
            <a:ext cx="5410047" cy="150876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5887" y="2743200"/>
            <a:ext cx="5044287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原句：P→Q</a:t>
            </a:r>
          </a:p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(P=太陽毀滅</a:t>
            </a:r>
          </a:p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Q=有外星人)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297680"/>
            <a:ext cx="5410047" cy="411480"/>
          </a:xfrm>
          <a:prstGeom prst="roundRect">
            <a:avLst>
              <a:gd name="adj" fmla="val 6000"/>
            </a:avLst>
          </a:prstGeom>
          <a:solidFill>
            <a:srgbClr val="508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297680"/>
            <a:ext cx="5410047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</a:rPr>
              <a:t>策略算式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754880"/>
            <a:ext cx="5410047" cy="150876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846320"/>
            <a:ext cx="5044287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P→Q 恆等於</a:t>
            </a:r>
          </a:p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「¬P 或 Q」</a:t>
            </a:r>
          </a:p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即「唔毀滅</a:t>
            </a:r>
          </a:p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或有外星人」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33007" y="4297680"/>
            <a:ext cx="5410047" cy="411480"/>
          </a:xfrm>
          <a:prstGeom prst="roundRect">
            <a:avLst>
              <a:gd name="adj" fmla="val 6000"/>
            </a:avLst>
          </a:prstGeom>
          <a:solidFill>
            <a:srgbClr val="84B5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33007" y="4297680"/>
            <a:ext cx="5410047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</a:rPr>
              <a:t>解答驗算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3007" y="4754880"/>
            <a:ext cx="5410047" cy="150876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15887" y="4846320"/>
            <a:ext cx="5044287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對應選項C</a:t>
            </a:r>
          </a:p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A係逆命題</a:t>
            </a:r>
          </a:p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(唔等價)　答案：C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66666"/>
                </a:solidFill>
                <a:latin typeface="Microsoft JhengHei"/>
                <a:ea typeface="Microsoft JhengHei"/>
              </a:rPr>
              <a:t>高三數學．第6章 語文與邏輯推理(一)．L19 條件邏輯／定義判斷／親屬關係．資源班課堂簡報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A1A1A"/>
                </a:solidFill>
                <a:latin typeface="Microsoft JhengHei"/>
                <a:ea typeface="Microsoft JhengHei"/>
              </a:rPr>
              <a:t>自己動手時嘅4個動作</a:t>
            </a:r>
          </a:p>
        </p:txBody>
      </p:sp>
      <p:sp>
        <p:nvSpPr>
          <p:cNvPr id="3" name="Oval 2"/>
          <p:cNvSpPr/>
          <p:nvPr/>
        </p:nvSpPr>
        <p:spPr>
          <a:xfrm>
            <a:off x="548640" y="1737360"/>
            <a:ext cx="457200" cy="45720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1755648"/>
            <a:ext cx="1040861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條件句：翻譯做符號，唔淨係讀字面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2514600"/>
            <a:ext cx="457200" cy="45720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2532888"/>
            <a:ext cx="1040861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定義題：逐項要件核對，冇漏一項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3291840"/>
            <a:ext cx="457200" cy="45720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3310128"/>
            <a:ext cx="1040861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親屬題：由外層一步步代入，唔跳層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4069080"/>
            <a:ext cx="457200" cy="45720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4087368"/>
            <a:ext cx="1040861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答案代返去題目，檢查一次啱唔啱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983480"/>
            <a:ext cx="11094415" cy="59436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093208"/>
            <a:ext cx="10637215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唔記得？睇返《工具卡》關鍵字對譯精簡版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66666"/>
                </a:solidFill>
                <a:latin typeface="Microsoft JhengHei"/>
                <a:ea typeface="Microsoft JhengHei"/>
              </a:rPr>
              <a:t>高三數學．第6章 語文與邏輯推理(一)．L19 條件邏輯／定義判斷／親屬關係．資源班課堂簡報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0808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2743200"/>
            <a:ext cx="9997135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3200" b="1">
                <a:solidFill>
                  <a:srgbClr val="FFFFFF"/>
                </a:solidFill>
                <a:latin typeface="Microsoft JhengHei"/>
                <a:ea typeface="Microsoft JhengHei"/>
              </a:rPr>
              <a:t>睇完規則</a:t>
            </a:r>
          </a:p>
          <a:p>
            <a:pPr algn="ctr">
              <a:lnSpc>
                <a:spcPct val="130000"/>
              </a:lnSpc>
            </a:pPr>
            <a:r>
              <a:rPr sz="3200" b="1">
                <a:solidFill>
                  <a:srgbClr val="FFFFFF"/>
                </a:solidFill>
                <a:latin typeface="Microsoft JhengHei"/>
                <a:ea typeface="Microsoft JhengHei"/>
              </a:rPr>
              <a:t>而家嚟做一條真題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DDE8E4"/>
                </a:solidFill>
                <a:latin typeface="Microsoft JhengHei"/>
                <a:ea typeface="Microsoft JhengHei"/>
              </a:rPr>
              <a:t>高三數學．第6章 語文與邏輯推理(一)．L19 條件邏輯／定義判斷／親屬關係．資源班課堂簡報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A1A1A"/>
                </a:solidFill>
                <a:latin typeface="Microsoft JhengHei"/>
                <a:ea typeface="Microsoft JhengHei"/>
              </a:rPr>
              <a:t>示範：練習A 第1題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600200"/>
            <a:ext cx="11094415" cy="73152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691640"/>
            <a:ext cx="10637215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1．若①所有樹都會開花、②某些樹是山茱萸，③『所有山茱萸都會開花』岩唔岩？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2560320"/>
            <a:ext cx="402336" cy="402336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" y="2542032"/>
            <a:ext cx="10527487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②話：山茱萸屬於「樹」呢類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3127248"/>
            <a:ext cx="402336" cy="402336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3108960"/>
            <a:ext cx="10527487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①話：樹→會開花（所有樹都係）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694176"/>
            <a:ext cx="402336" cy="402336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3675888"/>
            <a:ext cx="10527487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串連：山茱萸→樹→會開花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261104"/>
            <a:ext cx="402336" cy="402336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JhengHei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4242816"/>
            <a:ext cx="10527487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所以③「山茱萸都會開花」為真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828032"/>
            <a:ext cx="402336" cy="402336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JhengHei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" y="4809744"/>
            <a:ext cx="10527487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答案：A．真的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5486400"/>
            <a:ext cx="11094415" cy="548640"/>
          </a:xfrm>
          <a:prstGeom prst="roundRect">
            <a:avLst>
              <a:gd name="adj" fmla="val 6000"/>
            </a:avLst>
          </a:prstGeom>
          <a:solidFill>
            <a:srgbClr val="E9D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5577840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1A1A1A"/>
                </a:solidFill>
                <a:latin typeface="Microsoft JhengHei"/>
                <a:ea typeface="Microsoft JhengHei"/>
              </a:rPr>
              <a:t>易錯點：「某些」≠「所有」，但唔影響呢個結論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66666"/>
                </a:solidFill>
                <a:latin typeface="Microsoft JhengHei"/>
                <a:ea typeface="Microsoft JhengHei"/>
              </a:rPr>
              <a:t>高三數學．第6章 語文與邏輯推理(一)．L19 條件邏輯／定義判斷／親屬關係．資源班課堂簡報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A1A1A"/>
                </a:solidFill>
                <a:latin typeface="Microsoft JhengHei"/>
                <a:ea typeface="Microsoft JhengHei"/>
              </a:rPr>
              <a:t>輪到你：練習A／B／C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737360"/>
            <a:ext cx="3515258" cy="640080"/>
          </a:xfrm>
          <a:prstGeom prst="roundRect">
            <a:avLst>
              <a:gd name="adj" fmla="val 6000"/>
            </a:avLst>
          </a:prstGeom>
          <a:solidFill>
            <a:srgbClr val="84B5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351525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</a:rPr>
              <a:t>練習A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29968"/>
            <a:ext cx="351525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0">
                <a:solidFill>
                  <a:srgbClr val="FFFFFF"/>
                </a:solidFill>
                <a:latin typeface="Microsoft JhengHei"/>
                <a:ea typeface="Microsoft JhengHei"/>
              </a:rPr>
              <a:t>★☆☆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514600"/>
            <a:ext cx="3515258" cy="365760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2651760"/>
            <a:ext cx="3186074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2．女士話：「佢嘅母親係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我母親嘅獨生女」。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呢名女士係甲嘅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乜關係？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A母親 B妹妹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C女兒 D姨媽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38218" y="1737360"/>
            <a:ext cx="3515258" cy="640080"/>
          </a:xfrm>
          <a:prstGeom prst="roundRect">
            <a:avLst>
              <a:gd name="adj" fmla="val 6000"/>
            </a:avLst>
          </a:prstGeom>
          <a:solidFill>
            <a:srgbClr val="69A2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38218" y="1737360"/>
            <a:ext cx="351525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</a:rPr>
              <a:t>練習B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38218" y="2029968"/>
            <a:ext cx="351525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0">
                <a:solidFill>
                  <a:srgbClr val="FFFFFF"/>
                </a:solidFill>
                <a:latin typeface="Microsoft JhengHei"/>
                <a:ea typeface="Microsoft JhengHei"/>
              </a:rPr>
              <a:t>★★☆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38218" y="2514600"/>
            <a:ext cx="3515258" cy="365760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02810" y="2651760"/>
            <a:ext cx="3186074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4．『政策性虧損』：因國家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限價虧損＋財政部門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審核後補償。邊個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糧食企業例子啱？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（逐項核對要件）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27796" y="1737360"/>
            <a:ext cx="3515258" cy="640080"/>
          </a:xfrm>
          <a:prstGeom prst="roundRect">
            <a:avLst>
              <a:gd name="adj" fmla="val 6000"/>
            </a:avLst>
          </a:prstGeom>
          <a:solidFill>
            <a:srgbClr val="508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27796" y="1737360"/>
            <a:ext cx="351525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</a:rPr>
              <a:t>練習C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27796" y="2029968"/>
            <a:ext cx="351525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0">
                <a:solidFill>
                  <a:srgbClr val="FFFFFF"/>
                </a:solidFill>
                <a:latin typeface="Microsoft JhengHei"/>
                <a:ea typeface="Microsoft JhengHei"/>
              </a:rPr>
              <a:t>★★★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27796" y="2514600"/>
            <a:ext cx="3515258" cy="365760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92388" y="2651760"/>
            <a:ext cx="3186074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5．①只有律師先可以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申請甲卡②凡律師都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可入法院。邊個結論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必然成立？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66666"/>
                </a:solidFill>
                <a:latin typeface="Microsoft JhengHei"/>
                <a:ea typeface="Microsoft JhengHei"/>
              </a:rPr>
              <a:t>高三數學．第6章 語文與邏輯推理(一)．L19 條件邏輯／定義判斷／親屬關係．資源班課堂簡報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0808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0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>
                <a:solidFill>
                  <a:srgbClr val="DDE8E4"/>
                </a:solidFill>
                <a:latin typeface="Microsoft JhengHei"/>
                <a:ea typeface="Microsoft JhengHei"/>
              </a:rPr>
              <a:t>帶走一句話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11094415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3400" b="1">
                <a:solidFill>
                  <a:srgbClr val="FFFFFF"/>
                </a:solidFill>
                <a:latin typeface="Microsoft JhengHei"/>
                <a:ea typeface="Microsoft JhengHei"/>
              </a:rPr>
              <a:t>見到固定句式，即刻翻譯做符號——先睇得出結構，先識得推理。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3749039"/>
            <a:ext cx="11094415" cy="1554480"/>
          </a:xfrm>
          <a:prstGeom prst="roundRect">
            <a:avLst>
              <a:gd name="adj" fmla="val 6000"/>
            </a:avLst>
          </a:prstGeom>
          <a:solidFill>
            <a:srgbClr val="69A2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931920"/>
            <a:ext cx="105457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</a:rPr>
              <a:t>保底版（至少要能說出的一句）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343400"/>
            <a:ext cx="1054577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FFFFFF"/>
                </a:solidFill>
                <a:latin typeface="Microsoft JhengHei"/>
                <a:ea typeface="Microsoft JhengHei"/>
              </a:rPr>
              <a:t>只有…才…、除非…否則、逆否命題——三個詞記住，考試已經贏一半。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DDE8E4"/>
                </a:solidFill>
                <a:latin typeface="Microsoft JhengHei"/>
                <a:ea typeface="Microsoft JhengHei"/>
              </a:rPr>
              <a:t>高三數學．第6章 語文與邏輯推理(一)．L19 條件邏輯／定義判斷／親屬關係．資源班課堂簡報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