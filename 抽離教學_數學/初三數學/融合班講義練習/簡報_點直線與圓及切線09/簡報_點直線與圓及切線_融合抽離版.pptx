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開場定調：這個單元只有兩節課，而且第一節只需要「比大小」。每一節都是：學一招 → 看老師示範 → 自己挑星星練習。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先給地圖：只有兩節課，減少焦慮。強調課時① 的判準其實只有一句「比大小」，門檻很低。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進入課時①。整節課的核心只有一句：把 d 和 r 比大小。不用計算，只要判斷。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保底暖身：用日出畫面建立直覺，先不出現 d 和 r。請學生用手比劃三個階段。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口訣：小在內、等在上、大在外。請學生把三行讀出來一次。不用背，看圖就知道：離圓心越遠，越在外面。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和上一頁完全同一套判準，只是 d 換了意思。強調：直線和圓最多只有 2 個交點，沒有 3 個。三張圖從左到右，d 越來越小。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減少記憶負荷：不是兩套規則，是一套。提醒 d 的意思會換（點到圓心／圓心到直線），但比大小的動作不變。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轉換點：起身伸展 30 秒。先預告下一段是自己動手做，讓 ADHD／ASD 學生有準備。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解答核對｜A1: (1) d＝3＜5 圓內 (2) d＝5＝5 圓上 (3) d＝7＞5 圓外；A2: (1) 2＜4 相交 (2) 4＝4 相切 (3) 6＞4 相離。 B3: d＝r＝3 → 相切，1 個公共點；B4: d＝6.5＞r＝6 → 相離，0 個公共點。 C5: 不對，直線與圓最多 2 個公共點（相交時）；C6: 相交 ⇔ d＜r，且距離不為負 → 0 ≤ d ＜ 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回收課時①。保底：能講出「比大小」三個字並套對一題就達標。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進入課時②。三招：判定、性質（⊥）、切線長相等。重點在第二、三招，做題時最常用。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做題時只用「性質」那一句：看到切線，馬上在切點畫直角。判定留給證明題，這節不深入。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步是關鍵：切線題的第一個動作永遠是「畫直角」。畫完之後，題目就變回熟悉的勾股定理題。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圖像先行：請學生看圖說出「兩條粗線一樣長」。這個定理在幾何題最常用來換邊長。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三角形的每個頂點都是「圓外一點」，所以每個頂點都有兩條等長的切線。周長剛好是三對切線長，所以乘 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澄清方法：讓學生用尺在紙上畫圓，試試看能不能讓一條直線碰到 3 點——做不到。「最多 2 個」是判斷題常考點。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轉換點：起身伸展 30 秒。先預告下一段是自己動手做，讓 ADHD／ASD 學生有準備。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解答核對｜A1: 切線 ⊥ 過切點的半徑 → ∠OAP＝90°；A2: 切線長定理 → PB＝PA＝12。 B3: ∠OAP＝90° → OP＝√(6²+8²)＝√(36+64)＝√100＝10；B4: PB＝12，理由是從圓外一點引的兩條切線長相等（切線長定理）。 C5: 四邊形 PAOB 中 ∠PAO＝∠PBO＝90°，四邊形內角和 360° → ∠APB＋∠AOB＝180°，∠AOB＝180−70＝110°；C6: AD＝AF＝4、BD＝BE＝5、CE＝CF＝6，周長＝2×(4+5+6)＝30。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回收課時②。保底：能在切點標出 90°、能講出「兩條切線一樣長」就達標。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整體回收。連結上一單元 08：垂徑定理也是「畫直角三角形」。連結下一單元 10：圓冪定理會再用切線。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正向收束，asset-based。肯定策略與過程。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此頁供教師／IEP 對接用，上課可略過。屬 Accommodation，未剪裁課程內容。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2588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25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抽離小組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點、直線與圓、切線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FE0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兩課時通關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比大小：d 與 r</a:t>
            </a:r>
            <a:pPr algn="l" indent="0" marL="0">
              <a:buNone/>
            </a:pPr>
            <a:r>
              <a:rPr lang="en-US" sz="2200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  →      </a:t>
            </a:r>
            <a:pPr algn="l" indent="0" marL="0">
              <a:buNone/>
            </a:pPr>
            <a:r>
              <a:rPr lang="en-US" sz="22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切線三招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9834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融合版 · 同一份簡報，跟著兩課時一步一步走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這個單元，我們走兩節課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276856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7685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88920" y="2020824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點、直線與圓的位置關係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788920" y="2551176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只做一件事：把 d 和 r 比大小，判斷在圓內／圓上／圓外，相離／相切／相交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3410712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81304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81304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88920" y="3557016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切線的判定、性質與切線長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2788920" y="40873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切線 ⊥ 過切點的半徑；從圓外一點引的兩條切線一樣長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每一節都一樣：學一招 → 看範例 → 挑星星練習 ★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點、直線與圓、切線（抽離小組·融合版）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2834640" cy="91440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931920" y="19659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點、直線與圓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68680" y="33832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35564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832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24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會比較 d 與 r，判斷位置關係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點、直線與圓、切線（抽離小組·融合版）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引入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日出：太陽和地平線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9966960" cy="1234440"/>
          </a:xfrm>
          <a:prstGeom prst="roundRect">
            <a:avLst>
              <a:gd name="adj" fmla="val 11111"/>
            </a:avLst>
          </a:prstGeom>
          <a:solidFill>
            <a:srgbClr val="4E8770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1828800"/>
            <a:ext cx="9326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太陽升起的過程，剛好走過直線與圓的三種關係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97280" y="3383280"/>
            <a:ext cx="99669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3383280"/>
            <a:ext cx="4023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太陽還在地平線下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486400" y="3383280"/>
            <a:ext cx="3291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沒有露出來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961120" y="3383280"/>
            <a:ext cx="1828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相離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97280" y="4279392"/>
            <a:ext cx="99669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4279392"/>
            <a:ext cx="4023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太陽剛好碰到地平線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486400" y="4279392"/>
            <a:ext cx="3291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只碰到一點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61120" y="4279392"/>
            <a:ext cx="1828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相切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97280" y="5175504"/>
            <a:ext cx="99669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5175504"/>
            <a:ext cx="4023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太陽升上來一半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486400" y="5175504"/>
            <a:ext cx="3291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地平線穿過太陽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961120" y="5175504"/>
            <a:ext cx="1828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相交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點、直線與圓、切線（抽離小組·融合版）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概念（保底）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點在圓的哪裡？比 d 和 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7607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57400" y="2194560"/>
            <a:ext cx="2926080" cy="2926080"/>
          </a:xfrm>
          <a:prstGeom prst="ellipse">
            <a:avLst/>
          </a:prstGeom>
          <a:ln w="25400">
            <a:solidFill>
              <a:srgbClr val="233A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13846" y="3468269"/>
            <a:ext cx="706594" cy="189331"/>
          </a:xfrm>
          <a:prstGeom prst="line">
            <a:avLst/>
          </a:prstGeom>
          <a:noFill/>
          <a:ln w="25400">
            <a:solidFill>
              <a:srgbClr val="6FA48C"/>
            </a:solidFill>
            <a:prstDash val="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736122" y="3390545"/>
            <a:ext cx="155448" cy="155448"/>
          </a:xfrm>
          <a:prstGeom prst="ellipse">
            <a:avLst/>
          </a:prstGeom>
          <a:solidFill>
            <a:srgbClr val="6FA48C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3520440" y="2623074"/>
            <a:ext cx="1034526" cy="1034526"/>
          </a:xfrm>
          <a:prstGeom prst="line">
            <a:avLst/>
          </a:prstGeom>
          <a:noFill/>
          <a:ln w="25400">
            <a:solidFill>
              <a:srgbClr val="4E8770"/>
            </a:solidFill>
            <a:prstDash val="dash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477242" y="2545350"/>
            <a:ext cx="155448" cy="155448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0" name="Shape 8"/>
          <p:cNvSpPr/>
          <p:nvPr/>
        </p:nvSpPr>
        <p:spPr>
          <a:xfrm>
            <a:off x="3520440" y="3657600"/>
            <a:ext cx="1174831" cy="1677833"/>
          </a:xfrm>
          <a:prstGeom prst="line">
            <a:avLst/>
          </a:prstGeom>
          <a:noFill/>
          <a:ln w="25400">
            <a:solidFill>
              <a:srgbClr val="50808E"/>
            </a:solidFill>
            <a:prstDash val="dash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4617547" y="5257709"/>
            <a:ext cx="155448" cy="155448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2" name="Shape 10"/>
          <p:cNvSpPr/>
          <p:nvPr/>
        </p:nvSpPr>
        <p:spPr>
          <a:xfrm>
            <a:off x="3451860" y="3589020"/>
            <a:ext cx="137160" cy="137160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13" name="Text 11"/>
          <p:cNvSpPr/>
          <p:nvPr/>
        </p:nvSpPr>
        <p:spPr>
          <a:xfrm>
            <a:off x="3118104" y="37673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56646" y="3157373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1270" y="245848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圓上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46631" y="5609753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080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圓外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75120" y="1691640"/>
            <a:ext cx="4846320" cy="1051560"/>
          </a:xfrm>
          <a:prstGeom prst="roundRect">
            <a:avLst>
              <a:gd name="adj" fmla="val 10435"/>
            </a:avLst>
          </a:prstGeom>
          <a:solidFill>
            <a:srgbClr val="4E8770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691640"/>
            <a:ext cx="4389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＝ 點到圓心的距離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 ＝ 半徑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675120" y="3017520"/>
            <a:ext cx="484632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3145536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DCEAE3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314553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＜ r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869680" y="3017520"/>
            <a:ext cx="2468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點在圓內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6675120" y="3931920"/>
            <a:ext cx="484632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4059936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DCEAE3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405993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＝ r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869680" y="3931920"/>
            <a:ext cx="2468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點在圓上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6675120" y="4846320"/>
            <a:ext cx="484632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03720" y="4974336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DCEAE3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497433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＞ r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8869680" y="4846320"/>
            <a:ext cx="2468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點在圓外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點、直線與圓、切線（抽離小組·融合版）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概念（保底）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直線和圓：同一套比大小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698480" cy="841248"/>
          </a:xfrm>
          <a:prstGeom prst="roundRect">
            <a:avLst>
              <a:gd name="adj" fmla="val 13043"/>
            </a:avLst>
          </a:prstGeom>
          <a:solidFill>
            <a:srgbClr val="4E877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54480"/>
            <a:ext cx="10149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這次 d ＝ 圓心到直線的距離（畫一條垂線量）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106984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47672" y="3136392"/>
            <a:ext cx="1499616" cy="1499616"/>
          </a:xfrm>
          <a:prstGeom prst="ellipse">
            <a:avLst/>
          </a:prstGeom>
          <a:ln w="25400">
            <a:solidFill>
              <a:srgbClr val="233A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72768" y="5048402"/>
            <a:ext cx="2249424" cy="0"/>
          </a:xfrm>
          <a:prstGeom prst="line">
            <a:avLst/>
          </a:prstGeom>
          <a:noFill/>
          <a:ln w="31750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697480" y="3886200"/>
            <a:ext cx="0" cy="1162202"/>
          </a:xfrm>
          <a:prstGeom prst="line">
            <a:avLst/>
          </a:prstGeom>
          <a:noFill/>
          <a:ln w="25400">
            <a:solidFill>
              <a:srgbClr val="6FA48C"/>
            </a:solidFill>
            <a:prstDash val="dash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642616" y="3831336"/>
            <a:ext cx="109728" cy="109728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11" name="Text 9"/>
          <p:cNvSpPr/>
          <p:nvPr/>
        </p:nvSpPr>
        <p:spPr>
          <a:xfrm>
            <a:off x="2807208" y="40507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74520" y="535929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相離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554480" y="568848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＞ r ・ 0 個交點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30952" y="3136392"/>
            <a:ext cx="1499616" cy="1499616"/>
          </a:xfrm>
          <a:prstGeom prst="ellipse">
            <a:avLst/>
          </a:prstGeom>
          <a:ln w="25400">
            <a:solidFill>
              <a:srgbClr val="233A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56048" y="4636008"/>
            <a:ext cx="2249424" cy="0"/>
          </a:xfrm>
          <a:prstGeom prst="line">
            <a:avLst/>
          </a:prstGeom>
          <a:noFill/>
          <a:ln w="31750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080760" y="3886200"/>
            <a:ext cx="0" cy="749808"/>
          </a:xfrm>
          <a:prstGeom prst="line">
            <a:avLst/>
          </a:prstGeom>
          <a:noFill/>
          <a:ln w="25400">
            <a:solidFill>
              <a:srgbClr val="6FA48C"/>
            </a:solidFill>
            <a:prstDash val="dash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6025896" y="3831336"/>
            <a:ext cx="109728" cy="109728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488" y="40507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57800" y="535929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相切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937760" y="568848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＝ r ・ 1 個交點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714232" y="3136392"/>
            <a:ext cx="1499616" cy="1499616"/>
          </a:xfrm>
          <a:prstGeom prst="ellipse">
            <a:avLst/>
          </a:prstGeom>
          <a:ln w="25400">
            <a:solidFill>
              <a:srgbClr val="233A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39328" y="4246108"/>
            <a:ext cx="2249424" cy="0"/>
          </a:xfrm>
          <a:prstGeom prst="line">
            <a:avLst/>
          </a:prstGeom>
          <a:noFill/>
          <a:ln w="31750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464040" y="3886200"/>
            <a:ext cx="0" cy="359908"/>
          </a:xfrm>
          <a:prstGeom prst="line">
            <a:avLst/>
          </a:prstGeom>
          <a:noFill/>
          <a:ln w="25400">
            <a:solidFill>
              <a:srgbClr val="6FA48C"/>
            </a:solidFill>
            <a:prstDash val="dash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409176" y="3831336"/>
            <a:ext cx="109728" cy="109728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25" name="Text 23"/>
          <p:cNvSpPr/>
          <p:nvPr/>
        </p:nvSpPr>
        <p:spPr>
          <a:xfrm>
            <a:off x="9573768" y="40507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41080" y="535929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相交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321040" y="568848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＜ r ・ 2 個交點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點、直線與圓、切線（抽離小組·融合版）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統整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兩張表，其實是同一張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3383280" cy="713232"/>
          </a:xfrm>
          <a:prstGeom prst="roundRect">
            <a:avLst>
              <a:gd name="adj" fmla="val 12821"/>
            </a:avLst>
          </a:prstGeom>
          <a:solidFill>
            <a:srgbClr val="6FA48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比大小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297680" y="1691640"/>
            <a:ext cx="3383280" cy="713232"/>
          </a:xfrm>
          <a:prstGeom prst="roundRect">
            <a:avLst>
              <a:gd name="adj" fmla="val 12821"/>
            </a:avLst>
          </a:prstGeom>
          <a:solidFill>
            <a:srgbClr val="6FA48C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0" y="169164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點和圓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863840" y="1691640"/>
            <a:ext cx="3566160" cy="713232"/>
          </a:xfrm>
          <a:prstGeom prst="roundRect">
            <a:avLst>
              <a:gd name="adj" fmla="val 12821"/>
            </a:avLst>
          </a:prstGeom>
          <a:solidFill>
            <a:srgbClr val="6FA48C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169164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直線和圓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2542032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542032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＜ r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297680" y="2542032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97680" y="2542032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點在圓內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863840" y="2542032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63840" y="254203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相交（2 個交點）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5661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＝ r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4297680" y="356616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97680" y="35661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點在圓上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7863840" y="356616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63840" y="35661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相切（1 個交點）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731520" y="4590288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459028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＞ r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4297680" y="4590288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97680" y="459028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點在圓外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7863840" y="4590288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863840" y="459028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相離（0 個交點）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731520" y="566928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DCEAE3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先量 d，再和 r 比大小 —— 兩題都是同一個動作。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點、直線與圓、切線（抽離小組·融合版）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011680"/>
            <a:ext cx="5943600" cy="2743200"/>
          </a:xfrm>
          <a:prstGeom prst="roundRect">
            <a:avLst>
              <a:gd name="adj" fmla="val 666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  換一換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8328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下一頁換你做：只要比大小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4023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先伸展 30 秒，再開始 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點、直線與圓、切線（抽離小組·融合版）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分層練習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挑戰練習 · 自選星星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⊙O 半徑 r＝5，填圓內／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圓上／圓外：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(1) d＝3 (2) d＝5 (3) d＝7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3816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半徑 r＝4，填相交／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相切／相離：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(1) d＝2 (2) d＝4 (3) d＝6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50664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0664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4733544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733544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70120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⊙O 半徑 3，圓心到直線 l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的距離是 3。l 與 ⊙O 有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幾個公共點？為什麼？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70120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⊙O 半徑 6，圓心到直線 l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的距離是 6.5。兩者什麼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關係？有幾個公共點？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506968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6968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9848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689848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26424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找錯：小明說「直線與圓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最多有 3 個公共點」。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對嗎？請說明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726424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半徑 5 的圓，圓心到直線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的距離 d 在什麼範圍，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直線與圓才相交？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594360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   全部同一個概念，只是鷹架不同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點、直線與圓、切線（抽離小組·融合版）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 · 總結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判斷位置關係，只做一件事：把 d 和 r 比大小。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至少要記得：</a:t>
            </a:r>
            <a:pPr algn="l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小在內、等在上（相切）、大在外（相離）；直線與圓最多 2 個交點。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點、直線與圓、切線（抽離小組·融合版）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2834640" cy="91440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931920" y="19659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切線三招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68680" y="33832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35564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832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24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會用切線 ⊥ 半徑、切線長相等解題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點、直線與圓、切線（抽離小組·融合版）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概念（保底）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切線：碰一點，而且垂直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7607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91640" y="2240280"/>
            <a:ext cx="2834640" cy="2834640"/>
          </a:xfrm>
          <a:prstGeom prst="ellipse">
            <a:avLst/>
          </a:prstGeom>
          <a:ln w="25400">
            <a:solidFill>
              <a:srgbClr val="233A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3657600"/>
            <a:ext cx="1417320" cy="0"/>
          </a:xfrm>
          <a:prstGeom prst="line">
            <a:avLst/>
          </a:prstGeom>
          <a:noFill/>
          <a:ln w="38100">
            <a:solidFill>
              <a:srgbClr val="4E8770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26280" y="2311146"/>
            <a:ext cx="0" cy="2692908"/>
          </a:xfrm>
          <a:prstGeom prst="line">
            <a:avLst/>
          </a:prstGeom>
          <a:noFill/>
          <a:ln w="38100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4343400" y="3474720"/>
            <a:ext cx="0" cy="182880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343400" y="3474720"/>
            <a:ext cx="182880" cy="0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040380" y="3589020"/>
            <a:ext cx="137160" cy="137160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11" name="Shape 9"/>
          <p:cNvSpPr/>
          <p:nvPr/>
        </p:nvSpPr>
        <p:spPr>
          <a:xfrm>
            <a:off x="4453128" y="3584448"/>
            <a:ext cx="146304" cy="14630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2" name="Text 10"/>
          <p:cNvSpPr/>
          <p:nvPr/>
        </p:nvSpPr>
        <p:spPr>
          <a:xfrm>
            <a:off x="3063240" y="38770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54296" y="38587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54296" y="240258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080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l（切線）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05022" y="341985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53858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切線 ⊥ 過切點的半徑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75120" y="1691640"/>
            <a:ext cx="48463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1691640"/>
            <a:ext cx="4846320" cy="621792"/>
          </a:xfrm>
          <a:prstGeom prst="roundRect">
            <a:avLst>
              <a:gd name="adj" fmla="val 17647"/>
            </a:avLst>
          </a:prstGeom>
          <a:solidFill>
            <a:srgbClr val="6FA48C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691640"/>
            <a:ext cx="4846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49440" y="2423160"/>
            <a:ext cx="4389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經過半徑的外端、</a:t>
            </a:r>
            <a:endParaRPr lang="en-US" sz="2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並且垂直這條半徑的直線，</a:t>
            </a:r>
            <a:endParaRPr lang="en-US" sz="2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就是圓的切線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675120" y="3840480"/>
            <a:ext cx="48463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75120" y="3840480"/>
            <a:ext cx="4846320" cy="621792"/>
          </a:xfrm>
          <a:prstGeom prst="roundRect">
            <a:avLst>
              <a:gd name="adj" fmla="val 17647"/>
            </a:avLst>
          </a:prstGeom>
          <a:solidFill>
            <a:srgbClr val="4E877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840480"/>
            <a:ext cx="4846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性質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49440" y="4572000"/>
            <a:ext cx="4389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圓的切線，</a:t>
            </a:r>
            <a:endParaRPr lang="en-US" sz="2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垂直於過切點的半徑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點、直線與圓、切線（抽離小組·融合版）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範例（步驟卡）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 切 ⊙O 於 A，OA＝3、PA＝4，求 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DCEAE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已知：PA 是切線、切點 A，半徑 OA＝3，切線段 PA＝4。求：OP。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286321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6321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69748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看到切線，先在切點 A 畫直角：∠OAP ＝ 90°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365188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65188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48615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認出直角三角形 OAP：兩股是 OA＝3、PA＝4，斜邊是 OP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444055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4055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27482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勾股定理：OP² ＝ 3² ＋ 4² ＝ 9 ＋ 16 ＝ 25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5229225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22922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5063490"/>
            <a:ext cx="99669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開方：OP ＝ 5。檢查：斜邊 OP 最長 ✔（5 ＞ 4 ＞ 3）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點、直線與圓、切線（抽離小組·融合版）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概念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從圓外一點，兩條切線一樣長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63093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2514600"/>
            <a:ext cx="2286000" cy="2286000"/>
          </a:xfrm>
          <a:prstGeom prst="ellipse">
            <a:avLst/>
          </a:prstGeom>
          <a:ln w="25400">
            <a:solidFill>
              <a:srgbClr val="233A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743200" y="2633693"/>
            <a:ext cx="508000" cy="1023907"/>
          </a:xfrm>
          <a:prstGeom prst="line">
            <a:avLst/>
          </a:prstGeom>
          <a:noFill/>
          <a:ln w="25400">
            <a:solidFill>
              <a:srgbClr val="6FA48C"/>
            </a:solidFill>
            <a:prstDash val="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743200" y="3657600"/>
            <a:ext cx="508000" cy="1023907"/>
          </a:xfrm>
          <a:prstGeom prst="line">
            <a:avLst/>
          </a:prstGeom>
          <a:noFill/>
          <a:ln w="25400">
            <a:solidFill>
              <a:srgbClr val="6FA48C"/>
            </a:solidFill>
            <a:prstDash val="dash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743200" y="3657600"/>
            <a:ext cx="2571750" cy="0"/>
          </a:xfrm>
          <a:prstGeom prst="line">
            <a:avLst/>
          </a:prstGeom>
          <a:noFill/>
          <a:ln w="19050">
            <a:solidFill>
              <a:srgbClr val="5C6F68"/>
            </a:solidFill>
            <a:prstDash val="dash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251200" y="2633693"/>
            <a:ext cx="2063750" cy="1023907"/>
          </a:xfrm>
          <a:prstGeom prst="line">
            <a:avLst/>
          </a:prstGeom>
          <a:noFill/>
          <a:ln w="38100">
            <a:solidFill>
              <a:srgbClr val="4E8770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3251200" y="3657600"/>
            <a:ext cx="2063750" cy="1023907"/>
          </a:xfrm>
          <a:prstGeom prst="line">
            <a:avLst/>
          </a:prstGeom>
          <a:noFill/>
          <a:ln w="38100">
            <a:solidFill>
              <a:srgbClr val="4E8770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178048" y="2781136"/>
            <a:ext cx="147443" cy="73152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3325491" y="2706845"/>
            <a:ext cx="73152" cy="147443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3178048" y="4460912"/>
            <a:ext cx="147443" cy="73152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325491" y="4460912"/>
            <a:ext cx="73152" cy="147443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2674620" y="3589020"/>
            <a:ext cx="137160" cy="137160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16" name="Shape 14"/>
          <p:cNvSpPr/>
          <p:nvPr/>
        </p:nvSpPr>
        <p:spPr>
          <a:xfrm>
            <a:off x="5246370" y="3589020"/>
            <a:ext cx="137160" cy="137160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17" name="Shape 15"/>
          <p:cNvSpPr/>
          <p:nvPr/>
        </p:nvSpPr>
        <p:spPr>
          <a:xfrm>
            <a:off x="3182620" y="2565113"/>
            <a:ext cx="137160" cy="13716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2620" y="4612927"/>
            <a:ext cx="137160" cy="13716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9" name="Text 17"/>
          <p:cNvSpPr/>
          <p:nvPr/>
        </p:nvSpPr>
        <p:spPr>
          <a:xfrm>
            <a:off x="2304288" y="36393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424678" y="36393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196336" y="2359373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196336" y="4937539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14700" y="52212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 ＝ PB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23760" y="1691640"/>
            <a:ext cx="4297680" cy="1371600"/>
          </a:xfrm>
          <a:prstGeom prst="roundRect">
            <a:avLst>
              <a:gd name="adj" fmla="val 8000"/>
            </a:avLst>
          </a:prstGeom>
          <a:solidFill>
            <a:srgbClr val="4E8770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16916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 ＝ PB</a:t>
            </a:r>
            <a:endParaRPr lang="en-US" sz="2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（切線長定理）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7223760" y="3291840"/>
            <a:ext cx="4297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52360" y="32918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 平分 ∠APB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7223760" y="4709160"/>
            <a:ext cx="4297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52360" y="47091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兩個切點各有一個直角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點、直線與圓、切線（抽離小組·融合版）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範例（進階）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三角形的內切圓：邊長怎麼換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91640" y="4638751"/>
            <a:ext cx="3017520" cy="0"/>
          </a:xfrm>
          <a:prstGeom prst="line">
            <a:avLst/>
          </a:prstGeom>
          <a:noFill/>
          <a:ln w="31750">
            <a:solidFill>
              <a:srgbClr val="233A3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928823" y="2526487"/>
            <a:ext cx="1780337" cy="2112264"/>
          </a:xfrm>
          <a:prstGeom prst="line">
            <a:avLst/>
          </a:prstGeom>
          <a:noFill/>
          <a:ln w="31750">
            <a:solidFill>
              <a:srgbClr val="233A3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691640" y="2526487"/>
            <a:ext cx="1237183" cy="2112264"/>
          </a:xfrm>
          <a:prstGeom prst="line">
            <a:avLst/>
          </a:prstGeom>
          <a:noFill/>
          <a:ln w="31750">
            <a:solidFill>
              <a:srgbClr val="233A3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268464" y="3089439"/>
            <a:ext cx="1549312" cy="1549312"/>
          </a:xfrm>
          <a:prstGeom prst="ellipse">
            <a:avLst/>
          </a:prstGeom>
          <a:ln w="25400">
            <a:solidFill>
              <a:srgbClr val="4E87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88256" y="3809231"/>
            <a:ext cx="109728" cy="109728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0" name="Shape 8"/>
          <p:cNvSpPr/>
          <p:nvPr/>
        </p:nvSpPr>
        <p:spPr>
          <a:xfrm>
            <a:off x="2974540" y="4570171"/>
            <a:ext cx="137160" cy="137160"/>
          </a:xfrm>
          <a:prstGeom prst="ellipse">
            <a:avLst/>
          </a:prstGeom>
          <a:solidFill>
            <a:srgbClr val="6FA48C"/>
          </a:solidFill>
          <a:ln/>
        </p:spPr>
      </p:sp>
      <p:sp>
        <p:nvSpPr>
          <p:cNvPr id="11" name="Shape 9"/>
          <p:cNvSpPr/>
          <p:nvPr/>
        </p:nvSpPr>
        <p:spPr>
          <a:xfrm>
            <a:off x="3566864" y="3296271"/>
            <a:ext cx="137160" cy="137160"/>
          </a:xfrm>
          <a:prstGeom prst="ellipse">
            <a:avLst/>
          </a:prstGeom>
          <a:solidFill>
            <a:srgbClr val="6FA48C"/>
          </a:solidFill>
          <a:ln/>
        </p:spPr>
      </p:sp>
      <p:sp>
        <p:nvSpPr>
          <p:cNvPr id="12" name="Shape 10"/>
          <p:cNvSpPr/>
          <p:nvPr/>
        </p:nvSpPr>
        <p:spPr>
          <a:xfrm>
            <a:off x="2306102" y="3404001"/>
            <a:ext cx="137160" cy="137160"/>
          </a:xfrm>
          <a:prstGeom prst="ellipse">
            <a:avLst/>
          </a:prstGeom>
          <a:solidFill>
            <a:srgbClr val="6FA48C"/>
          </a:solidFill>
          <a:ln/>
        </p:spPr>
      </p:sp>
      <p:sp>
        <p:nvSpPr>
          <p:cNvPr id="13" name="Text 11"/>
          <p:cNvSpPr/>
          <p:nvPr/>
        </p:nvSpPr>
        <p:spPr>
          <a:xfrm>
            <a:off x="3152848" y="3845807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62456" y="4766767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00600" y="4766767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883103" y="2270455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997400" y="4876495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81748" y="3309987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90634" y="3417717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1645920"/>
            <a:ext cx="5303520" cy="1051560"/>
          </a:xfrm>
          <a:prstGeom prst="roundRect">
            <a:avLst>
              <a:gd name="adj" fmla="val 10435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64592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內切圓切三邊於 D、E、F。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AD＝4、BE＝5、CF＝6，求周長。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217920" y="310896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58000" y="29260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同一頂點出發的兩條切線長相等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217920" y="406908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58000" y="38862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AD＝AF＝4、BD＝BE＝5、CE＝CF＝6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217920" y="502920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858000" y="48463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周長 ＝ 2 × (4 ＋ 5 ＋ 6) ＝ 30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點、直線與圓、切線（抽離小組·融合版）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迷思澄清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直線與圓，最多幾個公共點？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27632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小明說：「一條直線與一個圓最多有 3 個公共點。」  </a:t>
            </a:r>
            <a:pPr algn="l" indent="0" marL="0">
              <a:buNone/>
            </a:pPr>
            <a:r>
              <a:rPr lang="en-US" sz="2200" b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不對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直線與圓最多只有 2 個公共點（相交的時候）。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3246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相離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3931920" y="32461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86384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080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＞ r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4178808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417880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相切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931920" y="417880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63840" y="417880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080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＝ r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31520" y="5111496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5111496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相交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3931920" y="5111496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個（最多）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863840" y="5111496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080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＜ 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點、直線與圓、切線（抽離小組·融合版）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011680"/>
            <a:ext cx="5943600" cy="2743200"/>
          </a:xfrm>
          <a:prstGeom prst="roundRect">
            <a:avLst>
              <a:gd name="adj" fmla="val 666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  換一換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8328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下一頁換你做：先在切點畫直角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4023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先伸展 30 秒，再開始 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點、直線與圓、切線（抽離小組·融合版）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分層練習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挑戰練習 · 自選星星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填空：PA 切 ⊙O 於 A，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則 ∠OAP ＝ ＿°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3816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填空：PA、PB 是 ⊙O 的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兩條切線，PA＝12，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則 PB ＝ ＿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50664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0664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4733544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733544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70120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PA 切 ⊙O 於 A，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OA＝6、PA＝8，求 OP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70120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從圓外一點 P 引兩條切線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PA、PB。若 PA＝12，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 PB，並說明理由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506968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6968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9848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689848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26424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PA、PB 是 ⊙O 的兩條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切線，∠APB＝70°，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 ∠AOB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726424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內切圓切 △ABC 三邊於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D、E、F。AD＝4、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BE＝5、CF＝6，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 △ABC 周長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594360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   全部同一個概念，只是鷹架不同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點、直線與圓、切線（抽離小組·融合版）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 · 總結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看到切線，第一個動作就是在切點畫直角。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至少要記得：</a:t>
            </a:r>
            <a:pPr algn="l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切線 ⊥ 過切點的半徑；從圓外一點引的兩條切線一樣長。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點、直線與圓、切線（抽離小組·融合版）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兩節課，兩句話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108813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423160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42316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88920" y="1920240"/>
            <a:ext cx="85039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判斷位置關係，只要把 d 和 r 比大小。</a:t>
            </a:r>
            <a:endParaRPr lang="en-US" sz="2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小在內、等在上、大在外；直線與圓最多 2 個交點。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0080" y="3675888"/>
            <a:ext cx="1088136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4178808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17880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課時②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88920" y="3675888"/>
            <a:ext cx="85039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看到切線，先在切點畫直角。</a:t>
            </a:r>
            <a:endParaRPr lang="en-US" sz="2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切線 ⊥ 過切點的半徑；兩條切線長相等。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40080" y="557784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DCEAE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5778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兩節課都在做同一件事：把圖上的關係，換成一個會算的直角三角形或一句比大小。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點、直線與圓、切線（抽離小組·融合版）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你已經走完兩節課！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CFE0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點、直線與切線，你做得到。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4389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下次看到「切線」，記得先在切點畫直角。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供科組 / IEP 會議說明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教師備註 · 融合層設計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調整定位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路線：Accommodation（調整支援）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內容不減、維持初三年級標準，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只改「接觸方式」與「練習鷹架」。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分層靠學生自選星星，不點名個案。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節奏：2 課時 × 45 分鐘，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每課時各含 1 個轉換點。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874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融合層做了什麼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降低記憶負荷：兩張位置關係表</a:t>
            </a:r>
            <a:endParaRPr lang="en-US" sz="1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統整成同一套「比大小」判準</a:t>
            </a:r>
            <a:endParaRPr lang="en-US" sz="1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原生幾何圖：點與圓／直線與圓三態／</a:t>
            </a:r>
            <a:endParaRPr lang="en-US" sz="1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切線⊥半徑／兩切線／內切圓</a:t>
            </a:r>
            <a:endParaRPr lang="en-US" sz="1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步驟卡：一步一行、編號、附自我檢查</a:t>
            </a:r>
            <a:endParaRPr lang="en-US" sz="1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轉換點＋預告：照顧注意力節奏</a:t>
            </a:r>
            <a:endParaRPr lang="en-US" sz="1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迷思澄清：最多 2 個公共點</a:t>
            </a:r>
            <a:endParaRPr lang="en-US" sz="1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保底成功句＋asset-based 用語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點、直線與圓、切線（抽離小組·融合版）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點、直線與圓、切線 兩課時（融合抽離版）</dc:title>
  <dc:subject>PptxGenJS Presentation</dc:subject>
  <dc:creator>初三數學抽離小組</dc:creator>
  <cp:lastModifiedBy>初三數學抽離小組</cp:lastModifiedBy>
  <cp:revision>1</cp:revision>
  <dcterms:created xsi:type="dcterms:W3CDTF">2026-07-20T08:50:23Z</dcterms:created>
  <dcterms:modified xsi:type="dcterms:W3CDTF">2026-07-20T08:50:23Z</dcterms:modified>
</cp:coreProperties>
</file>