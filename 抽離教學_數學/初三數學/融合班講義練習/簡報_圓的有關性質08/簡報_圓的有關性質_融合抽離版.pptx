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開場定調：這個單元分四節課走完，不趕進度。每一節都是：學一招 → 看老師示範 → 自己挑星星練習。做得起就往上跳一層。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先給地圖：四節課的結構一致，減少焦慮。每節課開始都回到這一頁指一次「今日在這裡」。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進入課時①。這一節只做「認詞、指圖」，不做計算，建立信心。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保底暖身：只做判斷，人人答得出。口頭補充：圓上每一點到圓心的距離都一樣，這個距離就是半徑。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圖像先行：先指圖上的線，再唸詞。請學生輪流上前指出「哪一條是弦、哪一條是直徑」。頂點在圓上的角叫圓周角，下一節會用到。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用灰色標「不是」，不用紅色（色盲友善）。關鍵判準只有一句：兩端是不是都在圓上。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指圖即可（圓心 O、半徑 OA、弦 BC、直徑 FG）；A2: 直徑＝2×半徑，半徑 6 → 直徑 12。 B3: 最長的弦＝直徑＝2×6＝12；B4:(1) 直徑是弦（兩端都在圓上，且過圓心）(2) 半徑不是弦（一端在圓心，不在圓上）。 C5: 不對，最長的弦是直徑（＝2×半徑），半徑本身不是弦；C6: 開放，只看是否標對四個元素、並說出「直徑是最長的弦、等於 2 個半徑」。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回收課時①。保底句要全班能覆述：直徑是最長的弦，等於兩個半徑。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進入課時②。這一節第一次出現計算，重點是「看出直角三角形」而不是背公式。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 具體階：讓學生真的摺一次。摺痕＝垂直於弦的直徑。這個動作是整節課的錨點，之後畫圖時叫學生「想返摺紙」。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三階都要走「示範 → 引導 → 學生做」。抽象階仍保留「三兄弟」這個表徵詞，不完全抽走視覺線索。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圖像先行：先在圖上用手指描出直角三角形 OMA，再講式。強調 M 是弦的中點，這是垂徑定理給我們的禮物。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六步提示卡：讀題 → 畫圖 → 找中點 → 認直角三角形 → 算 → 檢查。提醒 d 一定比 r 小，這是自我檢查的方法。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垂徑定理，M 是中點 → AM＝MB＝6；A2: 半弦＝√(100−36)＝8，AB＝2×8＝16。 B3: 半弦＝4，d＝√(25−16)＝3；B4: 半弦＝12，d＝√(169−144)＝5。 C5: AB 到圓心 √(169−144)＝5，CD 到圓心 √(169−25)＝12；同側 12−5＝7，異側 12+5＝17，答 7 或 17；C6: 開放，須說出 d 是直角三角形的股、r 是斜邊，斜邊最長所以 d＜r。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回收課時②。保底：能把弦除以 2、能寫出勾股關係就達標。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進入課時③。這是全單元抽象度最高的一節，先花時間在「認角」，再講倍半關係。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先只做「認角」，不做計算。請學生在圖上用手指點出頂點，再說是哪一種角。認錯角是本節最常見的錯。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保底：全班要能講出「在圓心的那個角比較大，是兩倍」。用手勢示範：圓心角張得大，圓周角張得小一半。兩個方向的式都寫出來，避免學生只會單向。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三個推論一次列出，但只要求記住 ②。①③ 讓學生知道存在即可，做題時再回來查。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每一步都先問「頂點在哪」。自我檢查法：圓周角一定比圓心角小，如果算出來比較大，一定做反了。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這題把「圓的推論」和「三角形內角和」接起來。提醒：先寫 90°，題目就變回熟悉的三角形題。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80÷2＝40°；A2: 35×2＝70°，直徑所對的圓周角＝90°。 B3: AB 是直徑 → ∠ACB＝90°，∠ABC＝180−90−30＝60°；B4: 設圓周角 x，圓心角 2x，2x−x＝45 → x＝45，圓周角 45°、圓心角 90°。 C5: 不會變，永遠 90°（直徑所對的圓周角是直角），與 C 的位置無關；C6: 開放，評分看題目是否用得上倍半關係、答案是否自洽。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回收課時③。保底：能講出「圓周角細一半」＋「直徑對直角」就達標。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進入課時④。內容最短，留時間做整個單元的綜合練習。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「對角」＝隔一個的角，不是相鄰的角。請學生先在圖上用手指連 A→C、B→D，確認配對，再算。這是本節最常見的錯。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步「先配對」是防錯關鍵。第 4 步的檢查法要教：四個角加起來一定是 360°，加不到就一定有錯。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180−80＝100°；A2: 180−110＝70°。 B3: ∠C＝180−95＝85°、∠D＝180−70＝110°（檢查 95+70+85+110＝360 ✔）；B4: ∠A+∠C＝180，按 2:3 分 → ∠A＝180×2/5＝72°、∠C＝180×3/5＝108°。 C5: AB 到圓心 √(169−144)＝5、CD 到圓心 √(169−25)＝12；同側 12−5＝7、異側 12+5＝17，答 7 或 17；C6: 開放，評分看是否真的兩個定理都用上、解法是否自洽。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整體回收。可請學生每節課講一句自己的話覆述。連結下一單元：09 會再用一次「d 與 r 比大小」的想法。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正向收束，asset-based。肯定策略與過程，不用「終於」「總算」等字眼。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此頁供教師／IEP 對接用，上課可略過。屬 Accommodation，未剪裁課程內容。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圓的有關性質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四課時通關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圓的詞</a:t>
            </a:r>
            <a:pPr algn="l" indent="0" marL="0">
              <a:buNone/>
            </a:pPr>
            <a:r>
              <a:rPr lang="en-US" sz="20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→  </a:t>
            </a:r>
            <a:pPr algn="l" indent="0" marL="0"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垂徑定理</a:t>
            </a:r>
            <a:pPr algn="l" indent="0" marL="0">
              <a:buNone/>
            </a:pPr>
            <a:r>
              <a:rPr lang="en-US" sz="20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→  </a:t>
            </a:r>
            <a:pPr algn="l" indent="0" marL="0"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圓周角</a:t>
            </a:r>
            <a:pPr algn="l" indent="0" marL="0">
              <a:buNone/>
            </a:pPr>
            <a:r>
              <a:rPr lang="en-US" sz="20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→  </a:t>
            </a:r>
            <a:pPr algn="l" indent="0" marL="0"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圓內接四邊形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同一份簡報，跟著四課時一步一步走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這個單元，我們走四節課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64208"/>
            <a:ext cx="10881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8366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8366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17373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圓的基本詞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88920" y="21762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圓心、半徑、弦、直徑、弧、圓心角、圓周角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10881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98094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8094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28346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垂徑定理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327355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垂直弦的直徑會平分弦：半徑、半弦、距離組成直角三角形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858768"/>
            <a:ext cx="10881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7822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78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88920" y="39319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圓周角定理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88920" y="43708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圓周角＝圓心角的一半；直徑所對的圓周角是 90°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4956048"/>
            <a:ext cx="10881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17550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7550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88920" y="50292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圓內接四邊形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788920" y="546811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四點都在圓上時，對角相加是 180°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每一節都一樣：學一招 → 看範例 → 挑星星練習 ★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圓的基本詞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看圖說得出圓心、半徑、弦、直徑、弧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生活裡的圓，圓心在哪？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單車輪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76072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有圓 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6809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圓心＝車軸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907792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90779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披薩切一刀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29077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有圓 ✔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80960" y="29077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切出來的直線段＝弦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941064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94106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時鐘錶面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0" y="3941064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有圓 ✔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80960" y="394106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圓心＝指針的固定點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974336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9743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長方形窗框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60720" y="497433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✗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80960" y="497433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不是圓，沒有圓心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一張圖，五個詞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965960"/>
            <a:ext cx="3383280" cy="338328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965960"/>
            <a:ext cx="3383280" cy="3383280"/>
          </a:xfrm>
          <a:prstGeom prst="arc">
            <a:avLst>
              <a:gd name="adj1" fmla="val 17880000"/>
              <a:gd name="adj2" fmla="val 21600000"/>
            </a:avLst>
          </a:prstGeom>
          <a:noFill/>
          <a:ln w="63500">
            <a:solidFill>
              <a:srgbClr val="6FA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520440" y="2163971"/>
            <a:ext cx="794177" cy="1493629"/>
          </a:xfrm>
          <a:prstGeom prst="line">
            <a:avLst/>
          </a:prstGeom>
          <a:noFill/>
          <a:ln w="3175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28800" y="3657600"/>
            <a:ext cx="3383280" cy="0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63306" y="4789528"/>
            <a:ext cx="2514267" cy="0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51860" y="358902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1" name="Shape 9"/>
          <p:cNvSpPr/>
          <p:nvPr/>
        </p:nvSpPr>
        <p:spPr>
          <a:xfrm>
            <a:off x="4255181" y="2104535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69364" y="3598164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3" name="Shape 11"/>
          <p:cNvSpPr/>
          <p:nvPr/>
        </p:nvSpPr>
        <p:spPr>
          <a:xfrm>
            <a:off x="5152644" y="3598164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4" name="Shape 12"/>
          <p:cNvSpPr/>
          <p:nvPr/>
        </p:nvSpPr>
        <p:spPr>
          <a:xfrm>
            <a:off x="2203870" y="4730092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18138" y="4730092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3858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O（圓心）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7769" y="201766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81328" y="3639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85232" y="3639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79258" y="4880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69014" y="4880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849624" y="31821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 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06040" y="3438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直徑 FG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08960" y="4875581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 BC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71185" y="2692151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 AG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75120" y="1691640"/>
            <a:ext cx="1920240" cy="603504"/>
          </a:xfrm>
          <a:prstGeom prst="roundRect">
            <a:avLst>
              <a:gd name="adj" fmla="val 12121"/>
            </a:avLst>
          </a:prstGeom>
          <a:solidFill>
            <a:srgbClr val="DCEAE3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69164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78240" y="169164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圓心到圓上任一點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675120" y="2514600"/>
            <a:ext cx="1920240" cy="603504"/>
          </a:xfrm>
          <a:prstGeom prst="roundRect">
            <a:avLst>
              <a:gd name="adj" fmla="val 12121"/>
            </a:avLst>
          </a:prstGeom>
          <a:solidFill>
            <a:srgbClr val="DCEAE3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25146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778240" y="251460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連接圓上兩點的線段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3337560"/>
            <a:ext cx="1920240" cy="603504"/>
          </a:xfrm>
          <a:prstGeom prst="roundRect">
            <a:avLst>
              <a:gd name="adj" fmla="val 12121"/>
            </a:avLst>
          </a:prstGeom>
          <a:solidFill>
            <a:srgbClr val="DCEAE3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33756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直徑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778240" y="333756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過圓心的弦（最長）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675120" y="4160520"/>
            <a:ext cx="1920240" cy="603504"/>
          </a:xfrm>
          <a:prstGeom prst="roundRect">
            <a:avLst>
              <a:gd name="adj" fmla="val 12121"/>
            </a:avLst>
          </a:prstGeom>
          <a:solidFill>
            <a:srgbClr val="DCEAE3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16052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778240" y="416052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圓上兩點之間的一段圓周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675120" y="4983480"/>
            <a:ext cx="1920240" cy="603504"/>
          </a:xfrm>
          <a:prstGeom prst="roundRect">
            <a:avLst>
              <a:gd name="adj" fmla="val 12121"/>
            </a:avLst>
          </a:prstGeom>
          <a:solidFill>
            <a:srgbClr val="DCEAE3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49834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778240" y="498348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頂點在圓心的角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半徑是不是弦？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小明說：「圓中最長的弦是半徑。」  </a:t>
            </a:r>
            <a:pPr algn="l" indent="0" marL="0">
              <a:buNone/>
            </a:pPr>
            <a:r>
              <a:rPr lang="en-US" sz="23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不對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弦要連接圓上「兩點」；半徑一端在圓心，所以半徑不是弦。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0040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926080" y="3200400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 → 圓上一點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138160" y="32004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不是弦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4096512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096512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926080" y="4096512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圓上一點 → 圓上另一點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138160" y="4096512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是弦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31520" y="4992624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992624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直徑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2926080" y="4992624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圓上一點 → 過圓心 → 圓上一點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38160" y="4992624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是弦，而且最長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記住：直徑 ＝ 2 × 半徑，也是最長的弦。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下一頁換你做：先在圖上指出來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在圖上指出：圓心、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一條半徑、一條弦、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一條直徑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填空：直徑 ＝ ＿ × 半徑。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⊙O 半徑 6，直徑 ＝ 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⊙O 半徑 6，圓中最長的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弦有多長？它叫什麼？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判斷並說理由：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（1）直徑是弦嗎？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（2）半徑是弦嗎？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找錯：小明說「圓中最長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的弦是半徑」。對嗎？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請說明理由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自己畫一個圓，標出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圓心、弦、直徑、弧，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說明弦與直徑的關係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圓上每一點到圓心都一樣遠，那個距離就是半徑。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弦＝連接圓上兩點；直徑＝過圓心的弦＝2×半徑，是最長的弦。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垂徑定理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會用半徑、半弦、圓心到弦的距離組直角三角形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弦離圓心有多遠？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01200" cy="123444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965960"/>
            <a:ext cx="8961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把一條弦對摺，摺痕會通過圓心 —— 而且剛好把弦分成兩半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80160" y="3520440"/>
            <a:ext cx="9601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 30 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411480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在紙上畫一個圓，剪下來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隨便畫一條弦，沿弦的中點對摺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看看摺痕有沒有經過圓心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CRA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垂徑定理：摺 → 圖 → 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以「半徑 5、弦 AB＝8」為例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把圓摺一摺，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摺痕通過圓心，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弦被分成一樣長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的兩段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8920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DCEAE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920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摺痕 ⊥ 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96512" y="329184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01168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畫出半徑 r、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半弦、圓心到弦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的距離 d，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合成一個直角三角形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0" y="48920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DCEAE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8920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三兄弟：r、半弦、d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54112" y="329184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01168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28346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用勾股定理：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d² ＋ 半弦² ＝ r²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29600" y="48920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DCEAE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8920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√(25 − 16) ＝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性質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直角三角形三兄弟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flipH="1" flipV="1">
            <a:off x="2107642" y="2772918"/>
            <a:ext cx="1412798" cy="930402"/>
          </a:xfrm>
          <a:prstGeom prst="rtTriangle">
            <a:avLst/>
          </a:prstGeom>
          <a:solidFill>
            <a:srgbClr val="DCEAE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011680"/>
            <a:ext cx="3383280" cy="338328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2011680"/>
            <a:ext cx="0" cy="338328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107642" y="2772918"/>
            <a:ext cx="2825596" cy="0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107642" y="2772918"/>
            <a:ext cx="1412798" cy="930402"/>
          </a:xfrm>
          <a:prstGeom prst="line">
            <a:avLst/>
          </a:prstGeom>
          <a:noFill/>
          <a:ln w="3810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520440" y="2772918"/>
            <a:ext cx="0" cy="930402"/>
          </a:xfrm>
          <a:prstGeom prst="line">
            <a:avLst/>
          </a:prstGeom>
          <a:noFill/>
          <a:ln w="50800">
            <a:solidFill>
              <a:srgbClr val="6FA48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346704" y="2772918"/>
            <a:ext cx="0" cy="173736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46704" y="2946654"/>
            <a:ext cx="173736" cy="0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451860" y="363474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1004" y="2713482"/>
            <a:ext cx="118872" cy="118872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48206" y="2713482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3802" y="2713482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8" name="Shape 16"/>
          <p:cNvSpPr/>
          <p:nvPr/>
        </p:nvSpPr>
        <p:spPr>
          <a:xfrm>
            <a:off x="3465576" y="53400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30168" y="259003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60170" y="275463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4678" y="275463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11880" y="1865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611880" y="55229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082521" y="246202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 ＝ MB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48456" y="3219831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265401" y="336613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675120" y="1645920"/>
            <a:ext cx="4846320" cy="1143000"/>
          </a:xfrm>
          <a:prstGeom prst="roundRect">
            <a:avLst>
              <a:gd name="adj" fmla="val 9600"/>
            </a:avLst>
          </a:prstGeom>
          <a:solidFill>
            <a:srgbClr val="4E877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64592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垂直於弦的直徑，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會平分這條弦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675120" y="306324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0" y="30632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DCEAE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30632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73252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半徑（斜邊，最長）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6675120" y="377647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315200" y="3776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DCEAE3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37764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半弦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8732520" y="37764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弦的一半 ＝ AM ＝ MB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6675120" y="448970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315200" y="448970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DCEAE3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448970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8732520" y="44897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圓心到弦的距離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6675120" y="5230368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DCEAE3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523036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d² ＋ 半弦² ＝ r²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⊙O 半徑 5，弦 AB＝8，求圓心到 AB 的距離 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已知：r＝5、AB＝8。求：d（圓心 O 到弦 AB 的距離）。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78434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43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畫圖：從 O 畫一條垂線到 AB，交點叫 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41528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152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328416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用垂徑定理：M 是中點 → 半弦 ＝ 8 ÷ 2 ＝ 4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看出直角三角形 OMA：斜邊 r＝5、一股 4、另一股 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467715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771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590288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勾股定理：d² ＝ 5² − 4² ＝ 25 − 16 ＝ 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530809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080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5221224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開方：d ＝ 3。檢查單位與合理性（d 應小於 r ✔）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下一頁換你做：先畫圖，再算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直徑 CD ⊥ 弦 AB 於 M。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若 AB＝12，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則 AM＝＿，MB＝＿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半徑＝10，OM＝6，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求半弦＝＿，AB＝＿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⊙O 半徑 5，弦 AB＝8。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求圓心 O 到弦 AB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的距離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半徑 13、弦 AB＝24，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求圓心到 AB 的距離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⊙O 半徑 13，兩條平行弦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AB＝24、CD＝10。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求兩弦的距離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（分同側、異側）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為什麼圓心到弦的距離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一定比半徑短？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用三兄弟的圖說明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垂直弦的直徑會平分弦，於是出現一個直角三角形。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半徑、半弦、圓心到弦的距離：d² ＋ 半弦² ＝ r²。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圓周角定理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會用「圓周角＝圓心角的一半」求角度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同一條弧，兩種角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21408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CEAE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214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566160" y="18288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頂點在 圓心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03920" y="182880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∠AOB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538728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CEAE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3872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頂點在 圓上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503920" y="324612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∠ACB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判斷方法只有一句：看角的頂點在哪裡。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 ＝ 圓心角的一半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057400"/>
            <a:ext cx="3291840" cy="329184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028730" y="3703320"/>
            <a:ext cx="1491710" cy="695596"/>
          </a:xfrm>
          <a:prstGeom prst="line">
            <a:avLst/>
          </a:prstGeom>
          <a:noFill/>
          <a:ln w="3175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520440" y="3703320"/>
            <a:ext cx="1491710" cy="695596"/>
          </a:xfrm>
          <a:prstGeom prst="line">
            <a:avLst/>
          </a:prstGeom>
          <a:noFill/>
          <a:ln w="3175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2028730" y="2073418"/>
            <a:ext cx="1720778" cy="2325498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749508" y="2073418"/>
            <a:ext cx="1262642" cy="2325498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08960" y="3291840"/>
            <a:ext cx="822960" cy="822960"/>
          </a:xfrm>
          <a:prstGeom prst="arc">
            <a:avLst>
              <a:gd name="adj1" fmla="val 1500000"/>
              <a:gd name="adj2" fmla="val 9300000"/>
            </a:avLst>
          </a:prstGeom>
          <a:noFill/>
          <a:ln w="38100">
            <a:solidFill>
              <a:srgbClr val="4E87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2308" y="1616218"/>
            <a:ext cx="914400" cy="914400"/>
          </a:xfrm>
          <a:prstGeom prst="arc">
            <a:avLst>
              <a:gd name="adj1" fmla="val 3690000"/>
              <a:gd name="adj2" fmla="val 7590000"/>
            </a:avLst>
          </a:prstGeom>
          <a:noFill/>
          <a:ln w="31750">
            <a:solidFill>
              <a:srgbClr val="5080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363474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3" name="Shape 11"/>
          <p:cNvSpPr/>
          <p:nvPr/>
        </p:nvSpPr>
        <p:spPr>
          <a:xfrm>
            <a:off x="1969294" y="4339480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4" name="Shape 12"/>
          <p:cNvSpPr/>
          <p:nvPr/>
        </p:nvSpPr>
        <p:spPr>
          <a:xfrm>
            <a:off x="4952714" y="4339480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5" name="Shape 13"/>
          <p:cNvSpPr/>
          <p:nvPr/>
        </p:nvSpPr>
        <p:spPr>
          <a:xfrm>
            <a:off x="3685500" y="2009410"/>
            <a:ext cx="128016" cy="128016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6" name="Text 14"/>
          <p:cNvSpPr/>
          <p:nvPr/>
        </p:nvSpPr>
        <p:spPr>
          <a:xfrm>
            <a:off x="3044952" y="36667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62970" y="44537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1878" y="44537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788" y="179909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71800" y="43251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868" y="282322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75120" y="169164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4E8770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691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同一條弧 AB 所對的：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∠AOB ＝ 2 × ∠ACB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6675120" y="3291840"/>
            <a:ext cx="4846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329184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 ＝ 圓周角 × 2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675120" y="4617720"/>
            <a:ext cx="4846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461772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 ＝ 圓心角 ÷ 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推論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三個很好用的推論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356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19072"/>
            <a:ext cx="7315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1828800"/>
            <a:ext cx="9509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同弧所對的圓周角相等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359152"/>
            <a:ext cx="9509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同一條弧上的圓周角，不管頂點移到哪，都一樣大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3072384"/>
            <a:ext cx="108356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072384"/>
            <a:ext cx="7315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3182112"/>
            <a:ext cx="9509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直徑所對的圓周角是 90°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3712464"/>
            <a:ext cx="9509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只要看到直徑，馬上想到直角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4425696"/>
            <a:ext cx="108356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425696"/>
            <a:ext cx="7315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83080" y="4535424"/>
            <a:ext cx="9509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90° 的圓周角所對的弦是直徑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5065776"/>
            <a:ext cx="9509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反過來也成立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5779008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779008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最常考的是 ②：看到直徑，先寫下 90°。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 ∠AOB＝100°，求同弧的圓周角 ∠ACB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已知：∠AOB＝100°（頂點在圓心）。求：∠ACB（頂點在圓上）。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78434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43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看頂點：O 在圓心 → ∠AOB 是圓心角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41528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152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328416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看頂點：C 在圓上 → ∠ACB 是圓周角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確認兩個角對著同一條弧 AB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467715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771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590288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 ＝ 圓心角 ÷ 2 ＝ 100° ÷ 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530809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080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5221224"/>
            <a:ext cx="9966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答：∠ACB ＝ 50°。檢查：圓周角比圓心角小 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範例（推論②）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看到直徑，先寫 90°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011680"/>
            <a:ext cx="3200400" cy="320040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611880"/>
            <a:ext cx="3200400" cy="0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920240" y="2186091"/>
            <a:ext cx="2326676" cy="1425789"/>
          </a:xfrm>
          <a:prstGeom prst="line">
            <a:avLst/>
          </a:prstGeom>
          <a:noFill/>
          <a:ln w="3175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246916" y="2186091"/>
            <a:ext cx="873724" cy="1425789"/>
          </a:xfrm>
          <a:prstGeom prst="line">
            <a:avLst/>
          </a:prstGeom>
          <a:noFill/>
          <a:ln w="3175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090985" y="2281646"/>
            <a:ext cx="95555" cy="15593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4186539" y="2342022"/>
            <a:ext cx="155931" cy="95555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61004" y="3552444"/>
            <a:ext cx="118872" cy="118872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2" name="Shape 10"/>
          <p:cNvSpPr/>
          <p:nvPr/>
        </p:nvSpPr>
        <p:spPr>
          <a:xfrm>
            <a:off x="1860804" y="3552444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61204" y="3552444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4" name="Shape 12"/>
          <p:cNvSpPr/>
          <p:nvPr/>
        </p:nvSpPr>
        <p:spPr>
          <a:xfrm>
            <a:off x="4182908" y="2122083"/>
            <a:ext cx="128016" cy="128016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5" name="Text 13"/>
          <p:cNvSpPr/>
          <p:nvPr/>
        </p:nvSpPr>
        <p:spPr>
          <a:xfrm>
            <a:off x="3465576" y="3813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72768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65204" y="1911771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486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 是直徑 → ∠ACB = 90°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0" y="164592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64592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 是直徑，C 在圓上，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∠A＝30°。求 ∠ACB、∠ABC。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675120" y="307238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292608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 是直徑 → ∠ACB ＝ 90°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675120" y="398678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384048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三角形內角和 ＝ 180°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675120" y="490118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901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475488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∠ABC ＝ 180° − 90° − 30° ＝ 60°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下一頁換你做：先寫「頂點在哪」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圓心角 ∠AOB＝80°，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同弧圓周角 ∠ACB＝＿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圓周角 ∠ACB＝35°，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同弧圓心角 ∠AOB＝＿。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直徑所對的圓周角＝＿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AB 是 ⊙O 的直徑，C 在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圓上，∠A＝30°。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∠ACB 和 ∠ABC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同弧的圓心角比圓周角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大 45°，求這兩個角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AB 是直徑，C 在圓上移動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（不與 A、B 重合）。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∠ACB 會不會變？為什麼？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出一題「用圓周角定理」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的題目給同學做，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並附上你的答案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同一條弧上，圓心角是圓周角的兩倍。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看到直徑，就寫 ∠＝90°；圓周角 ＝ 圓心角 ÷ 2。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圓內接四邊形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會用對角互補求角，並把四節課接起來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課時④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四點都在圓上：對角互補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1965960"/>
            <a:ext cx="3291840" cy="329184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994370" y="2158619"/>
            <a:ext cx="753358" cy="2069834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94370" y="4228452"/>
            <a:ext cx="2470131" cy="731686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464501" y="2598550"/>
            <a:ext cx="352942" cy="2361588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47727" y="2158619"/>
            <a:ext cx="2069715" cy="439932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683719" y="2094611"/>
            <a:ext cx="128016" cy="12801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Shape 9"/>
          <p:cNvSpPr/>
          <p:nvPr/>
        </p:nvSpPr>
        <p:spPr>
          <a:xfrm>
            <a:off x="1930362" y="4164444"/>
            <a:ext cx="128016" cy="12801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0493" y="4896131"/>
            <a:ext cx="128016" cy="12801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3435" y="2534542"/>
            <a:ext cx="128016" cy="12801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2436831" y="1975739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6898" y="43016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7653" y="510644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08883" y="245224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57400" y="5532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 ＋ ∠C ＝ 180°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69164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4E877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6916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四個頂點都在圓上 →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對角相加是 180°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6675120" y="3200400"/>
            <a:ext cx="4846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2004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 ＋ ∠C ＝ 180°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675120" y="4572000"/>
            <a:ext cx="4846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45720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∠B ＋ ∠D ＝ 180°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課時④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圓內接四邊形 ABCD，∠A＝95°、∠B＝70°，求 ∠C、∠D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已知：∠A＝95°、∠B＝70°，四點都在圓上。求：∠C、∠D。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配對：A 的對角是 C，B 的對角是 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∠A ＋ ∠C ＝ 180° → ∠C ＝ 180° − 95° ＝ 85°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∠B ＋ ∠D ＝ 180° → ∠D ＝ 180° − 70° ＝ 110°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檢查：95 + 70 + 85 + 110 ＝ 360° ✔（四邊形內角和）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下一頁是最後一關：四節課一起用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課時④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圓內接四邊形 ABCD，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∠A＝80°，則 ∠C＝＿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圓內接四邊形 ABCD，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∠B＝110°，則 ∠D＝＿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圓內接四邊形 ABCD，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∠A＝95°、∠B＝70°，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∠C、∠D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圓內接四邊形 ABCD，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∠A : ∠C ＝ 2 : 3，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∠A 和 ∠C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⊙O 半徑 13，兩條平行弦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AB＝24、CD＝10，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求兩弦的距離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（兩種情況）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出一題同時用到垂徑定理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和圓周角的題目，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並寫出你的解法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四節課，四句話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01952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019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直徑是最長的弦，等於 2 個半徑。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97180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2761488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垂直弦的直徑會平分弦：d² ＋ 半弦² ＝ r²。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041648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416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88920" y="3831336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圓周角 ＝ 圓心角 ÷ 2；直徑所對的圓周角是 90°。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901184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111496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114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88920" y="4901184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圓內接四邊形，對角相加是 180°。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" y="5907024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DCEAE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90702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四節課其實只做一件事：把圓上的線和角，換成會算的直角三角形和度數。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你已經走完四節課！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圓的性質，你做得到。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下次看到「直徑」，記得先寫下 90°。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節奏：4 課時 × 45 分鐘，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每課時各含 1 個轉換點。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CRA 三階：摺紙 → 圖 → 勾股式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原生幾何圖：基本詞／垂徑／圓周角／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直徑對直角／圓內接四邊形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步驟卡：一步一行、編號、附自我檢查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轉換點＋預告：照顧注意力節奏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迷思澄清：半徑不是弦、對角要先配對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圓的有關性質（抽離小組·融合版）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圓的有關性質 四課時（融合抽離版）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2026-07-20T04:47:47Z</dcterms:created>
  <dcterms:modified xsi:type="dcterms:W3CDTF">2026-07-20T04:47:47Z</dcterms:modified>
</cp:coreProperties>
</file>