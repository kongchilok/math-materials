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開場定調：兩節課都在做同一件事——把一整個圓（360°）按比例分。第一節分成 n 等份，第二節只取其中一塊。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先給地圖。強調兩節課的共同想法：一整個圓是 360°，任何東西都按比例分。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進入課時①。核心只有一條除法：360 ÷ n。內角公式是舊知識（多邊形內角和），順帶複習。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保底暖身：只判斷是不是「各邊相等、各角也相等」。可即場傳一顆六角螺帽讓學生看。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圖像先行：先讓學生數圖上有幾個等腰三角形（6 個），再導出中心角 360÷6＝60°。內角公式是舊知識，順帶複習。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兩個公式都是「先算總數、再平均分」。中心角分的是 360°，內角分的是內角和。請學生說出「分的是哪一個總數」。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這是全單元最常考的特例。不要只叫學生背，走一次五步推理，他們才記得住。指圖上高亮的那條邊。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秒。先預告下一段是自己動手做，讓 ADHD／ASD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解答核對｜A1: (1) 360÷3＝120° (2) 360÷6＝60°；A2: (1) 內角＝(6−2)×180÷6＝720÷6＝120° (2) 360÷8＝45°。 B3: 正六邊形邊長＝半徑＝4，周長＝6×4＝24；B4: 中心角＝360÷10＝36°，內角＝(10−2)×180÷10＝1440÷10＝144°。 C5: 正方形的對角線＝直徑＝2R＝2√2；邊長＝對角線÷√2＝2√2÷√2＝2；面積＝2²＝4；C6: 圓心連相鄰兩頂點成等腰三角形，頂角＝360÷6＝60°，等腰且頂角 60° → 正三角形 → 邊長＝半徑。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回收課時①。保底：能寫出 360÷n、能講出正六邊形的特例就達標。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進入課時②。整節課只有一個想法：圓心角佔 360° 的幾分之幾，弧長和面積就佔同樣的比例。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先用 pizza 建立比例直覺，再寫公式。「餅皮邊」＝弧長、「面積」＝扇形面積。這個比喻之後每題都可以回來用。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兩條公式的前半截一模一樣，都是 n÷360。差別只在後面乘「周長」還是乘「圓面積」。請學生先寫分數，再決定乘什麼。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步先把分數約簡，後面的乘法就容易很多。第 4 步用另一條公式互相驗算，是很好的自我檢查習慣。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防錯提示：R 有沒有平方，就是弧長和面積的分界。寫式後回頭看一眼「有沒有 R²」。用灰色標錯，不用紅色。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秒。先預告下一段是自己動手做，讓 ADHD／ASD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解答核對｜A1: (60÷360)×2π×9＝(1/6)×18π＝3π；A2: (90÷360)×2π×6＝(1/4)×12π＝3π。 B3: l＝(72÷360)×2π×10＝(1/5)×20π＝4π；S＝(72÷360)×π×10²＝(1/5)×100π＝20π；B4: (n÷360)×2π×6＝2π → (n÷360)×12π＝2π → n÷360＝1/6 → n＝60°；S＝½×l×R＝½×2π×6＝6π。 C5: (1) l＝(120÷360)×2π×9＝(1/3)×18π＝6π (2) S＝½×6π×9＝27π (3) 捲成圓錐後弧長變底面圓周長：6π＝2πr → r＝3；C6: 錯在用了周長公式 2πR，求面積要用 πR²；正確 S＝(90÷360)×π×5²＝25π÷4＝6.25π。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回收課時②。保底：能寫出分數 n÷360、能分辨要乘 2πR 還是 πR² 就達標。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整體回收。連結：課時① 分的是角度，課時② 分的是弧長和面積，想法完全一樣。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正向收束，asset-based。肯定策略與過程。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此頁供教師／IEP 對接用，上課可略過。屬 Accommodation，未剪裁課程內容。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2588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25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抽離小組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正多邊形、弧長與扇形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FE0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兩課時通關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把圓切成 n 份</a:t>
            </a:r>
            <a:pPr algn="l" indent="0" marL="0">
              <a:buNone/>
            </a:pPr>
            <a:r>
              <a:rPr lang="en-US" sz="2200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  →      </a:t>
            </a:r>
            <a:pPr algn="l" indent="0" marL="0">
              <a:buNone/>
            </a:pPr>
            <a:r>
              <a:rPr lang="en-US" sz="22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拿走其中一塊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9834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融合版 · 同一份簡報，跟著兩課時一步一步走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這個單元，我們走兩節課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276856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7685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88920" y="2020824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正多邊形和圓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788920" y="2551176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中心角 ＝ 360° ÷ n；正 n 邊形的內角；正六邊形的邊長 ＝ 半徑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3410712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81304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81304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88920" y="3557016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弧長與扇形面積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788920" y="40873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圓心角佔 360° 的幾分之幾，弧長和面積就佔同樣的比例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每一節都一樣：學一招 → 看範例 → 挑星星練習 ★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正多邊形和圓、弧長與扇形面積（抽離小組·融合版）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83464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931920" y="19659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正多邊形和圓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會算中心角和內角，會用正六邊形的特例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正多邊形和圓、弧長與扇形面積（抽離小組·融合版）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引入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生活裡的正多邊形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8745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六角螺帽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297680" y="18745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正六邊形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23760" y="18745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扳手每轉 60° 就能再咬住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2907792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90779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蜂巢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297680" y="2907792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正六邊形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23760" y="290779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同樣材料圍出最大空間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" y="3941064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3941064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交通「停」牌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4297680" y="3941064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正八邊形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223760" y="3941064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遠遠看就認得出形狀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1520" y="4974336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4974336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長方形磁磚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297680" y="4974336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不是正多邊形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223760" y="4974336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四邊不等長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正多邊形和圓、弧長與扇形面積（抽離小組·融合版）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概念（保底）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每個正多邊形都住在一個圓裡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7607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1965960"/>
            <a:ext cx="3200400" cy="3200400"/>
          </a:xfrm>
          <a:prstGeom prst="ellipse">
            <a:avLst/>
          </a:prstGeom>
          <a:ln w="22225">
            <a:solidFill>
              <a:srgbClr val="5C6F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20440" y="1965960"/>
            <a:ext cx="1385814" cy="800100"/>
          </a:xfrm>
          <a:prstGeom prst="line">
            <a:avLst/>
          </a:prstGeom>
          <a:noFill/>
          <a:ln w="44450">
            <a:solidFill>
              <a:srgbClr val="4E8770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906254" y="2766060"/>
            <a:ext cx="0" cy="1600200"/>
          </a:xfrm>
          <a:prstGeom prst="line">
            <a:avLst/>
          </a:prstGeom>
          <a:noFill/>
          <a:ln w="27940">
            <a:solidFill>
              <a:srgbClr val="233A3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3520440" y="4366260"/>
            <a:ext cx="1385814" cy="800100"/>
          </a:xfrm>
          <a:prstGeom prst="line">
            <a:avLst/>
          </a:prstGeom>
          <a:noFill/>
          <a:ln w="27940">
            <a:solidFill>
              <a:srgbClr val="233A3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134626" y="4366260"/>
            <a:ext cx="1385814" cy="800100"/>
          </a:xfrm>
          <a:prstGeom prst="line">
            <a:avLst/>
          </a:prstGeom>
          <a:noFill/>
          <a:ln w="27940">
            <a:solidFill>
              <a:srgbClr val="233A3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134626" y="2766060"/>
            <a:ext cx="0" cy="1600200"/>
          </a:xfrm>
          <a:prstGeom prst="line">
            <a:avLst/>
          </a:prstGeom>
          <a:noFill/>
          <a:ln w="27940">
            <a:solidFill>
              <a:srgbClr val="233A3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 flipV="1">
            <a:off x="2134626" y="1965960"/>
            <a:ext cx="1385814" cy="800100"/>
          </a:xfrm>
          <a:prstGeom prst="line">
            <a:avLst/>
          </a:prstGeom>
          <a:noFill/>
          <a:ln w="27940">
            <a:solidFill>
              <a:srgbClr val="233A3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520440" y="1965960"/>
            <a:ext cx="0" cy="1600200"/>
          </a:xfrm>
          <a:prstGeom prst="line">
            <a:avLst/>
          </a:prstGeom>
          <a:noFill/>
          <a:ln w="31750">
            <a:solidFill>
              <a:srgbClr val="6FA48C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3520440" y="2766060"/>
            <a:ext cx="1385814" cy="800100"/>
          </a:xfrm>
          <a:prstGeom prst="line">
            <a:avLst/>
          </a:prstGeom>
          <a:noFill/>
          <a:ln w="31750">
            <a:solidFill>
              <a:srgbClr val="6FA48C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136392" y="3182112"/>
            <a:ext cx="768096" cy="768096"/>
          </a:xfrm>
          <a:prstGeom prst="arc">
            <a:avLst>
              <a:gd name="adj1" fmla="val 16200000"/>
              <a:gd name="adj2" fmla="val 19800000"/>
            </a:avLst>
          </a:prstGeom>
          <a:noFill/>
          <a:ln w="31750">
            <a:solidFill>
              <a:srgbClr val="6FA4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3502152"/>
            <a:ext cx="128016" cy="128016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16" name="Shape 14"/>
          <p:cNvSpPr/>
          <p:nvPr/>
        </p:nvSpPr>
        <p:spPr>
          <a:xfrm>
            <a:off x="3465576" y="1911096"/>
            <a:ext cx="109728" cy="109728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7" name="Shape 15"/>
          <p:cNvSpPr/>
          <p:nvPr/>
        </p:nvSpPr>
        <p:spPr>
          <a:xfrm>
            <a:off x="4851390" y="2711196"/>
            <a:ext cx="109728" cy="109728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8" name="Shape 16"/>
          <p:cNvSpPr/>
          <p:nvPr/>
        </p:nvSpPr>
        <p:spPr>
          <a:xfrm>
            <a:off x="4851390" y="4311396"/>
            <a:ext cx="109728" cy="109728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9" name="Shape 17"/>
          <p:cNvSpPr/>
          <p:nvPr/>
        </p:nvSpPr>
        <p:spPr>
          <a:xfrm>
            <a:off x="3465576" y="5111496"/>
            <a:ext cx="109728" cy="109728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20" name="Shape 18"/>
          <p:cNvSpPr/>
          <p:nvPr/>
        </p:nvSpPr>
        <p:spPr>
          <a:xfrm>
            <a:off x="2079762" y="4311396"/>
            <a:ext cx="109728" cy="109728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21" name="Shape 19"/>
          <p:cNvSpPr/>
          <p:nvPr/>
        </p:nvSpPr>
        <p:spPr>
          <a:xfrm>
            <a:off x="2079762" y="2711196"/>
            <a:ext cx="109728" cy="109728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22" name="Text 20"/>
          <p:cNvSpPr/>
          <p:nvPr/>
        </p:nvSpPr>
        <p:spPr>
          <a:xfrm>
            <a:off x="3136392" y="3657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30168" y="305409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92524" y="33101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400550" y="204597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邊長 a ＝ 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783080" y="54955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正六邊形：中心角 60°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675120" y="1691640"/>
            <a:ext cx="4846320" cy="1051560"/>
          </a:xfrm>
          <a:prstGeom prst="roundRect">
            <a:avLst>
              <a:gd name="adj" fmla="val 10435"/>
            </a:avLst>
          </a:prstGeom>
          <a:solidFill>
            <a:srgbClr val="4E8770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169164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 n 邊形都有一個外接圓，</a:t>
            </a:r>
            <a:endParaRPr lang="en-US" sz="2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圓心就是它的中心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6675120" y="2971800"/>
            <a:ext cx="48463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03720" y="3118104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DCEAE3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3118104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中心角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823960" y="2971800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360° ÷ n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675120" y="3931920"/>
            <a:ext cx="48463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03720" y="4078224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DCEAE3"/>
          </a:solidFill>
          <a:ln/>
        </p:spPr>
      </p:sp>
      <p:sp>
        <p:nvSpPr>
          <p:cNvPr id="35" name="Text 33"/>
          <p:cNvSpPr/>
          <p:nvPr/>
        </p:nvSpPr>
        <p:spPr>
          <a:xfrm>
            <a:off x="6903720" y="4078224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內角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823960" y="3931920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(n−2) × 180° ÷ n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675120" y="4892040"/>
            <a:ext cx="48463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03720" y="5038344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DCEAE3"/>
          </a:solidFill>
          <a:ln/>
        </p:spPr>
      </p:sp>
      <p:sp>
        <p:nvSpPr>
          <p:cNvPr id="39" name="Text 37"/>
          <p:cNvSpPr/>
          <p:nvPr/>
        </p:nvSpPr>
        <p:spPr>
          <a:xfrm>
            <a:off x="6903720" y="5038344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正六邊形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8823960" y="4892040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邊長 ＝ 半徑 R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正多邊形和圓、弧長與扇形面積（抽離小組·融合版）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範例（步驟卡）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正六邊形：中心角和內角各是多少？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已知：正六邊形，n ＝ 6。求：中心角、內角。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86321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6321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69748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中心角：把 360° 平均分成 n 份 → 360° ÷ 6 ＝ 60°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65188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65188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48615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內角和：(n−2) × 180° ＝ (6−2) × 180° ＝ 720°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444055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4055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27482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內角：內角和再平均分成 n 份 → 720° ÷ 6 ＝ 120°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522922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2922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506349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檢查：中心角 60° ＋ 內角 120° 的關係合理（都是 60 的倍數）✔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正多邊形和圓、弧長與扇形面積（抽離小組·融合版）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特例（要記住）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為什麼正六邊形邊長 ＝ 半徑？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4E877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正六邊形的邊長，剛好等於它外接圓的半徑 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288036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8346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從圓心連到相鄰兩個頂點，得到一個三角形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4747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兩條邊都是半徑 → 這是等腰三角形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11480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頂角（中心角）＝ 360° ÷ 6 ＝ 60°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77240" y="480060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47548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等腰＋頂角 60° → 三個角都是 60° → 正三角形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77240" y="544068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17320" y="539496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正三角形三邊相等 → 邊長 ＝ 半徑 ✔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正多邊形和圓、弧長與扇形面積（抽離小組·融合版）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下一頁換你做：先寫 360 ÷ 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 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正多邊形和圓、弧長與扇形面積（抽離小組·融合版）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分層練習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中心角 ＝ 360° ÷ n：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(1) 正三角形 ＝ ＿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(2) 正六邊形 ＝ ＿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3816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(1) 正六邊形的內角 ＝ ＿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(2) 正八邊形的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   中心角 ＝ ＿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50664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0664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733544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733544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70120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正六邊形內接於半徑 4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的圓。求邊長和周長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70120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正十邊形的中心角和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內角各是多少？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506968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6968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9848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689848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26424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正方形內接於半徑 √2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的圓。求邊長和面積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726424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為什麼正六邊形的邊長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剛好等於半徑？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用中心角說明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594360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正多邊形和圓、弧長與扇形面積（抽離小組·融合版）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正多邊形就是把一個圓平均切成 n 份。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中心角 ＝ 360° ÷ n；正六邊形的邊長 ＝ 半徑。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正多邊形和圓、弧長與扇形面積（抽離小組·融合版）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83464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931920" y="19659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弧長與扇形面積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會用「佔 360° 的幾分之幾」算弧長和面積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正多邊形和圓、弧長與扇形面積（抽離小組·融合版）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引入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切一塊 pizza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1874520"/>
            <a:ext cx="9966960" cy="1234440"/>
          </a:xfrm>
          <a:prstGeom prst="roundRect">
            <a:avLst>
              <a:gd name="adj" fmla="val 11111"/>
            </a:avLst>
          </a:prstGeom>
          <a:solidFill>
            <a:srgbClr val="4E8770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1874520"/>
            <a:ext cx="9326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角度佔幾分之幾，餅皮和餡料就佔同樣的幾分之幾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97280" y="3429000"/>
            <a:ext cx="99669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3429000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切成一半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023360" y="3429000"/>
            <a:ext cx="3474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180° ÷ 360° ＝ 1/2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80960" y="3429000"/>
            <a:ext cx="3291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餅皮邊 1/2、面積 1/2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97280" y="4325112"/>
            <a:ext cx="99669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4325112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切成四分一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023360" y="4325112"/>
            <a:ext cx="3474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90° ÷ 360° ＝ 1/4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80960" y="4325112"/>
            <a:ext cx="3291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餅皮邊 1/4、面積 1/4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97280" y="5221224"/>
            <a:ext cx="99669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5221224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 120°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023360" y="5221224"/>
            <a:ext cx="3474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120° ÷ 360° ＝ 1/3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680960" y="5221224"/>
            <a:ext cx="3291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餅皮邊 1/3、面積 1/3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正多邊形和圓、弧長與扇形面積（抽離小組·融合版）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概念（保底）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兩條公式，同一個分數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7607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331720"/>
            <a:ext cx="3200400" cy="3200400"/>
          </a:xfrm>
          <a:prstGeom prst="ellipse">
            <a:avLst/>
          </a:prstGeom>
          <a:ln w="19050">
            <a:solidFill>
              <a:srgbClr val="D3E1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331720"/>
            <a:ext cx="3200400" cy="3200400"/>
          </a:xfrm>
          <a:prstGeom prst="arc">
            <a:avLst>
              <a:gd name="adj1" fmla="val 14700000"/>
              <a:gd name="adj2" fmla="val 21600000"/>
            </a:avLst>
          </a:prstGeom>
          <a:noFill/>
          <a:ln w="50800">
            <a:solidFill>
              <a:srgbClr val="4E87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3931920"/>
            <a:ext cx="1600200" cy="0"/>
          </a:xfrm>
          <a:prstGeom prst="line">
            <a:avLst/>
          </a:prstGeom>
          <a:noFill/>
          <a:ln w="35560">
            <a:solidFill>
              <a:srgbClr val="6FA48C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386966" y="2481646"/>
            <a:ext cx="676274" cy="1450274"/>
          </a:xfrm>
          <a:prstGeom prst="line">
            <a:avLst/>
          </a:prstGeom>
          <a:noFill/>
          <a:ln w="35560">
            <a:solidFill>
              <a:srgbClr val="6FA48C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606040" y="3474720"/>
            <a:ext cx="914400" cy="914400"/>
          </a:xfrm>
          <a:prstGeom prst="arc">
            <a:avLst>
              <a:gd name="adj1" fmla="val 14700000"/>
              <a:gd name="adj2" fmla="val 21600000"/>
            </a:avLst>
          </a:prstGeom>
          <a:noFill/>
          <a:ln w="31750">
            <a:solidFill>
              <a:srgbClr val="5080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99232" y="3867912"/>
            <a:ext cx="128016" cy="128016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11" name="Shape 9"/>
          <p:cNvSpPr/>
          <p:nvPr/>
        </p:nvSpPr>
        <p:spPr>
          <a:xfrm>
            <a:off x="4599432" y="3867912"/>
            <a:ext cx="128016" cy="128016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2" name="Shape 10"/>
          <p:cNvSpPr/>
          <p:nvPr/>
        </p:nvSpPr>
        <p:spPr>
          <a:xfrm>
            <a:off x="2322958" y="2417638"/>
            <a:ext cx="128016" cy="128016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2935224" y="41513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73168" y="3913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29766" y="242678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9544" y="34747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63340" y="40782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87151" y="232011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弧長 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75120" y="1691640"/>
            <a:ext cx="4846320" cy="1051560"/>
          </a:xfrm>
          <a:prstGeom prst="roundRect">
            <a:avLst>
              <a:gd name="adj" fmla="val 10435"/>
            </a:avLst>
          </a:prstGeom>
          <a:solidFill>
            <a:srgbClr val="4E8770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169164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關鍵分數：n ÷ 360</a:t>
            </a:r>
            <a:endParaRPr lang="en-US" sz="1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（圓心角佔整個圓的幾分之幾）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675120" y="2971800"/>
            <a:ext cx="48463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03720" y="302666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弧長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903720" y="339242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 ＝ (n÷360) × 2πR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686800" y="302666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整圈周長 2πR 的一部分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75120" y="3931920"/>
            <a:ext cx="48463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03720" y="398678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扇形面積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903720" y="435254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 ＝ (n÷360) × πR²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686800" y="398678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整個圓面積 πR² 的一部分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75120" y="4892040"/>
            <a:ext cx="48463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03720" y="49469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另一條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903720" y="531266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 ＝ ½ × l × R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8686800" y="494690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知道弧長時更快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正多邊形和圓、弧長與扇形面積（抽離小組·融合版）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範例（步驟卡）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半徑 6、圓心角 120°：求弧長和面積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已知：R ＝ 6、n ＝ 120°。求：弧長 l、扇形面積 S。（π 保留）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86321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6321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69748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先寫分數：120 ÷ 360 ＝ 1/3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65188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65188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48615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弧長：l ＝ 1/3 × 2π × 6 ＝ 1/3 × 12π ＝ 4π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444055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4055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27482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面積：S ＝ 1/3 × π × 6² ＝ 1/3 × 36π ＝ 12π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522922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2922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506349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檢查：也可用 S ＝ ½ × l × R ＝ ½ × 4π × 6 ＝ 12π 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正多邊形和圓、弧長與扇形面積（抽離小組·融合版）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迷思澄清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算面積，不要拿周長公式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27632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小明求半徑 5、圓心角 90° 的扇形面積，寫成 S ＝ (90÷360) × 2π × 5   </a:t>
            </a:r>
            <a:pPr algn="l" indent="0" marL="0">
              <a:buNone/>
            </a:pPr>
            <a:r>
              <a:rPr lang="en-US" sz="2200" b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錯在：他用了周長公式 2πR。求面積要用 πR²。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32918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求弧長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3291840" y="32918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後面乘 2πR（周長）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06640" y="32918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 ＝ (n÷360) × 2πR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4315968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4315968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求面積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291840" y="431596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後面乘 πR²（圓面積）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06640" y="431596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 ＝ (n÷360) × πR²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31520" y="539496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DCEAE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3949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正確答案：S ＝ (90÷360) × π × 5² ＝ 25π ÷ 4 ＝ 6.25π。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正多邊形和圓、弧長與扇形面積（抽離小組·融合版）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下一頁換你做：先寫 n ÷ 360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 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正多邊形和圓、弧長與扇形面積（抽離小組·融合版）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分層練習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半徑 9、圓心角 60°，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弧長 ＝ (60÷360)×2π×9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＝ ＿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3816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半徑 6、圓心角 90°，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求弧長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50664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0664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733544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733544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70120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半徑 10、圓心角 72°。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求弧長和扇形面積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70120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扇形半徑 6、弧長 2π。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求圓心角和面積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506968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6968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9848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689848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26424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圓心角 120°、半徑 9，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(1) 求弧長 (2) 求面積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(3) 捲成圓錐求底面半徑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726424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找錯：小明求半徑 5、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圓心角 90° 的扇形面積，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寫成 (90÷360)×2π×5。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錯在哪？正確答案？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594360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正多邊形和圓、弧長與扇形面積（抽離小組·融合版）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先寫 n ÷ 360，再決定乘周長還是乘圓面積。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弧長 l ＝ (n÷360) × 2πR；扇形面積 S ＝ (n÷360) × πR²。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正多邊形和圓、弧長與扇形面積（抽離小組·融合版）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兩節課，兩句話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108813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423160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42316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88920" y="1920240"/>
            <a:ext cx="85039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正多邊形就是把圓平均切成 n 份。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中心角 ＝ 360° ÷ n；正六邊形邊長 ＝ 半徑。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675888"/>
            <a:ext cx="108813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417880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17880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88920" y="3675888"/>
            <a:ext cx="85039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圓心角佔 360° 的幾分之幾，弧長和面積就佔同樣的比例。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 ＝ (n÷360) × 2πR；S ＝ (n÷360) × πR²。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557784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DCEAE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5778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兩節課都在做同一件事：把一整個圓（360°）按比例分下去。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正多邊形和圓、弧長與扇形面積（抽離小組·融合版）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你已經走完兩節課！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CFE0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弧長與扇形，你做得到。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4389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下次看到圓心角，先寫下 n ÷ 360。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供科組 / IEP 會議說明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教師備註 · 融合層設計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調整定位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路線：Accommodation（調整支援）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內容不減、維持初三年級標準，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只改「接觸方式」與「練習鷹架」。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分層靠學生自選星星，不點名個案。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節奏：2 課時 × 45 分鐘，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每課時各含 1 個轉換點。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融合層做了什麼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統一思路：兩節課都是「按比例分 360°」</a:t>
            </a:r>
            <a:endParaRPr lang="en-US" sz="17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pizza 比喻建立比例直覺，下一行即給</a:t>
            </a:r>
            <a:endParaRPr lang="en-US" sz="17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白話對應（弧長＝餅皮邊、面積＝餡）</a:t>
            </a:r>
            <a:endParaRPr lang="en-US" sz="17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原生幾何圖：正六邊形內接圓／扇形</a:t>
            </a:r>
            <a:endParaRPr lang="en-US" sz="17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正六邊形特例走五步推理，不只叫學生背</a:t>
            </a:r>
            <a:endParaRPr lang="en-US" sz="17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迷思澄清：R 有沒有平方＝弧長／面積分界</a:t>
            </a:r>
            <a:endParaRPr lang="en-US" sz="17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步驟卡附互相驗算（兩條面積公式對照）</a:t>
            </a:r>
            <a:endParaRPr lang="en-US" sz="17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保底成功句＋asset-based 用語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正多邊形和圓、弧長與扇形面積（抽離小組·融合版）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正多邊形和圓、弧長與扇形面積 兩課時（融合抽離版）</dc:title>
  <dc:subject>PptxGenJS Presentation</dc:subject>
  <dc:creator>初三數學抽離小組</dc:creator>
  <cp:lastModifiedBy>初三數學抽離小組</cp:lastModifiedBy>
  <cp:revision>1</cp:revision>
  <dcterms:created xsi:type="dcterms:W3CDTF">2026-07-20T09:11:41Z</dcterms:created>
  <dcterms:modified xsi:type="dcterms:W3CDTF">2026-07-20T09:11:41Z</dcterms:modified>
</cp:coreProperties>
</file>