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開場定調：兩節課。第一節只有一句話「兩個乘積相等」，第二節只有一句話「比 d 和 R＋r、R−r」。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先給地圖。強調兩節課各只有一個核心句子，內容看似多，其實只有兩招。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進入課時①。名字聽起來嚇人，但做的事只有一件：把兩段乘起來，等於另外兩段乘起來。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先給大圖：兩個定理是同一句話。強調「積相等」三個字，之後每一題都回到這三個字。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配對是關鍵：PA 和 PB 是同一條弦被 P 切出的兩段，PC 和 PD 是另一條。請學生先用手指描出兩條弦，再配對。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步「配對」防錯：常見錯誤是把不同弦的兩段乘在一起。寫式前先問「這兩段在同一條弦上嗎」。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最常錯：把 PB 當成「遠的那一段」。PB 是從 P 到遠端 B 的整條，包含 PA。請學生在圖上用手指從 P 一路劃到 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減少記憶負荷：不用背兩條式，記住「P 出發、積相等」，再看點在圓內還是圓外，決定寫哪一條。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秒。先預告下一段是自己動手做，讓 ADHD／ASD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3×8＝4×PD → 24＝4PD → PD＝6；A2: PT²＝3×12＝36 → PT＝6。 B3: 4×9＝3×PD → 36＝3PD → PD＝12；B4: PT²＝PA·PB → 36＝4×PB → PB＝9。 C5: AP＝2、PB＝10−2＝8；相交弦 CP·PD＝2×8＝16；CD⊥直徑 → P 平分 CD → CP＝PD → CP²＝16 → CP＝4 → CD＝8；C6: PT²＝PA·PB → 64＝4×PB → PB＝16；割線過圓心 → AB＝PB−PA＝12 是直徑 → 半徑＝6。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回收課時①。保底：能講出「積相等」並正確配對兩段就達標。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進入課時②。和單元 09 的「比大小」是同一個動作，只是這次要跟兩個數比：R＋r 和 R−r。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由左到右 d 越來越小：從分開、碰到、穿過、內部碰到、完全包住。請學生用兩隻手比劃五個階段。公切線條數也跟著 4→3→2→1→0 遞減。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步一定要先算出 R＋r 和 R−r 兩個界線，寫在紙上，再把 d 擺進去。不要邊算邊猜。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記憶鷹架：條數是 4、3、2、1、0 順序遞減，不用逐個背。只要排對位置關係的順序，條數自動對上。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秒。先預告下一段是自己動手做，讓 ADHD／ASD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R＋r＝8、R−r＝2；A2: 外切 d＝R＋r、內切 d＝R−r。 B3: 界線 8 和 2 →(1) 10＞8 外離 (2) 8＝8 外切 (3) 2＜5＜8 相交 (4) 2＝2 內切；B4: (1) 外切 d＝2＋3＝5 (2) 內切 d＝3−2＝1。 C5: R＋r＝10、R−r＝2；d＝10＝R＋r → 外切，3 條公切線；C6: 相交 ⇔ R−r＜d＜R＋r → 2 ＜ d ＜ 10。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回收課時②。保底：能算出兩個界線、能判斷外切和內切就達標。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整體回收。連結單元 09：切割線用到「切線」；兩圓比大小和「直線與圓」是同一個動作。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正向收束，asset-based。肯定策略與過程。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此頁供教師／IEP 對接用，上課可略過。屬 Accommodation，未剪裁課程內容。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2588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25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抽離小組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圓冪定理與兩圓公切線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兩課時通關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積相等：圓冪定理</a:t>
            </a:r>
            <a:pPr algn="l" indent="0" marL="0">
              <a:buNone/>
            </a:pPr>
            <a:r>
              <a:rPr lang="en-US" sz="2200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 →      </a:t>
            </a:r>
            <a:pPr algn="l" indent="0" marL="0">
              <a:buNone/>
            </a:pPr>
            <a:r>
              <a:rPr lang="en-US" sz="22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兩圓怎麼擺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9834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融合版 · 同一份簡報，跟著兩課時一步一步走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這個單元，我們走兩節課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276856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768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88920" y="2020824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圓冪定理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788920" y="2551176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相交弦、切割線：都是「兩個乘積相等」的同一句話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3410712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81304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8130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88920" y="3557016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兩圓的位置與公切線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788920" y="40873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 d 與 R＋r、R−r：外離／外切／相交／內切／內含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每一節都一樣：學一招 → 看範例 → 挑星星練習 ★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83464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931920" y="19659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圓冪定理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會用「兩個乘積相等」求未知長度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一句話，兩個定理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9966960" cy="1234440"/>
          </a:xfrm>
          <a:prstGeom prst="roundRect">
            <a:avLst>
              <a:gd name="adj" fmla="val 11111"/>
            </a:avLst>
          </a:prstGeom>
          <a:solidFill>
            <a:srgbClr val="4E8770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874520"/>
            <a:ext cx="9326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從同一點出發，兩邊「切下來的兩段」乘起來，一定相等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97280" y="3429000"/>
            <a:ext cx="9966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34290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點在圓內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0" y="342900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兩條弦交在裡面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223760" y="342900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 · PB ＝ PC · PD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97280" y="4636008"/>
            <a:ext cx="9966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4636008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點在圓外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0" y="4636008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一條切線、一條割線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23760" y="4636008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PT² ＝ PA · PB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580644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兩個定理，其實是同一件事的兩種擺法。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概念（保底）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相交弦：裡面交叉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2011680"/>
            <a:ext cx="3108960" cy="3108960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0683" y="3352721"/>
            <a:ext cx="3033209" cy="644728"/>
          </a:xfrm>
          <a:prstGeom prst="line">
            <a:avLst/>
          </a:prstGeom>
          <a:noFill/>
          <a:ln w="35560">
            <a:solidFill>
              <a:srgbClr val="4E8770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3419030" y="2251631"/>
            <a:ext cx="931122" cy="2865698"/>
          </a:xfrm>
          <a:prstGeom prst="line">
            <a:avLst/>
          </a:prstGeom>
          <a:noFill/>
          <a:ln w="3556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789274" y="3679546"/>
            <a:ext cx="146304" cy="146304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9" name="Shape 7"/>
          <p:cNvSpPr/>
          <p:nvPr/>
        </p:nvSpPr>
        <p:spPr>
          <a:xfrm>
            <a:off x="4954456" y="3938013"/>
            <a:ext cx="118872" cy="118872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0" name="Text 8"/>
          <p:cNvSpPr/>
          <p:nvPr/>
        </p:nvSpPr>
        <p:spPr>
          <a:xfrm>
            <a:off x="4648132" y="3942585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21247" y="3293285"/>
            <a:ext cx="118872" cy="118872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2" name="Text 10"/>
          <p:cNvSpPr/>
          <p:nvPr/>
        </p:nvSpPr>
        <p:spPr>
          <a:xfrm>
            <a:off x="2072123" y="3297857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90716" y="2192195"/>
            <a:ext cx="118872" cy="118872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4" name="Text 12"/>
          <p:cNvSpPr/>
          <p:nvPr/>
        </p:nvSpPr>
        <p:spPr>
          <a:xfrm>
            <a:off x="4423304" y="2032175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59594" y="5057893"/>
            <a:ext cx="118872" cy="118872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6" name="Text 14"/>
          <p:cNvSpPr/>
          <p:nvPr/>
        </p:nvSpPr>
        <p:spPr>
          <a:xfrm>
            <a:off x="3373310" y="5336785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53866" y="397215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675120" y="1691640"/>
            <a:ext cx="4846320" cy="1234440"/>
          </a:xfrm>
          <a:prstGeom prst="roundRect">
            <a:avLst>
              <a:gd name="adj" fmla="val 8889"/>
            </a:avLst>
          </a:prstGeom>
          <a:solidFill>
            <a:srgbClr val="4E8770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691640"/>
            <a:ext cx="4389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兩條弦交於 P：</a:t>
            </a:r>
            <a:endParaRPr lang="en-US" sz="2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 · PB ＝ PC · PD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6675120" y="3154680"/>
            <a:ext cx="4846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315468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同一條弦上的兩段，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相乘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675120" y="4572000"/>
            <a:ext cx="4846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03720" y="457200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四段裡知道三段，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就能求第四段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範例（步驟卡）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弦 AB、CD 交於 P，PA＝2、PB＝6、PC＝3，求 PD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已知：PA＝2、PB＝6（同一條弦），PC＝3。求：PD。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86321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6321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配對：PA、PB 在弦 AB 上；PC、PD 在弦 CD 上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65188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5188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48615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寫定理：PA · PB ＝ PC · PD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444055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4055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27482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代入：2 × 6 ＝ 3 × PD → 12 ＝ 3 × PD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522922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2922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506349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解出：PD ＝ 12 ÷ 3 ＝ 4。檢查：3 × 4 ＝ 12 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概念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切割線：外面一點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60350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880360" y="2286000"/>
            <a:ext cx="2468880" cy="2468880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9032" y="3520440"/>
            <a:ext cx="3950208" cy="0"/>
          </a:xfrm>
          <a:prstGeom prst="line">
            <a:avLst/>
          </a:prstGeom>
          <a:noFill/>
          <a:ln w="3556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399032" y="2420895"/>
            <a:ext cx="2154659" cy="1099545"/>
          </a:xfrm>
          <a:prstGeom prst="line">
            <a:avLst/>
          </a:prstGeom>
          <a:noFill/>
          <a:ln w="35560">
            <a:solidFill>
              <a:srgbClr val="4E877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553691" y="2420895"/>
            <a:ext cx="561109" cy="1099545"/>
          </a:xfrm>
          <a:prstGeom prst="line">
            <a:avLst/>
          </a:prstGeom>
          <a:noFill/>
          <a:ln w="25400">
            <a:solidFill>
              <a:srgbClr val="6FA48C"/>
            </a:solidFill>
            <a:prstDash val="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 flipV="1">
            <a:off x="3485888" y="2559356"/>
            <a:ext cx="138461" cy="70658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415230" y="2491553"/>
            <a:ext cx="70658" cy="138461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055364" y="3461004"/>
            <a:ext cx="118872" cy="118872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2" name="Shape 10"/>
          <p:cNvSpPr/>
          <p:nvPr/>
        </p:nvSpPr>
        <p:spPr>
          <a:xfrm>
            <a:off x="1330452" y="3451860"/>
            <a:ext cx="137160" cy="137160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3" name="Shape 11"/>
          <p:cNvSpPr/>
          <p:nvPr/>
        </p:nvSpPr>
        <p:spPr>
          <a:xfrm>
            <a:off x="3485111" y="2352315"/>
            <a:ext cx="137160" cy="13716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4" name="Shape 12"/>
          <p:cNvSpPr/>
          <p:nvPr/>
        </p:nvSpPr>
        <p:spPr>
          <a:xfrm>
            <a:off x="2820924" y="3461004"/>
            <a:ext cx="118872" cy="118872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5" name="Shape 13"/>
          <p:cNvSpPr/>
          <p:nvPr/>
        </p:nvSpPr>
        <p:spPr>
          <a:xfrm>
            <a:off x="5289804" y="3461004"/>
            <a:ext cx="118872" cy="118872"/>
          </a:xfrm>
          <a:prstGeom prst="ellipse">
            <a:avLst/>
          </a:prstGeom>
          <a:solidFill>
            <a:srgbClr val="5C6F68"/>
          </a:solidFill>
          <a:ln/>
        </p:spPr>
      </p:sp>
      <p:sp>
        <p:nvSpPr>
          <p:cNvPr id="16" name="Text 14"/>
          <p:cNvSpPr/>
          <p:nvPr/>
        </p:nvSpPr>
        <p:spPr>
          <a:xfrm>
            <a:off x="1069848" y="35021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98827" y="2146575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88920" y="37764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40680" y="35021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041648" y="37581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51760" y="51389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PT² ＝ PA · PB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949440" y="1691640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4E8770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169164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 是切線、PAB 是割線：</a:t>
            </a:r>
            <a:endParaRPr lang="en-US" sz="2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PT² ＝ PA · PB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6949440" y="3154680"/>
            <a:ext cx="45720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78040" y="315468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 ＝ 近的一段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PB ＝ 整條割線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949440" y="4572000"/>
            <a:ext cx="45720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78040" y="45720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切線只有一段，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所以自己乘自己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統整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兩個定理，一句話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0" y="1691640"/>
            <a:ext cx="3657600" cy="713232"/>
          </a:xfrm>
          <a:prstGeom prst="roundRect">
            <a:avLst>
              <a:gd name="adj" fmla="val 12821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0" y="169164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相交弦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80960" y="1691640"/>
            <a:ext cx="3749040" cy="713232"/>
          </a:xfrm>
          <a:prstGeom prst="roundRect">
            <a:avLst>
              <a:gd name="adj" fmla="val 12821"/>
            </a:avLst>
          </a:prstGeom>
          <a:solidFill>
            <a:srgbClr val="6FA48C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0" y="169164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切割線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2542032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542032"/>
            <a:ext cx="27066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點在哪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840480" y="2542032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50208" y="2542032"/>
            <a:ext cx="34381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圓內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0" y="2542032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90688" y="2542032"/>
            <a:ext cx="3529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圓外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3566160"/>
            <a:ext cx="27066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畫什麼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3840480" y="356616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50208" y="3566160"/>
            <a:ext cx="34381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兩條弦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680960" y="356616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90688" y="3566160"/>
            <a:ext cx="3529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一切線、一割線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731520" y="4590288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4590288"/>
            <a:ext cx="27066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式子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3840480" y="4590288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950208" y="4590288"/>
            <a:ext cx="34381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 · PB ＝ PC · PD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7680960" y="4590288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90688" y="4590288"/>
            <a:ext cx="3529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PT² ＝ PA · PB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1520" y="566928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DCEAE3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共同點：從同一點 P 出發，兩邊的乘積一定相等。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下一頁換你做：先配對，再寫式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弦 AB、CD 交於 P，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PA＝3、PB＝8、PC＝4，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 PD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3816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PT 切 ⊙O 於 T，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割線 PAB：PA＝3、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PB＝12，求 PT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50664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0664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544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33544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0120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弦 AB、CD 交於 P，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PA＝4、PB＝9、PC＝3，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 PD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70120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PT 切 ⊙O 於 T，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割線 PAB：PT＝6、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PA＝4，求 PB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506968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848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89848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26424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AB 是直徑，弦 CD⊥AB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於 P。AB＝10、AP＝2，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 CD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726424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PT 切 ⊙O 於 T，割線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PAB 過圓心。PT＝8、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PA＝4，求半徑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從同一點出發，兩邊的乘積一定相等。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圓內用 PA·PB＝PC·PD；圓外用 PT²＝PA·PB（PB 是整條割線）。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83464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931920" y="19659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兩圓怎麼擺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會比 d 與 R＋r、R−r，判斷五種位置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概念（保底）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兩圓的五種擺法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4E877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＝ 兩個圓心之間的距離；拿它去跟 R＋r 和 R−r 比大小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106984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3291840"/>
            <a:ext cx="731520" cy="731520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66544" y="3438144"/>
            <a:ext cx="438912" cy="438912"/>
          </a:xfrm>
          <a:prstGeom prst="ellipse">
            <a:avLst/>
          </a:prstGeom>
          <a:ln w="25400">
            <a:solidFill>
              <a:srgbClr val="4E87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480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外離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4791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＞ R＋r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50840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公切線 4 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64992" y="3291840"/>
            <a:ext cx="731520" cy="731520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96512" y="3438144"/>
            <a:ext cx="438912" cy="438912"/>
          </a:xfrm>
          <a:prstGeom prst="ellipse">
            <a:avLst/>
          </a:prstGeom>
          <a:ln w="25400">
            <a:solidFill>
              <a:srgbClr val="4E87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4480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外切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063240" y="4791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＝ R＋r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50840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公切線 3 條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32704" y="3291840"/>
            <a:ext cx="731520" cy="731520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438144"/>
            <a:ext cx="438912" cy="438912"/>
          </a:xfrm>
          <a:prstGeom prst="ellipse">
            <a:avLst/>
          </a:prstGeom>
          <a:ln w="25400">
            <a:solidFill>
              <a:srgbClr val="4E87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4480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相交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212080" y="4791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R−r ＜ d ＜ R＋r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50840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公切線 2 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882128" y="3291840"/>
            <a:ext cx="731520" cy="731520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74736" y="3438144"/>
            <a:ext cx="438912" cy="438912"/>
          </a:xfrm>
          <a:prstGeom prst="ellipse">
            <a:avLst/>
          </a:prstGeom>
          <a:ln w="25400">
            <a:solidFill>
              <a:srgbClr val="4E87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4480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內切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360920" y="4791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＝ R−r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43800" y="50840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公切線 1 條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078517" y="3291840"/>
            <a:ext cx="731520" cy="731520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76027" y="3438144"/>
            <a:ext cx="438912" cy="438912"/>
          </a:xfrm>
          <a:prstGeom prst="ellipse">
            <a:avLst/>
          </a:prstGeom>
          <a:ln w="25400">
            <a:solidFill>
              <a:srgbClr val="4E87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0" y="4480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內含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509760" y="4791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＜ R−r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92640" y="50840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公切線 0 條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範例（步驟卡）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R＝5、r＝3，d＝5 時是什麼關係？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已知：兩圓半徑 R＝5、r＝3，圓心距 d＝5。求：位置關係。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86321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6321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先算兩個界線：R＋r ＝ 5＋3 ＝ 8；R−r ＝ 5−3 ＝ 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65188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5188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48615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d 放進去比：2 ＜ 5 ＜ 8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444055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4055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27482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在 R−r 和 R＋r 中間 → 相交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522922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2922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506349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答：相交，有 2 條公切線。檢查：兩圓確實有 2 個交點 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統整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公切線有幾條？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017520" cy="621792"/>
          </a:xfrm>
          <a:prstGeom prst="roundRect">
            <a:avLst>
              <a:gd name="adj" fmla="val 14706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931920" y="1645920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6FA48C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1645920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和界線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0" y="1645920"/>
            <a:ext cx="3200400" cy="621792"/>
          </a:xfrm>
          <a:prstGeom prst="roundRect">
            <a:avLst>
              <a:gd name="adj" fmla="val 14706"/>
            </a:avLst>
          </a:prstGeom>
          <a:solidFill>
            <a:srgbClr val="6FA48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164592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公切線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3017520" cy="603504"/>
          </a:xfrm>
          <a:prstGeom prst="roundRect">
            <a:avLst>
              <a:gd name="adj" fmla="val 18182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377440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外離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931920" y="2377440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2377440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＞ R＋r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29600" y="2377440"/>
            <a:ext cx="32004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21040" y="2377440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條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" y="3072384"/>
            <a:ext cx="3017520" cy="603504"/>
          </a:xfrm>
          <a:prstGeom prst="roundRect">
            <a:avLst>
              <a:gd name="adj" fmla="val 18182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072384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外切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931920" y="3072384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23360" y="3072384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＝ R＋r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229600" y="3072384"/>
            <a:ext cx="32004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21040" y="3072384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條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1520" y="3767328"/>
            <a:ext cx="3017520" cy="603504"/>
          </a:xfrm>
          <a:prstGeom prst="roundRect">
            <a:avLst>
              <a:gd name="adj" fmla="val 18182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3767328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相交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931920" y="3767328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023360" y="376732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R−r ＜ d ＜ R＋r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229600" y="3767328"/>
            <a:ext cx="32004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21040" y="3767328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條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31520" y="4462272"/>
            <a:ext cx="3017520" cy="603504"/>
          </a:xfrm>
          <a:prstGeom prst="roundRect">
            <a:avLst>
              <a:gd name="adj" fmla="val 18182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4462272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內切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3931920" y="4462272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023360" y="4462272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＝ R−r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229600" y="4462272"/>
            <a:ext cx="32004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21040" y="4462272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條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31520" y="5157216"/>
            <a:ext cx="3017520" cy="603504"/>
          </a:xfrm>
          <a:prstGeom prst="roundRect">
            <a:avLst>
              <a:gd name="adj" fmla="val 18182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5157216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內含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3931920" y="5157216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023360" y="5157216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＜ R−r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8229600" y="5157216"/>
            <a:ext cx="32004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321040" y="5157216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條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731520" y="5870448"/>
            <a:ext cx="10698480" cy="457200"/>
          </a:xfrm>
          <a:prstGeom prst="roundRect">
            <a:avLst>
              <a:gd name="adj" fmla="val 16000"/>
            </a:avLst>
          </a:prstGeom>
          <a:solidFill>
            <a:srgbClr val="DCEAE3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587044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由上到下，d 越來越小，公切線也越來越少：4、3、2、1、0。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下一頁換你做：先算 R＋r 和 R−r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兩圓 R＝5、r＝3。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R＋r ＝ ＿，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R−r ＝ ＿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3816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填空：兩圓外切時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d ＝ ＿；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內切時 d ＝ ＿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50664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0664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544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33544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0120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R＝5、r＝3，填外離／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外切／相交／內切：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(1) d＝10 (2) d＝8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(3) d＝5 (4) d＝2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70120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兩圓半徑 2 和 3。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(1) 外切時圓心距？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(2) 內切時圓心距？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506968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848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89848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26424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兩圓半徑 6 和 4，d＝10。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什麼位置關係？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有幾條公切線？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726424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兩圓半徑 6 和 4，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d 在什麼範圍時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兩圓相交？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先算 R＋r 和 R−r 兩個界線，再把 d 擺進去。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外離 4 條、外切 3 條、相交 2 條、內切 1 條、內含 0 條公切線。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兩節課，兩句話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108813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423160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42316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88920" y="1920240"/>
            <a:ext cx="85039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從同一點出發，兩邊的乘積相等。</a:t>
            </a:r>
            <a:endParaRPr lang="en-US" sz="2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圓內 PA·PB＝PC·PD；圓外 PT²＝PA·PB。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3675888"/>
            <a:ext cx="108813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417880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17880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88920" y="3675888"/>
            <a:ext cx="85039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先算 R＋r 和 R−r，再把 d 擺進去比。</a:t>
            </a:r>
            <a:endParaRPr lang="en-US" sz="2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公切線條數：4、3、2、1、0。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40080" y="557784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DCEAE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5778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兩節課都在做同一件事：把圖上的關係，換成一條會算的算式或一句比大小。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你已經走完兩節課！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圓冪定理，你做得到。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4389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下次看到 P 點連出兩條線，記得：兩邊的乘積相等。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供科組 / IEP 會議說明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教師備註 · 融合層設計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調整定位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路線：Accommodation（調整支援）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內容不減、維持初三年級標準，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只改「接觸方式」與「練習鷹架」。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分層靠學生自選星星，不點名個案。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節奏：2 課時 × 45 分鐘，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每課時各含 1 個轉換點。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融合層做了什麼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降低記憶負荷：兩條圓冪式收攏成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「P 出發、積相等」一句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公切線條數用 4→3→2→1→0 排序記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原生幾何圖：相交弦／切割線／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兩圓五種位置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步驟卡：先配對、先算界線，防錯在前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轉換點＋預告：照顧注意力節奏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保底成功句＋asset-based 用語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圓冪定理與兩圓的公切線（抽離小組·融合版）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圓冪定理與兩圓的公切線 兩課時（融合抽離版）</dc:title>
  <dc:subject>PptxGenJS Presentation</dc:subject>
  <dc:creator>初三數學抽離小組</dc:creator>
  <cp:lastModifiedBy>初三數學抽離小組</cp:lastModifiedBy>
  <cp:revision>1</cp:revision>
  <dcterms:created xsi:type="dcterms:W3CDTF">2026-07-20T09:00:27Z</dcterms:created>
  <dcterms:modified xsi:type="dcterms:W3CDTF">2026-07-20T09:00:27Z</dcterms:modified>
</cp:coreProperties>
</file>