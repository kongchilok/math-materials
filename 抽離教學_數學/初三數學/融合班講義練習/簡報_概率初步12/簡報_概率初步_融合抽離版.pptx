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開場定調：概率不是靠估，是有方法數出來的。三節課三站，每站都是：學一招 → 看示範 → 自己挑星星練習。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先給地圖：三節課的整體結構。今日只走一站，讓學生知道不會一次塞完，減少焦慮。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進入站①。先建立信心：概率只是把「有多容易發生」寫成一個數字，用數的，不是靠估。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保底成功經驗：人人做得起。只判斷三選一，不出現任何算式。口頭補充：數學把「說不準」叫做隨機事件。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圖像先行：先看數線，再看文字。強調概率不會是負數，也不會大過 1。手勢：左手 0、右手 1，隨機事件在中間。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真的帶一個袋、五個球入課室，先讓學生摸。三欄由左讀到右：摸 → 排 → 寫。抽象欄底部保留「格數」字眼，接住表徵階段的視覺線索。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這是本站最大的坎。口訣：先問「每種結果機會一樣嗎？」一樣才數格數。骰子、硬幣、摸球是一樣的；天氣、彩票不是。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一次一個步驟，寫喺黑板逐步出。強調第 1 步永遠先數「全部」，第 2 步先數「要的」——次序固定，減少工作記憶負荷。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(1)必然 (2)不可能 (3)隨機。A2: P(紅)=3/5、P(白)=2/5。 B3: (1)1/6 (2)大於4是5、6兩個→2/6=1/3 (3)奇數是1、3、5→3/6=1/2。B4: 6×1/3=2，紅球2個（白4個）。 C5: 紅:總=1:3，總數要是3的倍數→3(紅1)、6(紅2)、9(紅3)、12(紅4)…。C6: 開放，只看是否分類正確並講得出理由。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回收站①。保底句要全班能覆述。下一節課會處理「兩步」的試驗，結果會多好多，所以要有方法去排。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進入站②。本站是整個單元的重心。賣點：結果多到數唔掂的時候，我們有兩件工具——樹狀圖和列表。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先投票再驗證：製造好奇，也讓答錯的人不覺得尷尬（人人都要猜）。真的拿兩枚硬幣拋 10 次記錄。多數人會猜 1/3——正好帶入下一頁的迷思澄清。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關鍵：兩枚硬幣要當成有分別（第一枚、第二枚）。可以用兩隻不同顏色的硬幣，或一隻放左手一隻放右手，讓「分得出」這件事變得具體。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樹狀圖的價值：逼你有系統地分岔，就不會漏。強調「每個分岔都要問：這一步有幾種選擇」。左圖已標好 ✔ 的兩條，回應上一頁投票結果。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列表適合「兩步、每步結果多」的情況（兩顆骰子畫樹狀圖會有 36 條尾巴，太亂）。深色格沿對角線排列，可以指出這個規律：和為 7 的格排成一條斜線。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步驟固定、每次都一樣，這是給工作記憶減負。第 1 步「選工具」要示範判斷過程，不要直接講答案。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「放回」是關鍵詞，要加重語氣：放回＝第二次的選擇不變，所以是 3×3 不是 3×2。示範時逐格填，讓學生看到 9 格是怎樣來的。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正正、正反、反正、反反共4種，一正一反有2種→2/4=1/2。A2: 兩正只有1種→1/4。 B3: 3×3=9種，和為4有(1,3)(2,2)(3,1)共3種→3/9=1/3。B4: 6×6=36種，和為7有(1,6)(2,5)(3,4)(4,3)(5,2)(6,1)共6種→6/36=1/6。 C5: 和為7最多（6格），因為和7的格在列表中排成最長的一條斜線；和6、和8各5格。C6: 2×2×2=8種，剛好兩正有正正反、正反正、反正正共3種→3/8。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回收站②。強調工具選擇不是死背，而是看「每步有幾多種」。下一節處理「數唔到全部結果」的情況。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進入站③。轉折點：前兩站都能「數格數」，但現實好多事數唔到格。這一站教另一條路。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接住站①的迷思澄清：這正是「機會不一樣大」的例子，所以不能數格數。問學生：咁點算？引出用實際數據去估。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圖像先行：先讓學生看折線頭段亂、尾段平。可以全班一齊拋硬幣累計次數，即場畫上去。虛線 0.5 是理論值，折線是實際頻率。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這頁是全單元的分流器。同一句判斷（機會一樣嗎）在站①出現過，這裡再用一次，形成固定的提問習慣。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延伸追問（若時間夠）：連續 5 次正面之後，下一次一定是反面嗎？不是——硬幣沒有記憶，下一次仍然是 0.5。這是常見的第二個迷思。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85/100=0.85，估計概率約0.85。A2: 62/200=0.31。 B3: (1)算（六面等可能）(2)試（機會不一樣大、數不出全部結果）(3)算（球數已知、等可能）。B4: 乙更可信——試驗次數越多頻率越穩定；乙 1004/2000=0.502 比甲 12/20=0.6 更接近 0.5。 C5: 不對。概率是大量重複試驗的統計規律，不保證每10次恰好5次；每次正面的概率是0.5，實際次數會有波動。C6: 開放，只要點出「次數要夠多（如數百次以上）」＋理由「次數越多頻率越穩定」即可。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回收站③。強調「估計」兩個字：這是估計值，不是準確值，所以會有波動。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三節課之後用這一頁做總回顧。底部那句是全單元的通用提問，貼堂或寫在筆記本封面。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收尾用 asset-based 語氣：肯定「走完三站」這件事本身。派回本單元課堂練習作鞏固。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概率初步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三站通關 · 三節課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概率的意思</a:t>
            </a:r>
            <a:pPr algn="l" indent="0" marL="0">
              <a:buNone/>
            </a:pPr>
            <a:r>
              <a:rPr lang="en-US" sz="21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  </a:t>
            </a:r>
            <a:pPr algn="l" indent="0" marL="0">
              <a:buNone/>
            </a:pPr>
            <a:r>
              <a:rPr lang="en-US" sz="21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列表與樹狀圖</a:t>
            </a:r>
            <a:pPr algn="l" indent="0" marL="0">
              <a:buNone/>
            </a:pPr>
            <a:r>
              <a:rPr lang="en-US" sz="21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  </a:t>
            </a:r>
            <a:pPr algn="l" indent="0" marL="0">
              <a:buNone/>
            </a:pPr>
            <a:r>
              <a:rPr lang="en-US" sz="21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用頻率估計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一節課一站，跟著走就到終點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三節課的流程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0312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06040" y="1911096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概率的意思（第 1 節）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606040" y="24414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一定／不可能／說不準；等可能時怎樣算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49300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9300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300984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列表與樹狀圖（第 2 節）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3831336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兩步試驗：把全部結果排好隊，再數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882896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8289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469087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用頻率估計（第 3 節）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5221224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算不出的時候，就試很多次去估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每一站都一樣：學一招 → 看範例 → 挑星星練習 ★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概率的意思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節課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分得出三類事件，會用等可能公式算單步概率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一定？不可能？還是說不準？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太陽從東邊升起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一定會發生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必然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31520" y="2862072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86207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擲一顆骰子出現 7 點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26480" y="286207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一定不會發生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0" y="286207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不可能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895344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明天會下雨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389534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說不準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0" y="389534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31520" y="4928616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928616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這個星期會放假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492861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說不準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4928616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概率就是一個 0 到 1 之間的數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3063240"/>
            <a:ext cx="7772400" cy="0"/>
          </a:xfrm>
          <a:prstGeom prst="line">
            <a:avLst/>
          </a:prstGeom>
          <a:noFill/>
          <a:ln w="31750">
            <a:solidFill>
              <a:srgbClr val="5C6F6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94560" y="2935224"/>
            <a:ext cx="0" cy="256032"/>
          </a:xfrm>
          <a:prstGeom prst="line">
            <a:avLst/>
          </a:prstGeom>
          <a:noFill/>
          <a:ln w="31750">
            <a:solidFill>
              <a:srgbClr val="5C6F6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737360" y="32095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630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不可能事件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80760" y="2935224"/>
            <a:ext cx="0" cy="256032"/>
          </a:xfrm>
          <a:prstGeom prst="line">
            <a:avLst/>
          </a:prstGeom>
          <a:noFill/>
          <a:ln w="31750">
            <a:solidFill>
              <a:srgbClr val="5C6F6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966960" y="2935224"/>
            <a:ext cx="0" cy="256032"/>
          </a:xfrm>
          <a:prstGeom prst="line">
            <a:avLst/>
          </a:prstGeom>
          <a:noFill/>
          <a:ln w="31750">
            <a:solidFill>
              <a:srgbClr val="5C6F6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509760" y="32095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78240" y="3630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必然事件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59936" y="2404872"/>
            <a:ext cx="4041648" cy="475488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/>
          <p:nvPr/>
        </p:nvSpPr>
        <p:spPr>
          <a:xfrm>
            <a:off x="4059936" y="2404872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隨機事件（0 和 1 之間）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DCEAE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7200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必然事件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23360" y="4572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一定發生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49440" y="45720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 = 1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77240" y="5157216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DCEAE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15721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不可能事件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23360" y="51572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一定不發生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949440" y="51572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 = 0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77240" y="5742432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DCEAE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隨機事件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23360" y="57424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說不準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949440" y="5742432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概率在 0 和 1 之間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具體 → 表徵 → 抽象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從摸球，到算式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6916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真的摸一次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69164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6916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897880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把結果排出來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366760" y="169164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69164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/>
          <p:nvPr/>
        </p:nvSpPr>
        <p:spPr>
          <a:xfrm>
            <a:off x="8567928" y="16916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784080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寫成算式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0100" y="2606040"/>
            <a:ext cx="3200400" cy="192024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5400">
            <a:solidFill>
              <a:srgbClr val="5C6F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5276" y="2807208"/>
            <a:ext cx="566928" cy="566928"/>
          </a:xfrm>
          <a:prstGeom prst="ellipse">
            <a:avLst/>
          </a:prstGeom>
          <a:solidFill>
            <a:srgbClr val="4E8770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815084" y="2807208"/>
            <a:ext cx="566928" cy="566928"/>
          </a:xfrm>
          <a:prstGeom prst="ellipse">
            <a:avLst/>
          </a:prstGeom>
          <a:solidFill>
            <a:srgbClr val="4E8770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5084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4892" y="2807208"/>
            <a:ext cx="566928" cy="566928"/>
          </a:xfrm>
          <a:prstGeom prst="ellipse">
            <a:avLst/>
          </a:prstGeom>
          <a:solidFill>
            <a:srgbClr val="4E8770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4892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40180" y="359359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0180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189988" y="359359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9988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4846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袋裡 3 紅 + 2 白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" y="527608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摸一個出來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4E8770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404104" y="29260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4E8770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007608" y="29260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4E8770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07608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611112" y="29260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214616" y="29260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233A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4663440" y="3657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一共 5 格 = 5 種結果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4663440" y="41788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「紅」佔 3 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663440" y="4709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每一格機會一樣大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641080" y="3063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P(紅) =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10241280" y="2833878"/>
            <a:ext cx="914400" cy="4762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44" name="Shape 42"/>
          <p:cNvSpPr/>
          <p:nvPr/>
        </p:nvSpPr>
        <p:spPr>
          <a:xfrm>
            <a:off x="10424160" y="3337560"/>
            <a:ext cx="548640" cy="0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10241280" y="3364992"/>
            <a:ext cx="9144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8641080" y="4114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P(白) =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10241280" y="3885438"/>
            <a:ext cx="914400" cy="4762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10424160" y="4389120"/>
            <a:ext cx="548640" cy="0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0241280" y="4416552"/>
            <a:ext cx="9144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000" dirty="0"/>
          </a:p>
        </p:txBody>
      </p:sp>
      <p:sp>
        <p:nvSpPr>
          <p:cNvPr id="50" name="Shape 48"/>
          <p:cNvSpPr/>
          <p:nvPr/>
        </p:nvSpPr>
        <p:spPr>
          <a:xfrm>
            <a:off x="8595360" y="4937760"/>
            <a:ext cx="3154680" cy="685800"/>
          </a:xfrm>
          <a:prstGeom prst="roundRect">
            <a:avLst>
              <a:gd name="adj" fmla="val 10667"/>
            </a:avLst>
          </a:prstGeom>
          <a:solidFill>
            <a:srgbClr val="DCEAE3"/>
          </a:solidFill>
          <a:ln/>
        </p:spPr>
      </p:sp>
      <p:sp>
        <p:nvSpPr>
          <p:cNvPr id="51" name="Text 49"/>
          <p:cNvSpPr/>
          <p:nvPr/>
        </p:nvSpPr>
        <p:spPr>
          <a:xfrm>
            <a:off x="864108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上面＝要的格數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下面＝全部格數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「兩種結果」不等於「各佔一半」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D9D9D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A4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常見的想法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96112" y="271576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「明天下雨或不下雨，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兩種結果，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P(下雨) = 1/2。」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「買彩票中或不中，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所以中獎機會是一半。」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要先問一句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65392" y="271576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公式只在「每個結果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機會一樣大」時才能用。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下雨和不下雨機會不一樣，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中獎和不中獎也不一樣，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所以不能寫 1/2。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解題步驟卡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求概率，三步就夠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例：擲一枚均勻骰子，求出現偶數的概率。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99466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數全部：1、2、3、4、5、6 → 一共 6 種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7490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數要的：偶數是 2、4、6 → 有 3 種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509778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8006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寫成分數再約簡：3 ÷ 6 = 1/2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下一頁換你做：挑一顆星開始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06040"/>
            <a:ext cx="3279648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判斷是必然／不可能／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隨機：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太陽從東邊升起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(2) 骰子擲出 7 點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(3) 明天會下雨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498848"/>
            <a:ext cx="3279648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袋裡 3 紅 2 白，摸一個。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P(紅) = ？  P(白) = 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606040"/>
            <a:ext cx="3279648" cy="1324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擲一枚均勻骰子，求：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P(擲出 3)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(2) P(點數大於 4)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(3) P(擲出奇數)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04411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袋裡紅白球共 6 個。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要令 P(紅) = 1/3，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紅球要有幾個？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606040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承上題：除了 6 個球，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還有哪些球總數可以做到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P(紅) = 1/3？找出規律。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3909974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各說一件生活中的必然、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不可能、隨機事件，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並解釋為甚麼。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6071616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概率＝要的結果數 ÷ 全部結果數（每種機會要一樣大）。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先數全部有幾種，再數要的有幾種，寫成分數。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列表與樹狀圖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節課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兩步試驗會有系統列出全部結果，再求概率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先猜一猜：拋兩枚硬幣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1783080"/>
            <a:ext cx="9784080" cy="13716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783080"/>
            <a:ext cx="9235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拋兩枚硬幣，「一正一反」的機會有幾大？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148840" y="35204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4884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983480" y="35204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1/3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818120" y="35204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3520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88720" y="51663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先舉手投票，再一齊拋 10 次看看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「正反」和「反正」是兩種，不是一種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D9D9D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A4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常見的想法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96112" y="271576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「結果只有 3 種：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兩個正、兩個反、一正一反。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所以 P(一正一反) = 1/3。」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正確的數法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65392" y="271576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要分清楚是哪一枚：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正正、正反、反正、反反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共 4 種，「一正一反」佔 2 種，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所以 P = 2/4 = 1/2。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表徵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工具一：樹狀圖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48840" y="16459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77640" y="16459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16459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flipV="1">
            <a:off x="1234440" y="2926080"/>
            <a:ext cx="1737360" cy="822960"/>
          </a:xfrm>
          <a:prstGeom prst="line">
            <a:avLst/>
          </a:prstGeom>
          <a:noFill/>
          <a:ln w="2540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34440" y="3749040"/>
            <a:ext cx="1737360" cy="822960"/>
          </a:xfrm>
          <a:prstGeom prst="line">
            <a:avLst/>
          </a:prstGeom>
          <a:noFill/>
          <a:ln w="2540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737360" y="29535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421538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61288" y="367588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8648" y="285292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4" name="Shape 12"/>
          <p:cNvSpPr/>
          <p:nvPr/>
        </p:nvSpPr>
        <p:spPr>
          <a:xfrm>
            <a:off x="2898648" y="449884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2971800" y="2468880"/>
            <a:ext cx="1828800" cy="457200"/>
          </a:xfrm>
          <a:prstGeom prst="line">
            <a:avLst/>
          </a:prstGeom>
          <a:noFill/>
          <a:ln w="2540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566160" y="235000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727448" y="239572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8" name="Text 16"/>
          <p:cNvSpPr/>
          <p:nvPr/>
        </p:nvSpPr>
        <p:spPr>
          <a:xfrm>
            <a:off x="5696712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正正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971800" y="2926080"/>
            <a:ext cx="1828800" cy="457200"/>
          </a:xfrm>
          <a:prstGeom prst="line">
            <a:avLst/>
          </a:prstGeom>
          <a:noFill/>
          <a:ln w="2540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566160" y="280720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727448" y="331012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22" name="Shape 20"/>
          <p:cNvSpPr/>
          <p:nvPr/>
        </p:nvSpPr>
        <p:spPr>
          <a:xfrm>
            <a:off x="5696712" y="3163824"/>
            <a:ext cx="1234440" cy="438912"/>
          </a:xfrm>
          <a:prstGeom prst="roundRect">
            <a:avLst>
              <a:gd name="adj" fmla="val 20833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/>
          <p:nvPr/>
        </p:nvSpPr>
        <p:spPr>
          <a:xfrm>
            <a:off x="5696712" y="31638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正反 ✔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 flipV="1">
            <a:off x="2971800" y="4114800"/>
            <a:ext cx="1828800" cy="457200"/>
          </a:xfrm>
          <a:prstGeom prst="line">
            <a:avLst/>
          </a:prstGeom>
          <a:noFill/>
          <a:ln w="2540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3566160" y="399592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727448" y="404164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696712" y="3895344"/>
            <a:ext cx="1234440" cy="438912"/>
          </a:xfrm>
          <a:prstGeom prst="roundRect">
            <a:avLst>
              <a:gd name="adj" fmla="val 20833"/>
            </a:avLst>
          </a:prstGeom>
          <a:solidFill>
            <a:srgbClr val="CFE0D8"/>
          </a:solidFill>
          <a:ln/>
        </p:spPr>
      </p:sp>
      <p:sp>
        <p:nvSpPr>
          <p:cNvPr id="28" name="Text 26"/>
          <p:cNvSpPr/>
          <p:nvPr/>
        </p:nvSpPr>
        <p:spPr>
          <a:xfrm>
            <a:off x="5696712" y="389534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反正 ✔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971800" y="4572000"/>
            <a:ext cx="1828800" cy="457200"/>
          </a:xfrm>
          <a:prstGeom prst="line">
            <a:avLst/>
          </a:prstGeom>
          <a:noFill/>
          <a:ln w="2540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3566160" y="445312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727448" y="495604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32" name="Text 30"/>
          <p:cNvSpPr/>
          <p:nvPr/>
        </p:nvSpPr>
        <p:spPr>
          <a:xfrm>
            <a:off x="5696712" y="480974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反反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772400" y="1645920"/>
            <a:ext cx="3794760" cy="420624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0100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怎樣畫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8001000" y="2331720"/>
            <a:ext cx="384048" cy="3840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03920" y="22860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先畫第一枚：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分成正、反兩支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0" y="3044952"/>
            <a:ext cx="384048" cy="3840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503920" y="2999232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每一支再分第二枚：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又是正、反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001000" y="3758184"/>
            <a:ext cx="384048" cy="3840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2" name="Text 40"/>
          <p:cNvSpPr/>
          <p:nvPr/>
        </p:nvSpPr>
        <p:spPr>
          <a:xfrm>
            <a:off x="800100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503920" y="3712464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數尾巴：一共 4 條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01000" y="4471416"/>
            <a:ext cx="384048" cy="3840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0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503920" y="4425696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 ✔：一正一反有 2 條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001000" y="528523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48" name="Text 46"/>
          <p:cNvSpPr/>
          <p:nvPr/>
        </p:nvSpPr>
        <p:spPr>
          <a:xfrm>
            <a:off x="8001000" y="52852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P(一正一反) = 2/4 = 1/2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表徵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工具二：列表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0240" y="17007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第二顆 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587752"/>
            <a:ext cx="411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顆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0848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23160" y="20848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26080" y="20848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29000" y="20848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31920" y="20848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34840" y="20848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17320" y="258775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920240" y="25877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423160" y="25877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26080" y="25877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29000" y="25877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31920" y="25877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34840" y="2587752"/>
            <a:ext cx="502920" cy="502920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17320" y="309067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920240" y="309067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23160" y="309067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316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926080" y="309067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29000" y="309067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31920" y="3090672"/>
            <a:ext cx="502920" cy="502920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34840" y="309067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417320" y="359359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173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920240" y="359359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2024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423160" y="359359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2316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926080" y="359359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29000" y="3593592"/>
            <a:ext cx="502920" cy="502920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931920" y="359359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434840" y="359359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3484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417320" y="409651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1732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1920240" y="409651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024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2423160" y="409651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2316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2926080" y="4096512"/>
            <a:ext cx="502920" cy="502920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2608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29000" y="409651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2900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931920" y="409651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3192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434840" y="409651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417320" y="459943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41732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1920240" y="459943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2024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2423160" y="4599432"/>
            <a:ext cx="502920" cy="502920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2316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2926080" y="459943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2608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3429000" y="459943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2900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931920" y="459943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434840" y="459943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3484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417320" y="5102352"/>
            <a:ext cx="50292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41732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920240" y="5102352"/>
            <a:ext cx="502920" cy="502920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2024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2423160" y="51023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42316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2926080" y="51023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2608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3429000" y="51023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2900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3931920" y="51023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3192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4434840" y="5102352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3484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731520" y="559612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兩顆骰子的點數之和</a:t>
            </a:r>
            <a:endParaRPr lang="en-US" sz="1700" dirty="0"/>
          </a:p>
        </p:txBody>
      </p:sp>
      <p:sp>
        <p:nvSpPr>
          <p:cNvPr id="104" name="Shape 102"/>
          <p:cNvSpPr/>
          <p:nvPr/>
        </p:nvSpPr>
        <p:spPr>
          <a:xfrm>
            <a:off x="6035040" y="1600200"/>
            <a:ext cx="55321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626364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結果太多的時候，用列表</a:t>
            </a:r>
            <a:endParaRPr lang="en-US" sz="2300" dirty="0"/>
          </a:p>
        </p:txBody>
      </p:sp>
      <p:sp>
        <p:nvSpPr>
          <p:cNvPr id="106" name="Shape 104"/>
          <p:cNvSpPr/>
          <p:nvPr/>
        </p:nvSpPr>
        <p:spPr>
          <a:xfrm>
            <a:off x="6263640" y="2377440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7" name="Text 105"/>
          <p:cNvSpPr/>
          <p:nvPr/>
        </p:nvSpPr>
        <p:spPr>
          <a:xfrm>
            <a:off x="6263640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6784848" y="23500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橫、直各寫 1 到 6</a:t>
            </a:r>
            <a:endParaRPr lang="en-US" sz="1900" dirty="0"/>
          </a:p>
        </p:txBody>
      </p:sp>
      <p:sp>
        <p:nvSpPr>
          <p:cNvPr id="109" name="Shape 107"/>
          <p:cNvSpPr/>
          <p:nvPr/>
        </p:nvSpPr>
        <p:spPr>
          <a:xfrm>
            <a:off x="6263640" y="3090672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0" name="Text 108"/>
          <p:cNvSpPr/>
          <p:nvPr/>
        </p:nvSpPr>
        <p:spPr>
          <a:xfrm>
            <a:off x="6263640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1" name="Text 109"/>
          <p:cNvSpPr/>
          <p:nvPr/>
        </p:nvSpPr>
        <p:spPr>
          <a:xfrm>
            <a:off x="6784848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格內填「兩個點數之和」</a:t>
            </a:r>
            <a:endParaRPr lang="en-US" sz="1900" dirty="0"/>
          </a:p>
        </p:txBody>
      </p:sp>
      <p:sp>
        <p:nvSpPr>
          <p:cNvPr id="112" name="Shape 110"/>
          <p:cNvSpPr/>
          <p:nvPr/>
        </p:nvSpPr>
        <p:spPr>
          <a:xfrm>
            <a:off x="6263640" y="3803904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3" name="Text 111"/>
          <p:cNvSpPr/>
          <p:nvPr/>
        </p:nvSpPr>
        <p:spPr>
          <a:xfrm>
            <a:off x="6263640" y="3803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14" name="Text 112"/>
          <p:cNvSpPr/>
          <p:nvPr/>
        </p:nvSpPr>
        <p:spPr>
          <a:xfrm>
            <a:off x="6784848" y="3776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全部格數：6 × 6 = 36 格</a:t>
            </a:r>
            <a:endParaRPr lang="en-US" sz="1900" dirty="0"/>
          </a:p>
        </p:txBody>
      </p:sp>
      <p:sp>
        <p:nvSpPr>
          <p:cNvPr id="115" name="Shape 113"/>
          <p:cNvSpPr/>
          <p:nvPr/>
        </p:nvSpPr>
        <p:spPr>
          <a:xfrm>
            <a:off x="6263640" y="4517136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6" name="Text 114"/>
          <p:cNvSpPr/>
          <p:nvPr/>
        </p:nvSpPr>
        <p:spPr>
          <a:xfrm>
            <a:off x="6263640" y="4517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17" name="Text 115"/>
          <p:cNvSpPr/>
          <p:nvPr/>
        </p:nvSpPr>
        <p:spPr>
          <a:xfrm>
            <a:off x="6784848" y="44897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深色格＝和為 7，一共 6 格</a:t>
            </a:r>
            <a:endParaRPr lang="en-US" sz="1900" dirty="0"/>
          </a:p>
        </p:txBody>
      </p:sp>
      <p:sp>
        <p:nvSpPr>
          <p:cNvPr id="118" name="Shape 116"/>
          <p:cNvSpPr/>
          <p:nvPr/>
        </p:nvSpPr>
        <p:spPr>
          <a:xfrm>
            <a:off x="6263640" y="534924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19" name="Text 117"/>
          <p:cNvSpPr/>
          <p:nvPr/>
        </p:nvSpPr>
        <p:spPr>
          <a:xfrm>
            <a:off x="6263640" y="5349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P(和為 7) = 6/36 = 1/6</a:t>
            </a:r>
            <a:endParaRPr lang="en-US" sz="2100" dirty="0"/>
          </a:p>
        </p:txBody>
      </p:sp>
      <p:sp>
        <p:nvSpPr>
          <p:cNvPr id="120" name="Text 1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解題步驟卡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兩步試驗，四步做完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先問自己：這個試驗有幾多步？每步有幾多種選擇？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選工具：每步 2、3 種 → 樹狀圖；每步 6 種 → 列表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列全部：把所有結果排好，不漏不重複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數總數：一共有幾多個結果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數要的：符合條件的有幾多個 → 寫成分數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範例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袋中 1、2、3 三個球，摸一個放回再摸一個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求「兩次號碼之和為 4」的概率。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48463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87752" y="3017520"/>
            <a:ext cx="566928" cy="566928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3017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54680" y="3017520"/>
            <a:ext cx="566928" cy="566928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017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21608" y="3017520"/>
            <a:ext cx="566928" cy="566928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3017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20824" y="3584448"/>
            <a:ext cx="566928" cy="566928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87752" y="358444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54680" y="358444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21608" y="3584448"/>
            <a:ext cx="566928" cy="566928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020824" y="4151376"/>
            <a:ext cx="566928" cy="566928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0824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587752" y="41513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154680" y="4151376"/>
            <a:ext cx="566928" cy="566928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21608" y="41513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020824" y="4718304"/>
            <a:ext cx="566928" cy="566928"/>
          </a:xfrm>
          <a:prstGeom prst="rect">
            <a:avLst/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0824" y="4718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587752" y="4718304"/>
            <a:ext cx="566928" cy="566928"/>
          </a:xfrm>
          <a:prstGeom prst="rect">
            <a:avLst/>
          </a:prstGeom>
          <a:solidFill>
            <a:srgbClr val="4E8770"/>
          </a:solidFill>
          <a:ln w="25400">
            <a:solidFill>
              <a:srgbClr val="233A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7752" y="4718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154680" y="471830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4718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21608" y="471830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4718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680" y="5376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格內＝兩次號碼之和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852160" y="251460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2752344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0" name="Text 38"/>
          <p:cNvSpPr/>
          <p:nvPr/>
        </p:nvSpPr>
        <p:spPr>
          <a:xfrm>
            <a:off x="6053328" y="27523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565392" y="269748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選工具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7607808" y="2697480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 3 種 → 用列表（3 × 3）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053328" y="3355848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4" name="Text 42"/>
          <p:cNvSpPr/>
          <p:nvPr/>
        </p:nvSpPr>
        <p:spPr>
          <a:xfrm>
            <a:off x="6053328" y="3355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565392" y="330098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列全部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7607808" y="3300984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放回 → 第二次仍可選 1、2、3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6053328" y="3959352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8" name="Text 46"/>
          <p:cNvSpPr/>
          <p:nvPr/>
        </p:nvSpPr>
        <p:spPr>
          <a:xfrm>
            <a:off x="6053328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565392" y="390448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數總數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7607808" y="3904488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× 3 = 9 種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6053328" y="4562856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52" name="Text 50"/>
          <p:cNvSpPr/>
          <p:nvPr/>
        </p:nvSpPr>
        <p:spPr>
          <a:xfrm>
            <a:off x="6053328" y="4562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565392" y="450799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數要的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7607808" y="4507992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和為 4：(1,3)(2,2)(3,1) → 3 種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053328" y="513892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DCEAE3"/>
          </a:solidFill>
          <a:ln/>
        </p:spPr>
      </p:sp>
      <p:sp>
        <p:nvSpPr>
          <p:cNvPr id="56" name="Text 54"/>
          <p:cNvSpPr/>
          <p:nvPr/>
        </p:nvSpPr>
        <p:spPr>
          <a:xfrm>
            <a:off x="6053328" y="513892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P(和為 4) = 3/9 = 1/3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下一頁換你做：挑一顆星開始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06040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拋兩枚硬幣。用樹狀圖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列出所有結果，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P(一正一反)。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3909974"/>
            <a:ext cx="3279648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上題中，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P(兩個都是正面) = 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606040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袋中 1、2、3 三個球，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摸一個放回再摸一個。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P(兩次之和為 4)。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3909974"/>
            <a:ext cx="3279648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同時擲兩枚均勻骰子。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P(兩個點數之和為 7)。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606040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兩顆骰子的和，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哪一個和最容易出現？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用列表說明理由。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3909974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拋三枚硬幣，一共有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幾多種結果？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P(剛好兩個正面)。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6071616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兩步試驗：先把全部結果排好隊，再數要的。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 2–3 種用樹狀圖，每步 6 種用列表；先數總數，再數要的。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用頻率估計概率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節課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算不出等可能時，用大量試驗的頻率去估計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這位射手，射一次中靶的機會有幾大？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1783080"/>
            <a:ext cx="94183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783080"/>
            <a:ext cx="8869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某射手射擊 100 次，中靶 85 次。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3794760"/>
            <a:ext cx="9418320" cy="1737360"/>
          </a:xfrm>
          <a:prstGeom prst="roundRect">
            <a:avLst>
              <a:gd name="adj" fmla="val 789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37947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這裡沒有「等可能的格」可以數 ——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中靶和不中靶的機會，本來就不一樣大。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試得夠多，頻率就會穩定下來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72768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 = </a:t>
            </a:r>
            <a:pPr algn="l" indent="0" marL="0">
              <a:buNone/>
            </a:pPr>
            <a:r>
              <a:rPr lang="en-US" sz="25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發生的次數 ÷ 試驗的總次數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6766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72491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拋硬幣：正面出現的頻率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91640" y="3154680"/>
            <a:ext cx="539496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691640" y="3623310"/>
            <a:ext cx="539496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691640" y="4091940"/>
            <a:ext cx="539496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691640" y="4560570"/>
            <a:ext cx="539496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691640" y="5029200"/>
            <a:ext cx="539496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691640" y="5029200"/>
            <a:ext cx="5394960" cy="0"/>
          </a:xfrm>
          <a:prstGeom prst="line">
            <a:avLst/>
          </a:prstGeom>
          <a:noFill/>
          <a:ln w="22225">
            <a:solidFill>
              <a:srgbClr val="5C6F6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91640" y="3154680"/>
            <a:ext cx="0" cy="1874520"/>
          </a:xfrm>
          <a:prstGeom prst="line">
            <a:avLst/>
          </a:prstGeom>
          <a:noFill/>
          <a:ln w="22225">
            <a:solidFill>
              <a:srgbClr val="5C6F6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91640" y="4091940"/>
            <a:ext cx="5394960" cy="0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124712" y="393649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4712" y="299923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4712" y="48737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 flipV="1">
            <a:off x="1691640" y="3623310"/>
            <a:ext cx="449580" cy="1030986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141220" y="3623310"/>
            <a:ext cx="449580" cy="656082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2590800" y="3810762"/>
            <a:ext cx="449580" cy="468630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040380" y="3810762"/>
            <a:ext cx="449580" cy="393649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V="1">
            <a:off x="3489960" y="3941978"/>
            <a:ext cx="449580" cy="262433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939540" y="3941978"/>
            <a:ext cx="449580" cy="206197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flipV="1">
            <a:off x="4389120" y="4007587"/>
            <a:ext cx="449580" cy="140589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838700" y="4007587"/>
            <a:ext cx="449580" cy="112471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5288280" y="4045077"/>
            <a:ext cx="449580" cy="74981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737860" y="4045077"/>
            <a:ext cx="449580" cy="56236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V="1">
            <a:off x="6187440" y="4076944"/>
            <a:ext cx="449580" cy="24369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637020" y="4076944"/>
            <a:ext cx="449580" cy="14996"/>
          </a:xfrm>
          <a:prstGeom prst="line">
            <a:avLst/>
          </a:prstGeom>
          <a:noFill/>
          <a:ln w="28575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636776" y="4599432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2" name="Shape 30"/>
          <p:cNvSpPr/>
          <p:nvPr/>
        </p:nvSpPr>
        <p:spPr>
          <a:xfrm>
            <a:off x="2086356" y="3568446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3" name="Shape 31"/>
          <p:cNvSpPr/>
          <p:nvPr/>
        </p:nvSpPr>
        <p:spPr>
          <a:xfrm>
            <a:off x="2535936" y="4224528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4" name="Shape 32"/>
          <p:cNvSpPr/>
          <p:nvPr/>
        </p:nvSpPr>
        <p:spPr>
          <a:xfrm>
            <a:off x="2985516" y="3755898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5" name="Shape 33"/>
          <p:cNvSpPr/>
          <p:nvPr/>
        </p:nvSpPr>
        <p:spPr>
          <a:xfrm>
            <a:off x="3435096" y="4149547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6" name="Shape 34"/>
          <p:cNvSpPr/>
          <p:nvPr/>
        </p:nvSpPr>
        <p:spPr>
          <a:xfrm>
            <a:off x="3884676" y="3887114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7" name="Shape 35"/>
          <p:cNvSpPr/>
          <p:nvPr/>
        </p:nvSpPr>
        <p:spPr>
          <a:xfrm>
            <a:off x="4334256" y="4093312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8" name="Shape 36"/>
          <p:cNvSpPr/>
          <p:nvPr/>
        </p:nvSpPr>
        <p:spPr>
          <a:xfrm>
            <a:off x="4783836" y="3952723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9" name="Shape 37"/>
          <p:cNvSpPr/>
          <p:nvPr/>
        </p:nvSpPr>
        <p:spPr>
          <a:xfrm>
            <a:off x="5233416" y="4065194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0" name="Shape 38"/>
          <p:cNvSpPr/>
          <p:nvPr/>
        </p:nvSpPr>
        <p:spPr>
          <a:xfrm>
            <a:off x="5682996" y="3990213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1" name="Shape 39"/>
          <p:cNvSpPr/>
          <p:nvPr/>
        </p:nvSpPr>
        <p:spPr>
          <a:xfrm>
            <a:off x="6132576" y="4046449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2" name="Shape 40"/>
          <p:cNvSpPr/>
          <p:nvPr/>
        </p:nvSpPr>
        <p:spPr>
          <a:xfrm>
            <a:off x="6582156" y="4022080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3" name="Shape 41"/>
          <p:cNvSpPr/>
          <p:nvPr/>
        </p:nvSpPr>
        <p:spPr>
          <a:xfrm>
            <a:off x="7031736" y="4037076"/>
            <a:ext cx="109728" cy="1097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4" name="Text 42"/>
          <p:cNvSpPr/>
          <p:nvPr/>
        </p:nvSpPr>
        <p:spPr>
          <a:xfrm>
            <a:off x="1691640" y="515721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試驗次數 越來越多 →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772400" y="2651760"/>
            <a:ext cx="37947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01000" y="2816352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0" y="2816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8522208" y="277063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試幾次：上上落落，很不穩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001000" y="3621024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0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522208" y="357530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試很多次：慢慢靠近 0.5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001000" y="4425696"/>
            <a:ext cx="402336" cy="40233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53" name="Text 51"/>
          <p:cNvSpPr/>
          <p:nvPr/>
        </p:nvSpPr>
        <p:spPr>
          <a:xfrm>
            <a:off x="8001000" y="4425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522208" y="437997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就用這個穩定的數，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去估計概率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001000" y="521208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DCEAE3"/>
          </a:solidFill>
          <a:ln/>
        </p:spPr>
      </p:sp>
      <p:sp>
        <p:nvSpPr>
          <p:cNvPr id="56" name="Text 54"/>
          <p:cNvSpPr/>
          <p:nvPr/>
        </p:nvSpPr>
        <p:spPr>
          <a:xfrm>
            <a:off x="8001000" y="52120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射手：85 ÷ 100 = 0.85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比較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兩條路，用哪一條？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算出來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站①、站②的方法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・每個結果機會一樣大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353872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・數得出全部結果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419709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・例：骰子、硬幣、摸球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85546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・答案是準確值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830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試出來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站③的方法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88036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・機會不一樣大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29400" y="353872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・數不出全部結果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629400" y="419709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・例：射擊、圖釘、天氣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29400" y="485546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・答案是估計值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先問：每種結果的機會一樣大嗎？　一樣 → 算　不一樣 → 試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概率不會保證每次的結果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D9D9D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A4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小明說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96112" y="271576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「拋硬幣只有正、反兩種，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所以連續拋 10 次，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一定剛好有 5 次正面。」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他說得不對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65392" y="271576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概率講的是大量重複試驗的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整體規律，不是保證次數。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每次正面的概率是 0.5，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但實際拋 10 次，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 4 次、6 次、7 次都會發生。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下一頁換你做：挑一顆星開始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06040"/>
            <a:ext cx="3279648" cy="1324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某射手射擊 100 次，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中靶 85 次。用頻率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估計他射一次中靶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的概率。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04411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拋圖釘 200 次，針尖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朝上 62 次。針尖朝上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的頻率是多少？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606040"/>
            <a:ext cx="3279648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下面哪一題要用「算」，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哪一題要用「試」？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擲骰子出 6 點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(2) 明天塞車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(3) 摸出紅球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498848"/>
            <a:ext cx="3279648" cy="102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甲拋 20 次得 12 次正面，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乙拋 2000 次得 1004 次。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誰的頻率更可信？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673352"/>
            <a:ext cx="3700272" cy="434340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673352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728216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093976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606040"/>
            <a:ext cx="3279648" cy="1324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找錯題：小明說拋硬幣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連續拋 10 次一定剛好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有 5 次正面。對嗎？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請說明理由。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04411"/>
            <a:ext cx="3279648" cy="1324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你想估計「圖釘針尖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朝上」的概率。設計一個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實驗：要拋幾多次？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為甚麼？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6071616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算不出的時候，就試很多次，用頻率去估計概率。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頻率＝發生次數 ÷ 試驗次數；試得越多就越準。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三站回顧：一句話帶走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6712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6712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06040" y="1874520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概率＝要的結果數 ÷ 全部結果數（機會要一樣大）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49300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9300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3200400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兩步試驗：樹狀圖或列表，先排好再數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81888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1888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4526280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算不出就試很多次，用頻率去估計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DCEAE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623560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每次做題先問一句：每種結果的機會一樣大嗎？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你已經走完三站了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868680" y="3611880"/>
            <a:ext cx="10424160" cy="1188720"/>
          </a:xfrm>
          <a:prstGeom prst="roundRect">
            <a:avLst>
              <a:gd name="adj" fmla="val 9231"/>
            </a:avLst>
          </a:prstGeom>
          <a:solidFill>
            <a:srgbClr val="35564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6118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由「說不準」，到寫得出一個數 —— 這就是概率。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課後：完成《課堂練習》練習 A、B、C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概率初步（抽離小組·融合版）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概率初步 三站通關（融合抽離版）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2026-07-20T04:50:45Z</dcterms:created>
  <dcterms:modified xsi:type="dcterms:W3CDTF">2026-07-20T04:50:45Z</dcterms:modified>
</cp:coreProperties>
</file>