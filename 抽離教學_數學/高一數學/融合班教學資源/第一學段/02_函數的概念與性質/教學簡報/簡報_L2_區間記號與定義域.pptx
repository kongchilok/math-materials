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區間記號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與定義域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2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帶走一句：睇到根號諗「≥ 0」，睇到分母諗「≠ 0」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區間記號與定義域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「之間」到底包唔包兩頭？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四個區間記號：[ ] 同 ( )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睇到根號、睇到分母，點做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區間記號與定義域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「3 到 7 之間嘅數」，包唔包 3 同 7？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你講「之間」，有人以為包，有人以為唔包 —— 兩個都答得通。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數學唔可以有得拗，所以要有一套寫法：區間記號。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轉換點：舉手：包定唔包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區間記號與定義域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四個區間記號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560320" cy="4114800"/>
          </a:xfrm>
          <a:prstGeom prst="roundRect">
            <a:avLst>
              <a:gd name="adj" fmla="val 3571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[3, 7]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讀「閉區間」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兩頭都要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≤ x ≤ 7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83280" y="1554480"/>
            <a:ext cx="2560320" cy="4114800"/>
          </a:xfrm>
          <a:prstGeom prst="roundRect">
            <a:avLst>
              <a:gd name="adj" fmla="val 3571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745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(3, 7)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6616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讀「開區間」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66160" y="4069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兩頭都唔要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66160" y="4709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&lt; x &lt; 7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2560320" cy="4114800"/>
          </a:xfrm>
          <a:prstGeom prst="roundRect">
            <a:avLst>
              <a:gd name="adj" fmla="val 3571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8745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[3, 7)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40080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讀「半開半閉」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00800" y="4069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左要，右唔要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4709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≤ x &lt; 7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52560" y="1554480"/>
            <a:ext cx="2560320" cy="4114800"/>
          </a:xfrm>
          <a:prstGeom prst="roundRect">
            <a:avLst>
              <a:gd name="adj" fmla="val 3571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18745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(3, 7]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23544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讀「半開半閉」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235440" y="4069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左唔要，右要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35440" y="4709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&lt; x ≤ 7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區間記號與定義域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端點，要定唔要？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3008376"/>
            <a:ext cx="2651760" cy="0"/>
          </a:xfrm>
          <a:prstGeom prst="line">
            <a:avLst/>
          </a:prstGeom>
          <a:noFill/>
          <a:ln w="76200">
            <a:solidFill>
              <a:srgbClr val="5E857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008376"/>
            <a:ext cx="5760720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2916936"/>
            <a:ext cx="0" cy="1828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3136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4920" y="2916936"/>
            <a:ext cx="0" cy="1828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3136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31720" y="2916936"/>
            <a:ext cx="182880" cy="182880"/>
          </a:xfrm>
          <a:prstGeom prst="ellipse">
            <a:avLst/>
          </a:prstGeom>
          <a:solidFill>
            <a:srgbClr val="2E4A40"/>
          </a:solidFill>
          <a:ln w="25400">
            <a:solidFill>
              <a:srgbClr val="2E4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2441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83480" y="2916936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4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441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呢條線畫嘅係 [3, 7)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實心＝呢個端點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取得到 → 用 [ ]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空心＝呢個端點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取唔到 → 用 ( )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粗線＝區間包住嘅範圍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區間記號與定義域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無窮嗰邊，用邊個括號？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[2, +∞]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+∞ 唔係一個數，永遠都「取唔到」，唔可以用中括號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10128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[2, +∞)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取得到 → 中括號；+∞ 嗰邊 → 一定圓括號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轉換點：一齊讀一次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區間記號與定義域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無窮區間五個寫法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108960"/>
                <a:gridCol w="5029200"/>
              </a:tblGrid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區間寫法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不等式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點讀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[a, +∞)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≥ a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到正無窮，a 要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(a, +∞)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&gt; a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到正無窮，a 唔要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(−∞, b]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≤ b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負無窮到 b，b 要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(−∞, b)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&lt; b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負無窮到 b，b 唔要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(−∞, +∞)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全部實數 R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成條數線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區間記號與定義域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練習一：區間 ↔ 不等式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3 ≤ x ≤ 8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寫成區間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(0, 5)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寫成不等式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x &gt; −2 寫成區間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(−∞, 4]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寫成不等式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−1 ≤ x &lt; 6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寫成區間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[1, 5) 同 (3, 9]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嘅公共部分，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用區間寫出嚟。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 就跳上 B、C，三層都係同一個概念。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區間記號與定義域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求定義域：三條規則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有根號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被開方數要 ≥ 0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783080" y="2459228"/>
            <a:ext cx="44399" cy="76200"/>
          </a:xfrm>
          <a:prstGeom prst="line">
            <a:avLst/>
          </a:prstGeom>
          <a:noFill/>
          <a:ln w="25400">
            <a:solidFill>
              <a:srgbClr val="4E5C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827479" y="2311908"/>
            <a:ext cx="72441" cy="223520"/>
          </a:xfrm>
          <a:prstGeom prst="line">
            <a:avLst/>
          </a:prstGeom>
          <a:noFill/>
          <a:ln w="25400">
            <a:solidFill>
              <a:srgbClr val="4E5C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99920" y="2311908"/>
            <a:ext cx="569976" cy="0"/>
          </a:xfrm>
          <a:prstGeom prst="line">
            <a:avLst/>
          </a:prstGeom>
          <a:noFill/>
          <a:ln w="28575">
            <a:solidFill>
              <a:srgbClr val="4E5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18208" y="2273808"/>
            <a:ext cx="533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x+5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24760" y="2273808"/>
            <a:ext cx="237236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x + 5 ≥ 0 → x ≥ −5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÷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有分母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分母唔可以係 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83080" y="3864864"/>
            <a:ext cx="9144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920240" y="4055364"/>
            <a:ext cx="535229" cy="0"/>
          </a:xfrm>
          <a:prstGeom prst="line">
            <a:avLst/>
          </a:prstGeom>
          <a:noFill/>
          <a:ln w="28575">
            <a:solidFill>
              <a:srgbClr val="4E5C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77314" y="3735730"/>
            <a:ext cx="221082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60" dirty="0"/>
          </a:p>
        </p:txBody>
      </p:sp>
      <p:sp>
        <p:nvSpPr>
          <p:cNvPr id="22" name="Text 20"/>
          <p:cNvSpPr/>
          <p:nvPr/>
        </p:nvSpPr>
        <p:spPr>
          <a:xfrm>
            <a:off x="1947672" y="4039718"/>
            <a:ext cx="480365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x−1</a:t>
            </a:r>
            <a:endParaRPr lang="en-US" sz="1760" dirty="0"/>
          </a:p>
        </p:txBody>
      </p:sp>
      <p:sp>
        <p:nvSpPr>
          <p:cNvPr id="23" name="Text 21"/>
          <p:cNvSpPr/>
          <p:nvPr/>
        </p:nvSpPr>
        <p:spPr>
          <a:xfrm>
            <a:off x="2501189" y="3864864"/>
            <a:ext cx="222504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x − 1 ≠ 0 → x ≠ 1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∩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兩樣都有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兩個條件要同時成立 → 取交集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兩邊都啱嘅 x 先數得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區間記號與定義域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求定義域四步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睇有冇根號：被開方數 ≥ 0，寫低條件。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睇有冇分母：分母 ≠ 0，寫低條件。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兩個條件擺埋一齊，喺數線上取交集。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用區間記號寫出答案。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呢四步，之後每一題都照咁寫，唔使另外諗格式。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區間記號與定義域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示範：根號＋分母，兩個條件一齊要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8151" y="1525524"/>
            <a:ext cx="130759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271463" y="1792224"/>
            <a:ext cx="926186" cy="0"/>
          </a:xfrm>
          <a:prstGeom prst="line">
            <a:avLst/>
          </a:prstGeom>
          <a:noFill/>
          <a:ln w="28575">
            <a:solidFill>
              <a:srgbClr val="2E4A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8895" y="1573174"/>
            <a:ext cx="54700" cy="93878"/>
          </a:xfrm>
          <a:prstGeom prst="line">
            <a:avLst/>
          </a:prstGeom>
          <a:noFill/>
          <a:ln w="25400">
            <a:solidFill>
              <a:srgbClr val="2E4A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353595" y="1391676"/>
            <a:ext cx="89247" cy="275377"/>
          </a:xfrm>
          <a:prstGeom prst="line">
            <a:avLst/>
          </a:prstGeom>
          <a:noFill/>
          <a:ln w="25400">
            <a:solidFill>
              <a:srgbClr val="2E4A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2842" y="1391676"/>
            <a:ext cx="672511" cy="0"/>
          </a:xfrm>
          <a:prstGeom prst="line">
            <a:avLst/>
          </a:prstGeom>
          <a:noFill/>
          <a:ln w="28575">
            <a:solidFill>
              <a:srgbClr val="2E4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1130" y="1344737"/>
            <a:ext cx="635935" cy="469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4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x+5</a:t>
            </a:r>
            <a:endParaRPr lang="en-US" sz="2464" dirty="0"/>
          </a:p>
        </p:txBody>
      </p:sp>
      <p:sp>
        <p:nvSpPr>
          <p:cNvPr id="13" name="Text 11"/>
          <p:cNvSpPr/>
          <p:nvPr/>
        </p:nvSpPr>
        <p:spPr>
          <a:xfrm>
            <a:off x="6416589" y="1770319"/>
            <a:ext cx="635935" cy="469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4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x−1</a:t>
            </a:r>
            <a:endParaRPr lang="en-US" sz="2464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64008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61556" y="3535070"/>
            <a:ext cx="4339244" cy="0"/>
          </a:xfrm>
          <a:prstGeom prst="line">
            <a:avLst/>
          </a:prstGeom>
          <a:noFill/>
          <a:ln w="76200">
            <a:solidFill>
              <a:srgbClr val="5E85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535070"/>
            <a:ext cx="5760720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061556" y="3443630"/>
            <a:ext cx="0" cy="1828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7236" y="366308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72247" y="3443630"/>
            <a:ext cx="0" cy="1828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97927" y="366308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54385" y="3443630"/>
            <a:ext cx="0" cy="1828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0065" y="366308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970116" y="3443630"/>
            <a:ext cx="182880" cy="182880"/>
          </a:xfrm>
          <a:prstGeom prst="ellipse">
            <a:avLst/>
          </a:prstGeom>
          <a:solidFill>
            <a:srgbClr val="2E4A40"/>
          </a:solidFill>
          <a:ln w="25400">
            <a:solidFill>
              <a:srgbClr val="2E4A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4356" y="296814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 要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62945" y="344363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4A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7185" y="296814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挖走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4573829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粗線＝x ≥ −5，喺 1 嗰度挖返個窿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360920" y="2606040"/>
            <a:ext cx="4251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根號：x + 5 ≥ 0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→ x ≥ −5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分母：x − 1 ≠ 0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→ x ≠ 1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交集：≥ −5，但要挖走 1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[−5, 1) ∪ (1, +∞)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區間記號與定義域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練習二：求定義域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122758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f(x) = 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2050542" y="2709291"/>
            <a:ext cx="46619" cy="80010"/>
          </a:xfrm>
          <a:prstGeom prst="line">
            <a:avLst/>
          </a:prstGeom>
          <a:noFill/>
          <a:ln w="25400">
            <a:solidFill>
              <a:srgbClr val="202A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097161" y="2554605"/>
            <a:ext cx="76063" cy="234696"/>
          </a:xfrm>
          <a:prstGeom prst="line">
            <a:avLst/>
          </a:prstGeom>
          <a:noFill/>
          <a:ln w="25400">
            <a:solidFill>
              <a:srgbClr val="202A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73224" y="2554605"/>
            <a:ext cx="592074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1512" y="2514600"/>
            <a:ext cx="55549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x−2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2960" y="3314700"/>
            <a:ext cx="122758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f(x) = 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2096262" y="3514725"/>
            <a:ext cx="554675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59818" y="3179110"/>
            <a:ext cx="227564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48" dirty="0"/>
          </a:p>
        </p:txBody>
      </p:sp>
      <p:sp>
        <p:nvSpPr>
          <p:cNvPr id="18" name="Text 16"/>
          <p:cNvSpPr/>
          <p:nvPr/>
        </p:nvSpPr>
        <p:spPr>
          <a:xfrm>
            <a:off x="2123694" y="3498296"/>
            <a:ext cx="499811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x+3</a:t>
            </a:r>
            <a:endParaRPr lang="en-US" sz="1848" dirty="0"/>
          </a:p>
        </p:txBody>
      </p:sp>
      <p:sp>
        <p:nvSpPr>
          <p:cNvPr id="19" name="Shape 17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21" name="Text 19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99432" y="2514600"/>
            <a:ext cx="122758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f(x) = 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872734" y="2714625"/>
            <a:ext cx="754075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0166" y="2550338"/>
            <a:ext cx="41025" cy="70409"/>
          </a:xfrm>
          <a:prstGeom prst="line">
            <a:avLst/>
          </a:prstGeom>
          <a:noFill/>
          <a:ln w="25400">
            <a:solidFill>
              <a:srgbClr val="202A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5941191" y="2414214"/>
            <a:ext cx="66935" cy="206532"/>
          </a:xfrm>
          <a:prstGeom prst="line">
            <a:avLst/>
          </a:prstGeom>
          <a:noFill/>
          <a:ln w="25400">
            <a:solidFill>
              <a:srgbClr val="202A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08126" y="2414214"/>
            <a:ext cx="536387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26414" y="2379010"/>
            <a:ext cx="499811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x+1</a:t>
            </a:r>
            <a:endParaRPr lang="en-US" sz="1848" dirty="0"/>
          </a:p>
        </p:txBody>
      </p:sp>
      <p:sp>
        <p:nvSpPr>
          <p:cNvPr id="29" name="Text 27"/>
          <p:cNvSpPr/>
          <p:nvPr/>
        </p:nvSpPr>
        <p:spPr>
          <a:xfrm>
            <a:off x="5999866" y="2698196"/>
            <a:ext cx="499811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x−4</a:t>
            </a:r>
            <a:endParaRPr lang="en-US" sz="1848" dirty="0"/>
          </a:p>
        </p:txBody>
      </p:sp>
      <p:sp>
        <p:nvSpPr>
          <p:cNvPr id="30" name="Text 28"/>
          <p:cNvSpPr/>
          <p:nvPr/>
        </p:nvSpPr>
        <p:spPr>
          <a:xfrm>
            <a:off x="4599432" y="3314700"/>
            <a:ext cx="122758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f(x) = 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5872734" y="3514725"/>
            <a:ext cx="754075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35990" y="3179110"/>
            <a:ext cx="227564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48" dirty="0"/>
          </a:p>
        </p:txBody>
      </p:sp>
      <p:sp>
        <p:nvSpPr>
          <p:cNvPr id="33" name="Shape 31"/>
          <p:cNvSpPr/>
          <p:nvPr/>
        </p:nvSpPr>
        <p:spPr>
          <a:xfrm>
            <a:off x="5900166" y="3669624"/>
            <a:ext cx="41025" cy="70409"/>
          </a:xfrm>
          <a:prstGeom prst="line">
            <a:avLst/>
          </a:prstGeom>
          <a:noFill/>
          <a:ln w="25400">
            <a:solidFill>
              <a:srgbClr val="202A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5941191" y="3533501"/>
            <a:ext cx="66935" cy="206532"/>
          </a:xfrm>
          <a:prstGeom prst="line">
            <a:avLst/>
          </a:prstGeom>
          <a:noFill/>
          <a:ln w="25400">
            <a:solidFill>
              <a:srgbClr val="202A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08126" y="3533501"/>
            <a:ext cx="536387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26414" y="3498296"/>
            <a:ext cx="499811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x−5</a:t>
            </a:r>
            <a:endParaRPr lang="en-US" sz="1848" dirty="0"/>
          </a:p>
        </p:txBody>
      </p:sp>
      <p:sp>
        <p:nvSpPr>
          <p:cNvPr id="37" name="Text 35"/>
          <p:cNvSpPr/>
          <p:nvPr/>
        </p:nvSpPr>
        <p:spPr>
          <a:xfrm>
            <a:off x="4599432" y="3714750"/>
            <a:ext cx="29535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（睇清楚根號喺邊）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40" name="Text 38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375904" y="2514600"/>
            <a:ext cx="122758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f(x) = 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9603486" y="2709291"/>
            <a:ext cx="46619" cy="80010"/>
          </a:xfrm>
          <a:prstGeom prst="line">
            <a:avLst/>
          </a:prstGeom>
          <a:noFill/>
          <a:ln w="25400">
            <a:solidFill>
              <a:srgbClr val="202A2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650105" y="2554605"/>
            <a:ext cx="76063" cy="234696"/>
          </a:xfrm>
          <a:prstGeom prst="line">
            <a:avLst/>
          </a:prstGeom>
          <a:noFill/>
          <a:ln w="25400">
            <a:solidFill>
              <a:srgbClr val="202A2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26168" y="2554605"/>
            <a:ext cx="592074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44456" y="2514600"/>
            <a:ext cx="55549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6−x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0373106" y="2514600"/>
            <a:ext cx="38481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10803636" y="2714625"/>
            <a:ext cx="554675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67192" y="2379010"/>
            <a:ext cx="227564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48" dirty="0"/>
          </a:p>
        </p:txBody>
      </p:sp>
      <p:sp>
        <p:nvSpPr>
          <p:cNvPr id="50" name="Text 48"/>
          <p:cNvSpPr/>
          <p:nvPr/>
        </p:nvSpPr>
        <p:spPr>
          <a:xfrm>
            <a:off x="10831068" y="2698196"/>
            <a:ext cx="499811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x+2</a:t>
            </a:r>
            <a:endParaRPr lang="en-US" sz="1848" dirty="0"/>
          </a:p>
        </p:txBody>
      </p:sp>
      <p:sp>
        <p:nvSpPr>
          <p:cNvPr id="51" name="Text 49"/>
          <p:cNvSpPr/>
          <p:nvPr/>
        </p:nvSpPr>
        <p:spPr>
          <a:xfrm>
            <a:off x="8375904" y="3314700"/>
            <a:ext cx="29535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兩個條件都要，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8375904" y="3714750"/>
            <a:ext cx="29535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最後用區間寫。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每題都照四步寫，唔好跳步。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區間記號與定義域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睇到根號諗「≥ 0」，睇到分母諗「≠ 0」。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兩個條件都有 → 喺數線上取交集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端點取得到用 [ ]，取唔到用 ( )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+∞ 同 −∞ 永遠用 ( )，因為佢哋唔係數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下一課：函數嘅三種樣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同一個函數，可以用式子寫、用表格寫、用圖象畫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教學調整（Accommodation）：本簡報加入數線表徵、步驟卡與分層任務，年級學習標準不變。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2026-08-07T06:50:23Z</dcterms:created>
  <dcterms:modified xsi:type="dcterms:W3CDTF">2026-08-07T06:50:23Z</dcterms:modified>
</cp:coreProperties>
</file>