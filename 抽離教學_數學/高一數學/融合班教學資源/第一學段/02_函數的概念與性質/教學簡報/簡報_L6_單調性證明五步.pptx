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548640"/>
            <a:ext cx="5120640" cy="5760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0" dirty="0">
                <a:solidFill>
                  <a:srgbClr val="3E53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 }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單調性嘅證明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五步框架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886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抽離小組 · 第 6 課（40 分鐘）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DBAA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帶走一句：取值 → 作差 → 變形 → 定號 → 結論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單調性證明五步框架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今日課堂流程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563624" y="1508760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37944" y="1508760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睇圖算唔算「證明咗」？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414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563624" y="2441448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37944" y="2441448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五步框架：每步做乜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74136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563624" y="3374136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37944" y="3374136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重點喺第四步：定號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548640" y="4306824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306824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563624" y="4306824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37944" y="4306824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分層練習：揀一層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中間會停兩次，一齊做練習。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單調性證明五步框架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先想一想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我畫幅圖，你睇到條線一路升。咁樣算唔算「證明咗」佢遞增？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圖可以畫得唔準，又可以只係畫到一小段。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數學要嘅係：任何兩個 x</a:t>
            </a:r>
            <a:pPr algn="l" indent="0" marL="0">
              <a:buNone/>
            </a:pPr>
            <a:r>
              <a:rPr lang="en-US" sz="2200" b="1" baseline="-4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&lt; x</a:t>
            </a:r>
            <a:pPr algn="l" indent="0" marL="0">
              <a:buNone/>
            </a:pPr>
            <a:r>
              <a:rPr lang="en-US" sz="2200" b="1" baseline="-4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，都一定 f(x</a:t>
            </a:r>
            <a:pPr algn="l" indent="0" marL="0">
              <a:buNone/>
            </a:pPr>
            <a:r>
              <a:rPr lang="en-US" sz="2200" b="1" baseline="-4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 &lt; f(x</a:t>
            </a:r>
            <a:pPr algn="l" indent="0" marL="0">
              <a:buNone/>
            </a:pPr>
            <a:r>
              <a:rPr lang="en-US" sz="2200" b="1" baseline="-4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)。要用代數寫出嚟。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轉換點：舉手：算唔算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單調性證明五步框架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五步框架：每步做乜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377440"/>
                <a:gridCol w="7498080"/>
              </a:tblGrid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步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個名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做乜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①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取值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 x</a:t>
                      </a:r>
                      <a:pPr algn="l" indent="0" marL="0">
                        <a:buNone/>
                      </a:pPr>
                      <a:r>
                        <a:rPr lang="en-US" sz="2000" baseline="-4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、x</a:t>
                      </a:r>
                      <a:pPr algn="l" indent="0" marL="0">
                        <a:buNone/>
                      </a:pPr>
                      <a:r>
                        <a:rPr lang="en-US" sz="2000" baseline="-4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喺區間入面，且 x</a:t>
                      </a:r>
                      <a:pPr algn="l" indent="0" marL="0">
                        <a:buNone/>
                      </a:pPr>
                      <a:r>
                        <a:rPr lang="en-US" sz="2000" baseline="-4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&lt; x</a:t>
                      </a:r>
                      <a:pPr algn="l" indent="0" marL="0">
                        <a:buNone/>
                      </a:pPr>
                      <a:r>
                        <a:rPr lang="en-US" sz="2000" baseline="-4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②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作差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寫低 f(x</a:t>
                      </a:r>
                      <a:pPr algn="l" indent="0" marL="0">
                        <a:buNone/>
                      </a:pPr>
                      <a:r>
                        <a:rPr lang="en-US" sz="2000" baseline="-4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) − f(x</a:t>
                      </a:r>
                      <a:pPr algn="l" indent="0" marL="0">
                        <a:buNone/>
                      </a:pPr>
                      <a:r>
                        <a:rPr lang="en-US" sz="2000" baseline="-4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)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③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變形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拆開、化簡、提公因式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④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定號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判斷個差係正定負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⑤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結論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差 &lt; 0 → 遞增；差 &gt; 0 → 遞減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單調性證明五步框架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點解要「作差」？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5349240" cy="603504"/>
          </a:xfrm>
          <a:prstGeom prst="roundRect">
            <a:avLst>
              <a:gd name="adj" fmla="val 15152"/>
            </a:avLst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08760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</a:t>
            </a:r>
            <a:pPr algn="ctr" indent="0" marL="0">
              <a:buNone/>
            </a:pPr>
            <a:r>
              <a:rPr lang="en-US" sz="2300" b="1" baseline="-40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 − f(x</a:t>
            </a:r>
            <a:pPr algn="ctr" indent="0" marL="0">
              <a:buNone/>
            </a:pPr>
            <a:r>
              <a:rPr lang="en-US" sz="2300" b="1" baseline="-40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 &lt; 0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前面嗰個細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細嗰陣 y 都細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大咗 y 跟住大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遞增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6263640" y="150876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508760"/>
            <a:ext cx="5349240" cy="603504"/>
          </a:xfrm>
          <a:prstGeom prst="roundRect">
            <a:avLst>
              <a:gd name="adj" fmla="val 15152"/>
            </a:avLst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508760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</a:t>
            </a:r>
            <a:pPr algn="ctr" indent="0" marL="0">
              <a:buNone/>
            </a:pPr>
            <a:r>
              <a:rPr lang="en-US" sz="2300" b="1" baseline="-40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 − f(x</a:t>
            </a:r>
            <a:pPr algn="ctr" indent="0" marL="0">
              <a:buNone/>
            </a:pPr>
            <a:r>
              <a:rPr lang="en-US" sz="2300" b="1" baseline="-40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 &gt; 0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583680" y="228600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前面嗰個大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細嗰陣 y 反而大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大咗 y 跌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遞減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成題嘅重點，就係搞清楚個「差」係正定負。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單調性證明五步框架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示範：證明 f(x) = 2x + 1 喺 R 上遞增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步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寫乜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① 取值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 x</a:t>
                      </a:r>
                      <a:pPr algn="l" indent="0" marL="0">
                        <a:buNone/>
                      </a:pPr>
                      <a:r>
                        <a:rPr lang="en-US" sz="2000" baseline="-4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、x</a:t>
                      </a:r>
                      <a:pPr algn="l" indent="0" marL="0">
                        <a:buNone/>
                      </a:pPr>
                      <a:r>
                        <a:rPr lang="en-US" sz="2000" baseline="-4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∈ R，且 x</a:t>
                      </a:r>
                      <a:pPr algn="l" indent="0" marL="0">
                        <a:buNone/>
                      </a:pPr>
                      <a:r>
                        <a:rPr lang="en-US" sz="2000" baseline="-4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&lt; x</a:t>
                      </a:r>
                      <a:pPr algn="l" indent="0" marL="0">
                        <a:buNone/>
                      </a:pPr>
                      <a:r>
                        <a:rPr lang="en-US" sz="2000" baseline="-4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② 作差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f(x</a:t>
                      </a:r>
                      <a:pPr algn="l" indent="0" marL="0">
                        <a:buNone/>
                      </a:pPr>
                      <a:r>
                        <a:rPr lang="en-US" sz="2000" baseline="-4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) − f(x</a:t>
                      </a:r>
                      <a:pPr algn="l" indent="0" marL="0">
                        <a:buNone/>
                      </a:pPr>
                      <a:r>
                        <a:rPr lang="en-US" sz="2000" baseline="-4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) = (2x</a:t>
                      </a:r>
                      <a:pPr algn="l" indent="0" marL="0">
                        <a:buNone/>
                      </a:pPr>
                      <a:r>
                        <a:rPr lang="en-US" sz="2000" baseline="-4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+ 1) − (2x</a:t>
                      </a:r>
                      <a:pPr algn="l" indent="0" marL="0">
                        <a:buNone/>
                      </a:pPr>
                      <a:r>
                        <a:rPr lang="en-US" sz="2000" baseline="-4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+ 1)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③ 變形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= 2x</a:t>
                      </a:r>
                      <a:pPr algn="l" indent="0" marL="0">
                        <a:buNone/>
                      </a:pPr>
                      <a:r>
                        <a:rPr lang="en-US" sz="2000" baseline="-4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− 2x</a:t>
                      </a:r>
                      <a:pPr algn="l" indent="0" marL="0">
                        <a:buNone/>
                      </a:pPr>
                      <a:r>
                        <a:rPr lang="en-US" sz="2000" baseline="-4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= 2(x</a:t>
                      </a:r>
                      <a:pPr algn="l" indent="0" marL="0">
                        <a:buNone/>
                      </a:pPr>
                      <a:r>
                        <a:rPr lang="en-US" sz="2000" baseline="-4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− x</a:t>
                      </a:r>
                      <a:pPr algn="l" indent="0" marL="0">
                        <a:buNone/>
                      </a:pPr>
                      <a:r>
                        <a:rPr lang="en-US" sz="2000" baseline="-4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)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④ 定號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2000" baseline="-4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&lt; x</a:t>
                      </a:r>
                      <a:pPr algn="l" indent="0" marL="0">
                        <a:buNone/>
                      </a:pPr>
                      <a:r>
                        <a:rPr lang="en-US" sz="2000" baseline="-4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→ x</a:t>
                      </a:r>
                      <a:pPr algn="l" indent="0" marL="0">
                        <a:buNone/>
                      </a:pPr>
                      <a:r>
                        <a:rPr lang="en-US" sz="2000" baseline="-4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− x</a:t>
                      </a:r>
                      <a:pPr algn="l" indent="0" marL="0">
                        <a:buNone/>
                      </a:pPr>
                      <a:r>
                        <a:rPr lang="en-US" sz="2000" baseline="-4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&lt; 0 → 2(x</a:t>
                      </a:r>
                      <a:pPr algn="l" indent="0" marL="0">
                        <a:buNone/>
                      </a:pPr>
                      <a:r>
                        <a:rPr lang="en-US" sz="2000" baseline="-4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− x</a:t>
                      </a:r>
                      <a:pPr algn="l" indent="0" marL="0">
                        <a:buNone/>
                      </a:pPr>
                      <a:r>
                        <a:rPr lang="en-US" sz="2000" baseline="-4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) &lt; 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⑤ 結論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f(x</a:t>
                      </a:r>
                      <a:pPr algn="l" indent="0" marL="0">
                        <a:buNone/>
                      </a:pPr>
                      <a:r>
                        <a:rPr lang="en-US" sz="2000" baseline="-4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) &lt; f(x</a:t>
                      </a:r>
                      <a:pPr algn="l" indent="0" marL="0">
                        <a:buNone/>
                      </a:pPr>
                      <a:r>
                        <a:rPr lang="en-US" sz="2000" baseline="-4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)，所以 f(x) 喺 R 上遞增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單調性證明五步框架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代兩個數，算唔算證明？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91640" y="150876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代 x = 1 同 x = 2，見到 f(1) &lt; f(2)，所以遞增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兩個數啱，唔代表全部都啱 —— 證明要對「任何」一對 x</a:t>
            </a:r>
            <a:pPr algn="l" indent="0" marL="0">
              <a:buNone/>
            </a:pPr>
            <a:r>
              <a:rPr lang="en-US" sz="2000" baseline="-4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&lt; x</a:t>
            </a:r>
            <a:pPr algn="l" indent="0" marL="0">
              <a:buNone/>
            </a:pPr>
            <a:r>
              <a:rPr lang="en-US" sz="2000" baseline="-4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都成立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90088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310128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310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91640" y="2990088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設任意 x</a:t>
            </a:r>
            <a:pPr algn="l" indent="0" marL="0">
              <a:buNone/>
            </a:pPr>
            <a:r>
              <a:rPr lang="en-US" sz="2400" b="1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&lt; x</a:t>
            </a:r>
            <a:pPr algn="l" indent="0" marL="0">
              <a:buNone/>
            </a:pPr>
            <a:r>
              <a:rPr lang="en-US" sz="2400" b="1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，證明 f(x</a:t>
            </a:r>
            <a:pPr algn="l" indent="0" marL="0">
              <a:buNone/>
            </a:pPr>
            <a:r>
              <a:rPr lang="en-US" sz="2400" b="1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 − f(x</a:t>
            </a:r>
            <a:pPr algn="l" indent="0" marL="0">
              <a:buNone/>
            </a:pPr>
            <a:r>
              <a:rPr lang="en-US" sz="2400" b="1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 &lt; 0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用字母代表「任何一對」，噉先叫證明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轉換點：一齊講一次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單調性證明五步框架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第四步「定號」點做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08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把個差式拆到「因式相乘」嘅樣。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23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逐個因式問：佢係正定負？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08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用返條件 x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&lt; x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，即係 x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− x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&lt; 0。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63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223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 × 負 = 負；負 × 負 = 正 —— 得出成個差嘅正負。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成個證明最易出錯就係呢一步，尤其係前面有負號嗰啲。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單調性證明五步框架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練習一：試吓寫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= x + 4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f(x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 − f(x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等於幾多？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（拆開就得）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= 5x − 2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照五步證明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佢喺 R 上遞增。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= −x + 7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照五步證明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佢喺 R 上遞減。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（留意個負號）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五步嘅名要寫喺旁邊，一步一行。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轉換點：自己揀一層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單調性證明五步框架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示範二：有負號嘅情況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4008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55010" y="3426714"/>
            <a:ext cx="1388059" cy="0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V="1">
            <a:off x="3433572" y="1691640"/>
            <a:ext cx="0" cy="3154680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168750" y="348157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25012" y="16550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04388" y="346329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 flipV="1">
            <a:off x="3749040" y="3388858"/>
            <a:ext cx="0" cy="75712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349986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flipV="1">
            <a:off x="4064508" y="3388858"/>
            <a:ext cx="0" cy="75712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35908" y="349986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95716" y="4373118"/>
            <a:ext cx="75712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30652" y="425424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95716" y="2480310"/>
            <a:ext cx="75712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30652" y="236143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149651" y="1944014"/>
            <a:ext cx="35258" cy="1057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84909" y="2049789"/>
            <a:ext cx="35258" cy="1057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20167" y="2155564"/>
            <a:ext cx="35258" cy="1057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55425" y="2261338"/>
            <a:ext cx="35258" cy="1057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0684" y="2367113"/>
            <a:ext cx="35258" cy="1057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25942" y="2472887"/>
            <a:ext cx="35258" cy="1057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61200" y="2578662"/>
            <a:ext cx="35258" cy="1057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96458" y="2684436"/>
            <a:ext cx="35258" cy="1057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31716" y="2790211"/>
            <a:ext cx="35258" cy="1057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66974" y="2895985"/>
            <a:ext cx="35258" cy="1057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02233" y="3001760"/>
            <a:ext cx="35258" cy="1057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37491" y="3107535"/>
            <a:ext cx="35258" cy="1057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72749" y="3213309"/>
            <a:ext cx="35258" cy="1057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08007" y="3319084"/>
            <a:ext cx="35258" cy="1057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43265" y="3424858"/>
            <a:ext cx="35258" cy="1057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78524" y="3530633"/>
            <a:ext cx="35258" cy="1057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13782" y="3636407"/>
            <a:ext cx="35258" cy="1057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49040" y="3742182"/>
            <a:ext cx="35258" cy="1057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84298" y="3847957"/>
            <a:ext cx="35258" cy="1057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19556" y="3953731"/>
            <a:ext cx="35258" cy="1057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54815" y="4059506"/>
            <a:ext cx="35258" cy="1057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90073" y="4165280"/>
            <a:ext cx="35258" cy="1057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925331" y="4271055"/>
            <a:ext cx="35258" cy="1057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960589" y="4376829"/>
            <a:ext cx="35258" cy="1057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995847" y="4482604"/>
            <a:ext cx="35258" cy="1057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031106" y="4588379"/>
            <a:ext cx="35258" cy="1057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066364" y="4694153"/>
            <a:ext cx="35258" cy="1057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4892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= −3x + 2</a:t>
            </a:r>
            <a:endParaRPr lang="en-US" sz="2100" dirty="0"/>
          </a:p>
        </p:txBody>
      </p:sp>
      <p:sp>
        <p:nvSpPr>
          <p:cNvPr id="48" name="Text 46"/>
          <p:cNvSpPr/>
          <p:nvPr/>
        </p:nvSpPr>
        <p:spPr>
          <a:xfrm>
            <a:off x="7360920" y="1783080"/>
            <a:ext cx="4251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設 x</a:t>
            </a:r>
            <a:pPr algn="l" indent="0" marL="0">
              <a:lnSpc>
                <a:spcPct val="135000"/>
              </a:lnSpc>
              <a:buNone/>
            </a:pPr>
            <a:r>
              <a:rPr lang="en-US" sz="23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&lt; x</a:t>
            </a:r>
            <a:pPr algn="l" indent="0" marL="0">
              <a:lnSpc>
                <a:spcPct val="135000"/>
              </a:lnSpc>
              <a:buNone/>
            </a:pPr>
            <a:r>
              <a:rPr lang="en-US" sz="23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f(x</a:t>
            </a:r>
            <a:pPr algn="l" indent="0" marL="0">
              <a:lnSpc>
                <a:spcPct val="135000"/>
              </a:lnSpc>
              <a:buNone/>
            </a:pPr>
            <a:r>
              <a:rPr lang="en-US" sz="23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 − f(x</a:t>
            </a:r>
            <a:pPr algn="l" indent="0" marL="0">
              <a:lnSpc>
                <a:spcPct val="135000"/>
              </a:lnSpc>
              <a:buNone/>
            </a:pPr>
            <a:r>
              <a:rPr lang="en-US" sz="23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= (−3x</a:t>
            </a:r>
            <a:pPr algn="l" indent="0" marL="0">
              <a:lnSpc>
                <a:spcPct val="135000"/>
              </a:lnSpc>
              <a:buNone/>
            </a:pPr>
            <a:r>
              <a:rPr lang="en-US" sz="23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+2) − (−3x</a:t>
            </a:r>
            <a:pPr algn="l" indent="0" marL="0">
              <a:lnSpc>
                <a:spcPct val="135000"/>
              </a:lnSpc>
              <a:buNone/>
            </a:pPr>
            <a:r>
              <a:rPr lang="en-US" sz="23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+2)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= −3x</a:t>
            </a:r>
            <a:pPr algn="l" indent="0" marL="0">
              <a:lnSpc>
                <a:spcPct val="135000"/>
              </a:lnSpc>
              <a:buNone/>
            </a:pPr>
            <a:r>
              <a:rPr lang="en-US" sz="23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+ 3x</a:t>
            </a:r>
            <a:pPr algn="l" indent="0" marL="0">
              <a:lnSpc>
                <a:spcPct val="135000"/>
              </a:lnSpc>
              <a:buNone/>
            </a:pPr>
            <a:r>
              <a:rPr lang="en-US" sz="23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= −3(x</a:t>
            </a:r>
            <a:pPr algn="l" indent="0" marL="0">
              <a:lnSpc>
                <a:spcPct val="135000"/>
              </a:lnSpc>
              <a:buNone/>
            </a:pPr>
            <a:r>
              <a:rPr lang="en-US" sz="23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− x</a:t>
            </a:r>
            <a:pPr algn="l" indent="0" marL="0">
              <a:lnSpc>
                <a:spcPct val="135000"/>
              </a:lnSpc>
              <a:buNone/>
            </a:pPr>
            <a:r>
              <a:rPr lang="en-US" sz="23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x</a:t>
            </a:r>
            <a:pPr algn="l" indent="0" marL="0">
              <a:lnSpc>
                <a:spcPct val="135000"/>
              </a:lnSpc>
              <a:buNone/>
            </a:pPr>
            <a:r>
              <a:rPr lang="en-US" sz="23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− x</a:t>
            </a:r>
            <a:pPr algn="l" indent="0" marL="0">
              <a:lnSpc>
                <a:spcPct val="135000"/>
              </a:lnSpc>
              <a:buNone/>
            </a:pPr>
            <a:r>
              <a:rPr lang="en-US" sz="23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&lt; 0，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−3 × 負 = 正 → 個差 &gt; 0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f(x</a:t>
            </a:r>
            <a:pPr algn="l" indent="0" marL="0">
              <a:lnSpc>
                <a:spcPct val="135000"/>
              </a:lnSpc>
              <a:buNone/>
            </a:pPr>
            <a:r>
              <a:rPr lang="en-US" sz="23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 &gt; f(x</a:t>
            </a:r>
            <a:pPr algn="l" indent="0" marL="0">
              <a:lnSpc>
                <a:spcPct val="135000"/>
              </a:lnSpc>
              <a:buNone/>
            </a:pPr>
            <a:r>
              <a:rPr lang="en-US" sz="2300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 → 遞減</a:t>
            </a:r>
            <a:endParaRPr lang="en-US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單調性證明五步框架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練習二：完整寫一次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五步嘅名，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順住講一次。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（唔使計，講得出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就得）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= 4x + 1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完整寫低五步，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證明佢遞增。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= 2x + 3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證明佢喺 R 上遞增。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咁如果只係喺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[0, 5] 上呢？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 題第②問：區間細咗，結論會唔會變？諗清楚先答。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轉換點：自己揀一層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單調性證明五步框架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今日帶走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取值 → 作差 → 變形 → 定號 → 結論。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保底三句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69080"/>
            <a:ext cx="10149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「設 x</a:t>
            </a:r>
            <a:pPr algn="l" indent="0" marL="0">
              <a:lnSpc>
                <a:spcPct val="135000"/>
              </a:lnSpc>
              <a:buNone/>
            </a:pPr>
            <a:r>
              <a:rPr lang="en-US" sz="2400" b="1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&lt; x</a:t>
            </a:r>
            <a:pPr algn="l" indent="0" marL="0">
              <a:lnSpc>
                <a:spcPct val="135000"/>
              </a:lnSpc>
              <a:buNone/>
            </a:pPr>
            <a:r>
              <a:rPr lang="en-US" sz="2400" b="1" baseline="-4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」要用字母，唔可以代實數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重點喺「定號」：個差係正定負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差 &lt; 0 → 遞增；差 &gt; 0 → 遞減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下一課：奇偶性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474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幅圖對唔對稱？對稱嘅話，係對住 y 軸定係對住原點？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A6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教學調整（Accommodation）：本簡報加入固定證明框架、步驟卡與分層任務，年級學習標準不變。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2026-07-20T03:54:46Z</dcterms:created>
  <dcterms:modified xsi:type="dcterms:W3CDTF">2026-07-20T03:54:46Z</dcterms:modified>
</cp:coreProperties>
</file>