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開場：不講定義，先講一個生活情境。整節課的主軸就是封面那句話。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ASD 可預測性：逐項唸一次，告訴學生會停兩次做練習。這頁課末回來對照，確認四件事都做完。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 1（約第 4 分鐘）：全體舉手作答，人人做得起的入口題（保底成功經驗）。答案 25 元。追問一句：如果同一個 1.5 公斤，有人說 15 元有人說 25 元，收費表還有用嗎？帶出「唯一」。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比喻必須解釋（ASD 按字面理解）：說完販賣機，立刻用下一行白話把比喻翻譯回數學意思，不要留給學生自己聯想。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關鍵投影片。用手指逐個點數：左邊每個點只射出一支箭；右邊的 2 射出兩支。讓學生自己數，不要直接講結論。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 2（約第 12 分鐘）：先舉手投票「可以／不可以」，再揭曉。這是本節最常見的誤解，一定要停下來處理。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抽象頁保留右上角機器縮圖，作為前一階段的視覺線索。f(x) 被讀成「f 乘 x」是高頻錯誤，這裡明講一次。預告：再一頁就一起做練習。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步驟卡是過渡鷹架，前三節照著用，第四節起改成學生自己口述三步（fade out）。一次一個指令，唸完一步再唸下一步。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 3（約第 20 分鐘）：三層同時發，學生自選，不點名分派。C 是 low floor high ceiling 的天花板題——平方根有正負兩個值，所以不是函數；能講出這一點的學生，請他向全班說明。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定義域／值域都叫「域」，是本節最容易混的一組詞。固定講法：定義域看 x，值域看 y。三欄位置固定，之後每節沿用同一版型。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示範 → 引導 → 學生做。這一頁老師先把四格唸一次（示範），練習二的 B 題用同一個四格帶著填（引導），功課才讓學生自己填（學生做）。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學生最直覺的做法是先化簡再比。這裡把順序反過來：先比定義域。強調「x 不可以是 0」這一句要寫進答案，不能只在心裡想。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只有兩步，刻意比上一張步驟卡短——讓學生感覺得到「這個比較簡單」。值域不用比：定義域和對應關係一樣，值域一定跟著一樣。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 4（約第 32 分鐘）：B 題用第 11 頁的四格帶著填（引導階段）。C 題完成的學生請他把自己設計的例子畫成第 5 頁那種箭頭圖，貼上白板。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請學生用自己的話講一次那句話再下課。回頭翻第 2 頁流程預告，逐項確認四件事都做完（ASD 收束）。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下課前 1 分鐘播這頁。ASD 學生需要知道下一次上課會發生什麼。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單元二．函數的概念與性質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函數的概念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9DE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 x 放進去，只能有一個 y 出來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4206240" cy="658368"/>
          </a:xfrm>
          <a:prstGeom prst="roundRect">
            <a:avLst>
              <a:gd name="adj" fmla="val 50000"/>
            </a:avLst>
          </a:prstGeom>
          <a:solidFill>
            <a:srgbClr val="35564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DE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40 分鐘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257800" y="41605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節 / 全 10 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83880" y="2835326"/>
            <a:ext cx="38862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E7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210" dirty="0"/>
          </a:p>
        </p:txBody>
      </p:sp>
      <p:sp>
        <p:nvSpPr>
          <p:cNvPr id="9" name="Shape 7"/>
          <p:cNvSpPr/>
          <p:nvPr/>
        </p:nvSpPr>
        <p:spPr>
          <a:xfrm>
            <a:off x="8588045" y="3052953"/>
            <a:ext cx="466344" cy="0"/>
          </a:xfrm>
          <a:prstGeom prst="line">
            <a:avLst/>
          </a:prstGeom>
          <a:noFill/>
          <a:ln w="25400">
            <a:solidFill>
              <a:srgbClr val="6FA4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16568" y="2606040"/>
            <a:ext cx="1476756" cy="893826"/>
          </a:xfrm>
          <a:prstGeom prst="roundRect">
            <a:avLst>
              <a:gd name="adj" fmla="val 12276"/>
            </a:avLst>
          </a:prstGeom>
          <a:solidFill>
            <a:srgbClr val="6FA48C"/>
          </a:solidFill>
          <a:ln/>
        </p:spPr>
      </p:sp>
      <p:sp>
        <p:nvSpPr>
          <p:cNvPr id="11" name="Text 9"/>
          <p:cNvSpPr/>
          <p:nvPr/>
        </p:nvSpPr>
        <p:spPr>
          <a:xfrm>
            <a:off x="9116568" y="2606040"/>
            <a:ext cx="1476756" cy="893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90" b="1" dirty="0">
                <a:solidFill>
                  <a:srgbClr val="2E4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2890" dirty="0"/>
          </a:p>
        </p:txBody>
      </p:sp>
      <p:sp>
        <p:nvSpPr>
          <p:cNvPr id="12" name="Shape 10"/>
          <p:cNvSpPr/>
          <p:nvPr/>
        </p:nvSpPr>
        <p:spPr>
          <a:xfrm>
            <a:off x="10655503" y="3052953"/>
            <a:ext cx="466344" cy="0"/>
          </a:xfrm>
          <a:prstGeom prst="line">
            <a:avLst/>
          </a:prstGeom>
          <a:noFill/>
          <a:ln w="25400">
            <a:solidFill>
              <a:srgbClr val="6FA48C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1176254" y="2835326"/>
            <a:ext cx="38862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E7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2210" dirty="0"/>
          </a:p>
        </p:txBody>
      </p:sp>
      <p:sp>
        <p:nvSpPr>
          <p:cNvPr id="14" name="Text 12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函數的概念（抽離小組·融合版）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流程預告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069848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93976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93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27632" y="1874520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快遞收費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069080" y="1874520"/>
            <a:ext cx="7132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一個包裹重量，收多少錢？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2907792"/>
            <a:ext cx="1069848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127248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27632" y="2907792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認識函數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069080" y="2907792"/>
            <a:ext cx="7132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 x，只配一個 y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31520" y="3941064"/>
            <a:ext cx="1069848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16052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27632" y="3941064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三要素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069080" y="3941064"/>
            <a:ext cx="7132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定義域、對應關係、值域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31520" y="4974336"/>
            <a:ext cx="1069848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0120" y="5193792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193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27632" y="4974336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分層練習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069080" y="4974336"/>
            <a:ext cx="7132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/ B / C 三層，自己選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31520" y="6053328"/>
            <a:ext cx="10698480" cy="292608"/>
          </a:xfrm>
          <a:prstGeom prst="roundRect">
            <a:avLst>
              <a:gd name="adj" fmla="val 25000"/>
            </a:avLst>
          </a:prstGeom>
          <a:solidFill>
            <a:srgbClr val="DCEAE3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598932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中間會停兩次，一起做練習。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函數的概念（抽離小組·融合版）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情境：快遞計費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包裹重 1.5 公斤，收多少錢？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60350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快遞收費表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2487168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DCEAE3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487168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&lt; x ≤ 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86200" y="248716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元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05840" y="3310128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DCEAE3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310128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&lt; x ≤ 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86200" y="331012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 元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05840" y="4133088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DCEAE3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133088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&gt; 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886200" y="413308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另議，不在表內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086600" y="1783080"/>
            <a:ext cx="4343400" cy="3246120"/>
          </a:xfrm>
          <a:prstGeom prst="roundRect">
            <a:avLst>
              <a:gd name="adj" fmla="val 3380"/>
            </a:avLst>
          </a:prstGeom>
          <a:solidFill>
            <a:srgbClr val="CFE0D8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60920" y="205740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1.5 公斤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落在哪一格？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360920" y="365760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收費是 ______ 元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31520" y="534924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DCEAE3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34924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答案只有一個 —— 這一點很重要。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函數的概念（抽離小組·融合版）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具體：自動販賣機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按一個按鈕，出一罐飲料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33832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2057400"/>
            <a:ext cx="1828800" cy="685800"/>
          </a:xfrm>
          <a:prstGeom prst="roundRect">
            <a:avLst>
              <a:gd name="adj" fmla="val 49333"/>
            </a:avLst>
          </a:prstGeom>
          <a:solidFill>
            <a:srgbClr val="4E8770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20574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 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0" y="2880360"/>
            <a:ext cx="0" cy="411480"/>
          </a:xfrm>
          <a:prstGeom prst="line">
            <a:avLst/>
          </a:prstGeom>
          <a:noFill/>
          <a:ln w="25400">
            <a:solidFill>
              <a:srgbClr val="4E877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143000" y="336499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可樂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709160" y="1828800"/>
            <a:ext cx="33832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0" y="2057400"/>
            <a:ext cx="1828800" cy="685800"/>
          </a:xfrm>
          <a:prstGeom prst="roundRect">
            <a:avLst>
              <a:gd name="adj" fmla="val 49333"/>
            </a:avLst>
          </a:prstGeom>
          <a:solidFill>
            <a:srgbClr val="4E877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20574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 B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0" y="2880360"/>
            <a:ext cx="0" cy="411480"/>
          </a:xfrm>
          <a:prstGeom prst="line">
            <a:avLst/>
          </a:prstGeom>
          <a:noFill/>
          <a:ln w="25400">
            <a:solidFill>
              <a:srgbClr val="4E877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983480" y="336499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汽水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549640" y="1828800"/>
            <a:ext cx="33832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0" y="2057400"/>
            <a:ext cx="1828800" cy="685800"/>
          </a:xfrm>
          <a:prstGeom prst="roundRect">
            <a:avLst>
              <a:gd name="adj" fmla="val 49333"/>
            </a:avLst>
          </a:prstGeom>
          <a:solidFill>
            <a:srgbClr val="4E8770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0" y="20574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 C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241280" y="2880360"/>
            <a:ext cx="0" cy="411480"/>
          </a:xfrm>
          <a:prstGeom prst="line">
            <a:avLst/>
          </a:prstGeom>
          <a:noFill/>
          <a:ln w="25400">
            <a:solidFill>
              <a:srgbClr val="4E877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823960" y="336499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礦泉水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68680" y="4434840"/>
            <a:ext cx="10469880" cy="777240"/>
          </a:xfrm>
          <a:prstGeom prst="roundRect">
            <a:avLst>
              <a:gd name="adj" fmla="val 9412"/>
            </a:avLst>
          </a:prstGeom>
          <a:solidFill>
            <a:srgbClr val="DCEAE3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44348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按同一個按鈕，出來的永遠是同一樣東西。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143000" y="54406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意思是：同一個輸入，答案不會改變。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函數的概念（抽離小組·融合版）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表徵：對應關係圖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 x，配到幾個 y？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2578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9280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是函數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554480" y="2606040"/>
            <a:ext cx="1325880" cy="2139696"/>
          </a:xfrm>
          <a:prstGeom prst="ellipse">
            <a:avLst/>
          </a:prstGeom>
          <a:ln w="19050">
            <a:solidFill>
              <a:srgbClr val="B9CF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2606040"/>
            <a:ext cx="1325880" cy="2139696"/>
          </a:xfrm>
          <a:prstGeom prst="ellipse">
            <a:avLst/>
          </a:prstGeom>
          <a:ln w="19050">
            <a:solidFill>
              <a:srgbClr val="B9CF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39696" y="3063240"/>
            <a:ext cx="155448" cy="155448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9" name="Text 7"/>
          <p:cNvSpPr/>
          <p:nvPr/>
        </p:nvSpPr>
        <p:spPr>
          <a:xfrm>
            <a:off x="1531620" y="296722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139696" y="3598164"/>
            <a:ext cx="155448" cy="155448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1" name="Text 9"/>
          <p:cNvSpPr/>
          <p:nvPr/>
        </p:nvSpPr>
        <p:spPr>
          <a:xfrm>
            <a:off x="1531620" y="350215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139696" y="4133088"/>
            <a:ext cx="155448" cy="155448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3" name="Text 11"/>
          <p:cNvSpPr/>
          <p:nvPr/>
        </p:nvSpPr>
        <p:spPr>
          <a:xfrm>
            <a:off x="1531620" y="403707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425696" y="3241548"/>
            <a:ext cx="155448" cy="1554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5" name="Text 13"/>
          <p:cNvSpPr/>
          <p:nvPr/>
        </p:nvSpPr>
        <p:spPr>
          <a:xfrm>
            <a:off x="4713732" y="314553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425696" y="3954780"/>
            <a:ext cx="155448" cy="1554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7" name="Text 15"/>
          <p:cNvSpPr/>
          <p:nvPr/>
        </p:nvSpPr>
        <p:spPr>
          <a:xfrm>
            <a:off x="4713732" y="38587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327148" y="3140964"/>
            <a:ext cx="2048256" cy="178308"/>
          </a:xfrm>
          <a:prstGeom prst="line">
            <a:avLst/>
          </a:prstGeom>
          <a:noFill/>
          <a:ln w="22225">
            <a:solidFill>
              <a:srgbClr val="4E877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327148" y="3675888"/>
            <a:ext cx="2048256" cy="356616"/>
          </a:xfrm>
          <a:prstGeom prst="line">
            <a:avLst/>
          </a:prstGeom>
          <a:noFill/>
          <a:ln w="22225">
            <a:solidFill>
              <a:srgbClr val="4E877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2327148" y="4032504"/>
            <a:ext cx="2048256" cy="178308"/>
          </a:xfrm>
          <a:prstGeom prst="line">
            <a:avLst/>
          </a:prstGeom>
          <a:noFill/>
          <a:ln w="22225">
            <a:solidFill>
              <a:srgbClr val="4E877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55080" y="1783080"/>
            <a:ext cx="52578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0" y="189280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不是函數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178040" y="2606040"/>
            <a:ext cx="1325880" cy="2139696"/>
          </a:xfrm>
          <a:prstGeom prst="ellipse">
            <a:avLst/>
          </a:prstGeom>
          <a:ln w="19050">
            <a:solidFill>
              <a:srgbClr val="B9CF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64040" y="2606040"/>
            <a:ext cx="1325880" cy="2139696"/>
          </a:xfrm>
          <a:prstGeom prst="ellipse">
            <a:avLst/>
          </a:prstGeom>
          <a:ln w="19050">
            <a:solidFill>
              <a:srgbClr val="B9CF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63256" y="3241548"/>
            <a:ext cx="155448" cy="155448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26" name="Text 24"/>
          <p:cNvSpPr/>
          <p:nvPr/>
        </p:nvSpPr>
        <p:spPr>
          <a:xfrm>
            <a:off x="7155180" y="314553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763256" y="3954780"/>
            <a:ext cx="155448" cy="155448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28" name="Text 26"/>
          <p:cNvSpPr/>
          <p:nvPr/>
        </p:nvSpPr>
        <p:spPr>
          <a:xfrm>
            <a:off x="7155180" y="38587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0049256" y="3063240"/>
            <a:ext cx="155448" cy="1554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30" name="Text 28"/>
          <p:cNvSpPr/>
          <p:nvPr/>
        </p:nvSpPr>
        <p:spPr>
          <a:xfrm>
            <a:off x="10337292" y="296722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0049256" y="3598164"/>
            <a:ext cx="155448" cy="1554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32" name="Text 30"/>
          <p:cNvSpPr/>
          <p:nvPr/>
        </p:nvSpPr>
        <p:spPr>
          <a:xfrm>
            <a:off x="10337292" y="350215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0049256" y="4133088"/>
            <a:ext cx="155448" cy="1554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34" name="Text 32"/>
          <p:cNvSpPr/>
          <p:nvPr/>
        </p:nvSpPr>
        <p:spPr>
          <a:xfrm>
            <a:off x="10337292" y="403707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 flipV="1">
            <a:off x="7950708" y="3140964"/>
            <a:ext cx="2048256" cy="178308"/>
          </a:xfrm>
          <a:prstGeom prst="line">
            <a:avLst/>
          </a:prstGeom>
          <a:noFill/>
          <a:ln w="22225">
            <a:solidFill>
              <a:srgbClr val="4E877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V="1">
            <a:off x="7950708" y="3675888"/>
            <a:ext cx="2048256" cy="356616"/>
          </a:xfrm>
          <a:prstGeom prst="line">
            <a:avLst/>
          </a:prstGeom>
          <a:noFill/>
          <a:ln w="22225">
            <a:solidFill>
              <a:srgbClr val="4E877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950708" y="4032504"/>
            <a:ext cx="2048256" cy="178308"/>
          </a:xfrm>
          <a:prstGeom prst="line">
            <a:avLst/>
          </a:prstGeom>
          <a:noFill/>
          <a:ln w="22225">
            <a:solidFill>
              <a:srgbClr val="4E877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31520" y="539496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DCEAE3"/>
          </a:solidFill>
          <a:ln/>
        </p:spPr>
      </p:sp>
      <p:sp>
        <p:nvSpPr>
          <p:cNvPr id="39" name="Text 37"/>
          <p:cNvSpPr/>
          <p:nvPr/>
        </p:nvSpPr>
        <p:spPr>
          <a:xfrm>
            <a:off x="1005840" y="539496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分別在：右邊那個 2，配到了兩個答案。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函數的概念（抽離小組·融合版）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迷思澄清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 x 配同一個 y，可以嗎？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25780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202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不可以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一個 x  →  兩個 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" y="352044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一個輸入，出現兩個答案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5257800" cy="2697480"/>
          </a:xfrm>
          <a:prstGeom prst="roundRect">
            <a:avLst>
              <a:gd name="adj" fmla="val 4068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9202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0" y="26060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兩個 x  →  一個 y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583680" y="352044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兩個輸入，答案剛好一樣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31520" y="4800600"/>
            <a:ext cx="10698480" cy="1325880"/>
          </a:xfrm>
          <a:prstGeom prst="roundRect">
            <a:avLst>
              <a:gd name="adj" fmla="val 5517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800600"/>
            <a:ext cx="10149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回到快遞表：1.5 公斤和 2.5 公斤都收 25 元，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兩個重量配同一個價錢 —— 它仍然是函數。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函數的概念（抽離小組·融合版）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寫成數學記號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7223760" cy="1234440"/>
          </a:xfrm>
          <a:prstGeom prst="roundRect">
            <a:avLst>
              <a:gd name="adj" fmla="val 11111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7223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f(x)　，　x ∈ A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75320" y="1737360"/>
            <a:ext cx="3154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49640" y="2169323"/>
            <a:ext cx="329184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872" dirty="0"/>
          </a:p>
        </p:txBody>
      </p:sp>
      <p:sp>
        <p:nvSpPr>
          <p:cNvPr id="8" name="Shape 6"/>
          <p:cNvSpPr/>
          <p:nvPr/>
        </p:nvSpPr>
        <p:spPr>
          <a:xfrm>
            <a:off x="8891991" y="2353666"/>
            <a:ext cx="395021" cy="0"/>
          </a:xfrm>
          <a:prstGeom prst="line">
            <a:avLst/>
          </a:prstGeom>
          <a:noFill/>
          <a:ln w="25400">
            <a:solidFill>
              <a:srgbClr val="4E877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339682" y="1975104"/>
            <a:ext cx="1250899" cy="757123"/>
          </a:xfrm>
          <a:prstGeom prst="roundRect">
            <a:avLst>
              <a:gd name="adj" fmla="val 14493"/>
            </a:avLst>
          </a:prstGeom>
          <a:solidFill>
            <a:srgbClr val="4E8770"/>
          </a:solidFill>
          <a:ln/>
        </p:spPr>
      </p:sp>
      <p:sp>
        <p:nvSpPr>
          <p:cNvPr id="10" name="Text 8"/>
          <p:cNvSpPr/>
          <p:nvPr/>
        </p:nvSpPr>
        <p:spPr>
          <a:xfrm>
            <a:off x="9339682" y="1975104"/>
            <a:ext cx="1250899" cy="757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48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2448" dirty="0"/>
          </a:p>
        </p:txBody>
      </p:sp>
      <p:sp>
        <p:nvSpPr>
          <p:cNvPr id="11" name="Shape 9"/>
          <p:cNvSpPr/>
          <p:nvPr/>
        </p:nvSpPr>
        <p:spPr>
          <a:xfrm>
            <a:off x="10643250" y="2353666"/>
            <a:ext cx="395021" cy="0"/>
          </a:xfrm>
          <a:prstGeom prst="line">
            <a:avLst/>
          </a:prstGeom>
          <a:noFill/>
          <a:ln w="25400">
            <a:solidFill>
              <a:srgbClr val="4E877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1084357" y="2169323"/>
            <a:ext cx="329184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872" dirty="0"/>
          </a:p>
        </p:txBody>
      </p:sp>
      <p:sp>
        <p:nvSpPr>
          <p:cNvPr id="13" name="Shape 11"/>
          <p:cNvSpPr/>
          <p:nvPr/>
        </p:nvSpPr>
        <p:spPr>
          <a:xfrm>
            <a:off x="868680" y="3310128"/>
            <a:ext cx="33832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345643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E8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097280" y="404164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自變量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097280" y="45537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放進去的那個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09160" y="3310128"/>
            <a:ext cx="33832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45643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E8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937760" y="404164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對應關係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937760" y="45537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機器做的那件事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549640" y="3310128"/>
            <a:ext cx="33832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778240" y="345643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E8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f(x)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778240" y="404164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函數值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8778240" y="45537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出來的那個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68680" y="5413248"/>
            <a:ext cx="10469880" cy="713232"/>
          </a:xfrm>
          <a:prstGeom prst="roundRect">
            <a:avLst>
              <a:gd name="adj" fmla="val 10256"/>
            </a:avLst>
          </a:prstGeom>
          <a:solidFill>
            <a:srgbClr val="CFE0D8"/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5413248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讀作「f 作用於 x」，不是 f 乘以 x。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函數的概念（抽離小組·融合版）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步驟卡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判斷「是不是函數」三步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83080"/>
            <a:ext cx="10149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先看清楚：誰是 x（輸入），誰是 y（輸出）。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2953512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53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743200"/>
            <a:ext cx="99669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看定義域裡的每一個 x。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3831336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621024"/>
            <a:ext cx="99669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數清楚：這個 x 配到幾個 y。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470916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498848"/>
            <a:ext cx="99669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x 都剛好配 1 個 → 是函數。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只要有一個 x 配到 2 個或以上 → 不是函數。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31520" y="5596128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5596128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下一頁：一起做練習一。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函數的概念（抽離小組·融合版）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練習一 · 自選星星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是不是函數？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587496" cy="397764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783080"/>
            <a:ext cx="3587496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37944"/>
            <a:ext cx="3221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40080" y="2203704"/>
            <a:ext cx="3221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76656" y="2770632"/>
            <a:ext cx="31668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每個學生 → 他的身高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6656" y="4251960"/>
            <a:ext cx="31668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每個人 → 他的生日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00728" y="1783080"/>
            <a:ext cx="3587496" cy="397764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00728" y="1783080"/>
            <a:ext cx="3587496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483608" y="1837944"/>
            <a:ext cx="3221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483608" y="2203704"/>
            <a:ext cx="3221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20184" y="2770632"/>
            <a:ext cx="31668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y = 2x + 1（x ∈ R）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20184" y="4251960"/>
            <a:ext cx="31668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x：1、2、3</a:t>
            </a:r>
            <a:endParaRPr lang="en-US" sz="2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y：5、5、7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44256" y="1783080"/>
            <a:ext cx="3587496" cy="397764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44256" y="1783080"/>
            <a:ext cx="3587496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327136" y="1837944"/>
            <a:ext cx="3221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327136" y="2203704"/>
            <a:ext cx="3221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63712" y="2770632"/>
            <a:ext cx="31668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每個正數 →</a:t>
            </a:r>
            <a:endParaRPr lang="en-US" sz="2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它的平方根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63712" y="4251960"/>
            <a:ext cx="31668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這是不是函數？</a:t>
            </a:r>
            <a:endParaRPr lang="en-US" sz="2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說明你的理由。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　三層都是同一個概念，只是鷹架不同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函數的概念（抽離小組·融合版）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函數的三要素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68680" y="178308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3383280" cy="777240"/>
          </a:xfrm>
          <a:prstGeom prst="roundRect">
            <a:avLst>
              <a:gd name="adj" fmla="val 14118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7830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定義域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可以取的範圍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097280" y="365760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DCEAE3"/>
          </a:solidFill>
          <a:ln/>
        </p:spPr>
      </p:sp>
      <p:sp>
        <p:nvSpPr>
          <p:cNvPr id="9" name="Text 7"/>
          <p:cNvSpPr/>
          <p:nvPr/>
        </p:nvSpPr>
        <p:spPr>
          <a:xfrm>
            <a:off x="1252728" y="3657600"/>
            <a:ext cx="261518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&lt; x ≤ 3（公斤）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709160" y="178308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783080"/>
            <a:ext cx="3383280" cy="777240"/>
          </a:xfrm>
          <a:prstGeom prst="roundRect">
            <a:avLst>
              <a:gd name="adj" fmla="val 14118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7830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對應關係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937760" y="27432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x 算出 y 的規則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4937760" y="365760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DCEAE3"/>
          </a:solidFill>
          <a:ln/>
        </p:spPr>
      </p:sp>
      <p:sp>
        <p:nvSpPr>
          <p:cNvPr id="15" name="Text 13"/>
          <p:cNvSpPr/>
          <p:nvPr/>
        </p:nvSpPr>
        <p:spPr>
          <a:xfrm>
            <a:off x="5093208" y="3657600"/>
            <a:ext cx="261518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0&lt;x≤1 收 15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1&lt;x≤3 收 25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549640" y="178308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49640" y="1783080"/>
            <a:ext cx="3383280" cy="777240"/>
          </a:xfrm>
          <a:prstGeom prst="roundRect">
            <a:avLst>
              <a:gd name="adj" fmla="val 14118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0" y="17830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值域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778240" y="27432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 y 合起來的集合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8778240" y="365760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DCEAE3"/>
          </a:solidFill>
          <a:ln/>
        </p:spPr>
      </p:sp>
      <p:sp>
        <p:nvSpPr>
          <p:cNvPr id="21" name="Text 19"/>
          <p:cNvSpPr/>
          <p:nvPr/>
        </p:nvSpPr>
        <p:spPr>
          <a:xfrm>
            <a:off x="8933688" y="3657600"/>
            <a:ext cx="261518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15 , 25 }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68680" y="5074920"/>
            <a:ext cx="10469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灰底格 = 快遞計費那個函數的三要素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868680" y="5532120"/>
            <a:ext cx="10469880" cy="658368"/>
          </a:xfrm>
          <a:prstGeom prst="roundRect">
            <a:avLst>
              <a:gd name="adj" fmla="val 11111"/>
            </a:avLst>
          </a:prstGeom>
          <a:solidFill>
            <a:srgbClr val="CFE0D8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553212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值域是算出來的結果，不用另外去「規定」它。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函數的概念（抽離小組·融合版）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視覺鷹架（示範）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四格填空：把三要素寫出來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94767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是不是函數？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51560" y="2496312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是。每個重量只對應一個收費。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94767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定義域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537960" y="2496312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&lt; x ≤ 3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2960" y="3858768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40233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對應關係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51560" y="45720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0&lt;x≤1 收 15 元；1&lt;x≤3 收 25 元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309360" y="3858768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40233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值域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537960" y="45720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15 , 25 }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22960" y="5779008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779008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之後每一題，都用這四格寫。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函數的概念（抽離小組·融合版）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迷思澄清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式子化簡後一樣，就是同一函數嗎？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2578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5740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60120" y="297180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可以是任何實數，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包括 0。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355080" y="1783080"/>
            <a:ext cx="5257800" cy="2377440"/>
          </a:xfrm>
          <a:prstGeom prst="roundRect">
            <a:avLst>
              <a:gd name="adj" fmla="val 4615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167890"/>
            <a:ext cx="816864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7446264" y="2491740"/>
            <a:ext cx="587085" cy="0"/>
          </a:xfrm>
          <a:prstGeom prst="line">
            <a:avLst/>
          </a:prstGeom>
          <a:noFill/>
          <a:ln w="28575">
            <a:solidFill>
              <a:srgbClr val="233A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73696" y="1948363"/>
            <a:ext cx="532221" cy="5699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992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x²</a:t>
            </a:r>
            <a:endParaRPr lang="en-US" sz="2992" dirty="0"/>
          </a:p>
        </p:txBody>
      </p:sp>
      <p:sp>
        <p:nvSpPr>
          <p:cNvPr id="11" name="Text 9"/>
          <p:cNvSpPr/>
          <p:nvPr/>
        </p:nvSpPr>
        <p:spPr>
          <a:xfrm>
            <a:off x="7583891" y="2465141"/>
            <a:ext cx="311831" cy="5699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992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992" dirty="0"/>
          </a:p>
        </p:txBody>
      </p:sp>
      <p:sp>
        <p:nvSpPr>
          <p:cNvPr id="12" name="Text 10"/>
          <p:cNvSpPr/>
          <p:nvPr/>
        </p:nvSpPr>
        <p:spPr>
          <a:xfrm>
            <a:off x="6583680" y="297180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分母不能是 0，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 x 不可以是 0。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31520" y="448056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DCEAE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48056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化簡後都是 y = x，但定義域不同 —— 不是同一函數。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1005840" y="5532120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先看定義域，才看式子。式子是後看的。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函數的概念（抽離小組·融合版）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步驟卡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判斷「是不是同一函數」兩步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83080"/>
            <a:ext cx="10149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兩個都要一樣，才算同一函數。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172968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743200"/>
            <a:ext cx="99669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比定義域：兩個 x 的可取範圍一樣嗎？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4489704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489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4059936"/>
            <a:ext cx="99669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比對應關係：由 x 算出 y 的規則一樣嗎？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1520" y="5596128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5596128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下一頁：一起做練習二。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函數的概念（抽離小組·融合版）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練習二 · 自選星星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三要素與同一函數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587496" cy="397764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783080"/>
            <a:ext cx="3587496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37944"/>
            <a:ext cx="3221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40080" y="2203704"/>
            <a:ext cx="3221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76656" y="2770632"/>
            <a:ext cx="31668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y = 2x，x ∈ {1, 2, 3}</a:t>
            </a:r>
            <a:endParaRPr lang="en-US" sz="2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寫出定義域和值域。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00728" y="1783080"/>
            <a:ext cx="3587496" cy="397764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00728" y="1783080"/>
            <a:ext cx="3587496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1" name="Text 9"/>
          <p:cNvSpPr/>
          <p:nvPr/>
        </p:nvSpPr>
        <p:spPr>
          <a:xfrm>
            <a:off x="4483608" y="1837944"/>
            <a:ext cx="3221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483608" y="2203704"/>
            <a:ext cx="3221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20184" y="2770632"/>
            <a:ext cx="3166872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y = x + 1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20184" y="3151632"/>
            <a:ext cx="3166872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與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20184" y="3532632"/>
            <a:ext cx="838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y = 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04104" y="3723132"/>
            <a:ext cx="781101" cy="0"/>
          </a:xfrm>
          <a:prstGeom prst="line">
            <a:avLst/>
          </a:prstGeom>
          <a:noFill/>
          <a:ln w="28575">
            <a:solidFill>
              <a:srgbClr val="233A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1536" y="3403498"/>
            <a:ext cx="726237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x² − 1</a:t>
            </a:r>
            <a:endParaRPr lang="en-US" sz="1760" dirty="0"/>
          </a:p>
        </p:txBody>
      </p:sp>
      <p:sp>
        <p:nvSpPr>
          <p:cNvPr id="18" name="Text 16"/>
          <p:cNvSpPr/>
          <p:nvPr/>
        </p:nvSpPr>
        <p:spPr>
          <a:xfrm>
            <a:off x="5496357" y="3707486"/>
            <a:ext cx="596595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− 1</a:t>
            </a:r>
            <a:endParaRPr lang="en-US" sz="1760" dirty="0"/>
          </a:p>
        </p:txBody>
      </p:sp>
      <p:sp>
        <p:nvSpPr>
          <p:cNvPr id="19" name="Text 17"/>
          <p:cNvSpPr/>
          <p:nvPr/>
        </p:nvSpPr>
        <p:spPr>
          <a:xfrm>
            <a:off x="4520184" y="3913632"/>
            <a:ext cx="3166872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是同一函數嗎？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144256" y="1783080"/>
            <a:ext cx="3587496" cy="397764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44256" y="1783080"/>
            <a:ext cx="3587496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22" name="Text 20"/>
          <p:cNvSpPr/>
          <p:nvPr/>
        </p:nvSpPr>
        <p:spPr>
          <a:xfrm>
            <a:off x="8327136" y="1837944"/>
            <a:ext cx="3221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8327136" y="2203704"/>
            <a:ext cx="3221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363712" y="2770632"/>
            <a:ext cx="31668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自己設計一個</a:t>
            </a:r>
            <a:endParaRPr lang="en-US" sz="2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「不是函數」的</a:t>
            </a:r>
            <a:endParaRPr lang="en-US" sz="2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對應關係。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363712" y="4251960"/>
            <a:ext cx="31668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說明為什麼不是。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　三層都是同一個概念，只是鷹架不同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函數的概念（抽離小組·融合版）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82880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 x 放進去，只能有一個 y 出來。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65760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3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問自己「這個 x 配到幾個 y？」剛好 1 個，就是函數。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530352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CFE0D8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530352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三要素：定義域看 x　·　對應關係看規則　·　值域看 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函數的概念（抽離小組·融合版）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83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下一節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區間記號與定義域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3566160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35564E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3776472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776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19072" y="356616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[ ] 和 ( ) 把一段範圍寫得更短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22960" y="4590288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35564E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480060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19072" y="4590288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看到根號、看到分母，定義域怎麼求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22960" y="5715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今天那句話會一直用下去：一個 x，只配一個 y。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函數的概念（抽離小組·融合版）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函數的概念（融合抽離版）</dc:title>
  <dc:subject>PptxGenJS Presentation</dc:subject>
  <dc:creator>高一數學抽離小組</dc:creator>
  <cp:lastModifiedBy>高一數學抽離小組</cp:lastModifiedBy>
  <cp:revision>1</cp:revision>
  <dcterms:created xsi:type="dcterms:W3CDTF">2026-08-07T06:50:19Z</dcterms:created>
  <dcterms:modified xsi:type="dcterms:W3CDTF">2026-08-07T06:50:19Z</dcterms:modified>
</cp:coreProperties>
</file>