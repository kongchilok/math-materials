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4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548640"/>
            <a:ext cx="5120640" cy="5760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0" dirty="0">
                <a:solidFill>
                  <a:srgbClr val="3E534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 }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分數指數冪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抽離小組 · 第 2 課（40 分鐘）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7091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9DBAA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帶走一句：根指數落分母，次方上分子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今日課堂流程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0876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563624" y="1508760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37944" y="1508760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根式相乘，點解咁難計？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414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563624" y="2441448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37944" y="2557145"/>
            <a:ext cx="19309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2021380" y="2828798"/>
            <a:ext cx="51059" cy="87630"/>
          </a:xfrm>
          <a:prstGeom prst="line">
            <a:avLst/>
          </a:prstGeom>
          <a:noFill/>
          <a:ln w="13794">
            <a:solidFill>
              <a:srgbClr val="2E4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072439" y="2609139"/>
            <a:ext cx="83307" cy="307289"/>
          </a:xfrm>
          <a:prstGeom prst="line">
            <a:avLst/>
          </a:prstGeom>
          <a:noFill/>
          <a:ln w="13794">
            <a:solidFill>
              <a:srgbClr val="2E4A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55746" y="2609139"/>
            <a:ext cx="470336" cy="0"/>
          </a:xfrm>
          <a:prstGeom prst="line">
            <a:avLst/>
          </a:prstGeom>
          <a:noFill/>
          <a:ln w="15173">
            <a:solidFill>
              <a:srgbClr val="2E4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74034" y="2615565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407385" y="2581974"/>
            <a:ext cx="196479" cy="2716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26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26" dirty="0"/>
          </a:p>
        </p:txBody>
      </p:sp>
      <p:sp>
        <p:nvSpPr>
          <p:cNvPr id="19" name="Text 17"/>
          <p:cNvSpPr/>
          <p:nvPr/>
        </p:nvSpPr>
        <p:spPr>
          <a:xfrm>
            <a:off x="2642328" y="2615565"/>
            <a:ext cx="1411732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點樣變成 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4054060" y="2615565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4314413" y="2717800"/>
            <a:ext cx="238738" cy="0"/>
          </a:xfrm>
          <a:prstGeom prst="line">
            <a:avLst/>
          </a:prstGeom>
          <a:noFill/>
          <a:ln w="28575">
            <a:solidFill>
              <a:srgbClr val="2E4A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1845" y="2489901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255" dirty="0"/>
          </a:p>
        </p:txBody>
      </p:sp>
      <p:sp>
        <p:nvSpPr>
          <p:cNvPr id="23" name="Text 21"/>
          <p:cNvSpPr/>
          <p:nvPr/>
        </p:nvSpPr>
        <p:spPr>
          <a:xfrm>
            <a:off x="4341845" y="2739615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255" dirty="0"/>
          </a:p>
        </p:txBody>
      </p:sp>
      <p:sp>
        <p:nvSpPr>
          <p:cNvPr id="24" name="Shape 22"/>
          <p:cNvSpPr/>
          <p:nvPr/>
        </p:nvSpPr>
        <p:spPr>
          <a:xfrm>
            <a:off x="548640" y="3374136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37413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563624" y="3374136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37944" y="3374136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轉咗做指數之後，法則好簡單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48640" y="4306824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306824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1563624" y="4306824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37944" y="4306824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分層練習：揀一層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中間會停兩次，一齊做練習。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先想一想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2194560"/>
          </a:xfrm>
          <a:prstGeom prst="roundRect">
            <a:avLst>
              <a:gd name="adj" fmla="val 4167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06930"/>
            <a:ext cx="22402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27227" y="2461260"/>
            <a:ext cx="66599" cy="11430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93825" y="2240280"/>
            <a:ext cx="108661" cy="33528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2487" y="2240280"/>
            <a:ext cx="348996" cy="0"/>
          </a:xfrm>
          <a:prstGeom prst="line">
            <a:avLst/>
          </a:prstGeom>
          <a:noFill/>
          <a:ln w="19791">
            <a:solidFill>
              <a:srgbClr val="2E4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0775" y="2183130"/>
            <a:ext cx="31242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61541" y="2183130"/>
            <a:ext cx="51054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72081" y="2106930"/>
            <a:ext cx="35661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10866" y="2461260"/>
            <a:ext cx="66599" cy="11430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577465" y="2240280"/>
            <a:ext cx="108661" cy="33528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86126" y="2240280"/>
            <a:ext cx="348996" cy="0"/>
          </a:xfrm>
          <a:prstGeom prst="line">
            <a:avLst/>
          </a:prstGeom>
          <a:noFill/>
          <a:ln w="19791">
            <a:solidFill>
              <a:srgbClr val="2E4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4414" y="2183130"/>
            <a:ext cx="31242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018663" y="2183130"/>
            <a:ext cx="2095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等於幾多？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4400" y="2971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兩個根指數唔同，用根式冇得直接乘埋，卡住。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但係轉成分數指數，就變返做「指數相加」—— 一行搞掂。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轉換點：一齊試吓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 → 分數指數：邊個數去邊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4008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2065" y="2203907"/>
            <a:ext cx="26822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26878" y="2676347"/>
            <a:ext cx="88798" cy="152400"/>
          </a:xfrm>
          <a:prstGeom prst="line">
            <a:avLst/>
          </a:prstGeom>
          <a:noFill/>
          <a:ln w="23989">
            <a:solidFill>
              <a:srgbClr val="2E4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15676" y="2294331"/>
            <a:ext cx="144882" cy="534416"/>
          </a:xfrm>
          <a:prstGeom prst="line">
            <a:avLst/>
          </a:prstGeom>
          <a:noFill/>
          <a:ln w="23989">
            <a:solidFill>
              <a:srgbClr val="2E4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60558" y="2294331"/>
            <a:ext cx="663879" cy="0"/>
          </a:xfrm>
          <a:prstGeom prst="line">
            <a:avLst/>
          </a:prstGeom>
          <a:noFill/>
          <a:ln w="26388">
            <a:solidFill>
              <a:srgbClr val="2E4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8846" y="2305507"/>
            <a:ext cx="38608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26549" y="2247087"/>
            <a:ext cx="274117" cy="472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8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80" dirty="0"/>
          </a:p>
        </p:txBody>
      </p:sp>
      <p:sp>
        <p:nvSpPr>
          <p:cNvPr id="13" name="Text 11"/>
          <p:cNvSpPr/>
          <p:nvPr/>
        </p:nvSpPr>
        <p:spPr>
          <a:xfrm>
            <a:off x="3525656" y="2305507"/>
            <a:ext cx="86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＝ 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89256" y="2305507"/>
            <a:ext cx="38608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4765266" y="2483307"/>
            <a:ext cx="307060" cy="0"/>
          </a:xfrm>
          <a:prstGeom prst="line">
            <a:avLst/>
          </a:prstGeom>
          <a:noFill/>
          <a:ln w="28575">
            <a:solidFill>
              <a:srgbClr val="2E4A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2698" y="2086962"/>
            <a:ext cx="252196" cy="4157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82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82" dirty="0"/>
          </a:p>
        </p:txBody>
      </p:sp>
      <p:sp>
        <p:nvSpPr>
          <p:cNvPr id="17" name="Text 15"/>
          <p:cNvSpPr/>
          <p:nvPr/>
        </p:nvSpPr>
        <p:spPr>
          <a:xfrm>
            <a:off x="4792698" y="2487452"/>
            <a:ext cx="252196" cy="4157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82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182" dirty="0"/>
          </a:p>
        </p:txBody>
      </p:sp>
      <p:sp>
        <p:nvSpPr>
          <p:cNvPr id="18" name="Shape 16"/>
          <p:cNvSpPr/>
          <p:nvPr/>
        </p:nvSpPr>
        <p:spPr>
          <a:xfrm>
            <a:off x="777240" y="3622853"/>
            <a:ext cx="2811780" cy="877824"/>
          </a:xfrm>
          <a:prstGeom prst="roundRect">
            <a:avLst>
              <a:gd name="adj" fmla="val 8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622853"/>
            <a:ext cx="26289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　→　</a:t>
            </a:r>
            <a:pPr algn="ctr" indent="0" marL="0">
              <a:buNone/>
            </a:pPr>
            <a:r>
              <a:rPr lang="en-US" sz="1900" b="1" dirty="0">
                <a:solidFill>
                  <a:srgbClr val="5E857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落去分母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909060" y="3622853"/>
            <a:ext cx="2811780" cy="877824"/>
          </a:xfrm>
          <a:prstGeom prst="roundRect">
            <a:avLst>
              <a:gd name="adj" fmla="val 8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0500" y="3622853"/>
            <a:ext cx="26289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 2　→　</a:t>
            </a:r>
            <a:pPr algn="ctr" indent="0" marL="0">
              <a:buNone/>
            </a:pPr>
            <a:r>
              <a:rPr lang="en-US" sz="1900" b="1" dirty="0">
                <a:solidFill>
                  <a:srgbClr val="5E857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上去分子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下面開方，上面次方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60920" y="1742186"/>
            <a:ext cx="19309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80" dirty="0"/>
          </a:p>
        </p:txBody>
      </p:sp>
      <p:sp>
        <p:nvSpPr>
          <p:cNvPr id="24" name="Shape 22"/>
          <p:cNvSpPr/>
          <p:nvPr/>
        </p:nvSpPr>
        <p:spPr>
          <a:xfrm>
            <a:off x="7544356" y="2013839"/>
            <a:ext cx="51059" cy="87630"/>
          </a:xfrm>
          <a:prstGeom prst="line">
            <a:avLst/>
          </a:prstGeom>
          <a:noFill/>
          <a:ln w="13794">
            <a:solidFill>
              <a:srgbClr val="202A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595415" y="1794180"/>
            <a:ext cx="83307" cy="307289"/>
          </a:xfrm>
          <a:prstGeom prst="line">
            <a:avLst/>
          </a:prstGeom>
          <a:noFill/>
          <a:ln w="13794">
            <a:solidFill>
              <a:srgbClr val="202A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78722" y="1794180"/>
            <a:ext cx="470336" cy="0"/>
          </a:xfrm>
          <a:prstGeom prst="line">
            <a:avLst/>
          </a:prstGeom>
          <a:noFill/>
          <a:ln w="15173">
            <a:solidFill>
              <a:srgbClr val="202A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97010" y="1800606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7930361" y="1767015"/>
            <a:ext cx="196479" cy="2716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2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26" dirty="0"/>
          </a:p>
        </p:txBody>
      </p:sp>
      <p:sp>
        <p:nvSpPr>
          <p:cNvPr id="29" name="Text 27"/>
          <p:cNvSpPr/>
          <p:nvPr/>
        </p:nvSpPr>
        <p:spPr>
          <a:xfrm>
            <a:off x="8165304" y="1800606"/>
            <a:ext cx="1043686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讀做：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7360920" y="2256282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「a 嘅平方，開 3 次方」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7360920" y="3202686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→ 做分母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7360920" y="4149090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 2 → 做分子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7360920" y="5115385"/>
            <a:ext cx="1335786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所以寫成 </a:t>
            </a:r>
            <a:endParaRPr lang="en-US" sz="2300" dirty="0"/>
          </a:p>
        </p:txBody>
      </p:sp>
      <p:sp>
        <p:nvSpPr>
          <p:cNvPr id="34" name="Text 32"/>
          <p:cNvSpPr/>
          <p:nvPr/>
        </p:nvSpPr>
        <p:spPr>
          <a:xfrm>
            <a:off x="8696706" y="5115385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35" name="Shape 33"/>
          <p:cNvSpPr/>
          <p:nvPr/>
        </p:nvSpPr>
        <p:spPr>
          <a:xfrm>
            <a:off x="8957059" y="5217620"/>
            <a:ext cx="23873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84491" y="4989721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55" dirty="0"/>
          </a:p>
        </p:txBody>
      </p:sp>
      <p:sp>
        <p:nvSpPr>
          <p:cNvPr id="37" name="Text 35"/>
          <p:cNvSpPr/>
          <p:nvPr/>
        </p:nvSpPr>
        <p:spPr>
          <a:xfrm>
            <a:off x="8984491" y="5239435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5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五個對照，睇熟佢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10896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81328"/>
            <a:ext cx="310896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657600" y="1481328"/>
            <a:ext cx="320040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481328"/>
            <a:ext cx="320040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分數指數冪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858000" y="1481328"/>
            <a:ext cx="475488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48132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點記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226618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392" y="265303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15231" y="2490978"/>
            <a:ext cx="79685" cy="245872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4916" y="2490978"/>
            <a:ext cx="290068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3204" y="244906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657600" y="226618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7544" y="244906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41093" y="254685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68525" y="232886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68525" y="2569712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226618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26618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冇寫根指數 =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3051048"/>
            <a:ext cx="310896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95640" y="3178048"/>
            <a:ext cx="1886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20" dirty="0"/>
          </a:p>
        </p:txBody>
      </p:sp>
      <p:sp>
        <p:nvSpPr>
          <p:cNvPr id="26" name="Shape 24"/>
          <p:cNvSpPr/>
          <p:nvPr/>
        </p:nvSpPr>
        <p:spPr>
          <a:xfrm>
            <a:off x="1974878" y="343789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23717" y="3275838"/>
            <a:ext cx="79685" cy="245872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402" y="3275838"/>
            <a:ext cx="290068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21690" y="323392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3657600" y="3051048"/>
            <a:ext cx="320040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7544" y="323392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5241093" y="333171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68525" y="311372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68525" y="3354572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58000" y="3051048"/>
            <a:ext cx="475488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05104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→ 分母 3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8640" y="383590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11199" y="3962908"/>
            <a:ext cx="1886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20" dirty="0"/>
          </a:p>
        </p:txBody>
      </p:sp>
      <p:sp>
        <p:nvSpPr>
          <p:cNvPr id="39" name="Shape 37"/>
          <p:cNvSpPr/>
          <p:nvPr/>
        </p:nvSpPr>
        <p:spPr>
          <a:xfrm>
            <a:off x="1890437" y="422275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39276" y="4012641"/>
            <a:ext cx="79685" cy="293929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18961" y="4012641"/>
            <a:ext cx="458951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37249" y="401878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2263873" y="398665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64" dirty="0"/>
          </a:p>
        </p:txBody>
      </p:sp>
      <p:sp>
        <p:nvSpPr>
          <p:cNvPr id="44" name="Shape 42"/>
          <p:cNvSpPr/>
          <p:nvPr/>
        </p:nvSpPr>
        <p:spPr>
          <a:xfrm>
            <a:off x="3657600" y="383590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87544" y="401878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46" name="Shape 44"/>
          <p:cNvSpPr/>
          <p:nvPr/>
        </p:nvSpPr>
        <p:spPr>
          <a:xfrm>
            <a:off x="5241093" y="411657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68525" y="389858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268525" y="4139432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58000" y="383590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0" y="383590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再加次方 2 → 分子 2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548640" y="4620768"/>
            <a:ext cx="310896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81951" y="500761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830790" y="4797501"/>
            <a:ext cx="79685" cy="293929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10475" y="4797501"/>
            <a:ext cx="458951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8763" y="480364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2155387" y="477151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64" dirty="0"/>
          </a:p>
        </p:txBody>
      </p:sp>
      <p:sp>
        <p:nvSpPr>
          <p:cNvPr id="57" name="Shape 55"/>
          <p:cNvSpPr/>
          <p:nvPr/>
        </p:nvSpPr>
        <p:spPr>
          <a:xfrm>
            <a:off x="3657600" y="4620768"/>
            <a:ext cx="320040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87544" y="480364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59" name="Shape 57"/>
          <p:cNvSpPr/>
          <p:nvPr/>
        </p:nvSpPr>
        <p:spPr>
          <a:xfrm>
            <a:off x="5241093" y="490143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68525" y="468344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68525" y="4924292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58000" y="4620768"/>
            <a:ext cx="475488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58000" y="462076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2、次方 3</a:t>
            </a:r>
            <a:endParaRPr lang="en-US" sz="2000" dirty="0"/>
          </a:p>
        </p:txBody>
      </p:sp>
      <p:sp>
        <p:nvSpPr>
          <p:cNvPr id="64" name="Shape 62"/>
          <p:cNvSpPr/>
          <p:nvPr/>
        </p:nvSpPr>
        <p:spPr>
          <a:xfrm>
            <a:off x="548640" y="540562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10882" y="5798058"/>
            <a:ext cx="784476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86097" y="5446461"/>
            <a:ext cx="23404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36" dirty="0"/>
          </a:p>
        </p:txBody>
      </p:sp>
      <p:sp>
        <p:nvSpPr>
          <p:cNvPr id="67" name="Text 65"/>
          <p:cNvSpPr/>
          <p:nvPr/>
        </p:nvSpPr>
        <p:spPr>
          <a:xfrm>
            <a:off x="1738314" y="5843778"/>
            <a:ext cx="177003" cy="1917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6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62" dirty="0"/>
          </a:p>
        </p:txBody>
      </p:sp>
      <p:sp>
        <p:nvSpPr>
          <p:cNvPr id="68" name="Shape 66"/>
          <p:cNvSpPr/>
          <p:nvPr/>
        </p:nvSpPr>
        <p:spPr>
          <a:xfrm>
            <a:off x="1906467" y="6072439"/>
            <a:ext cx="42978" cy="73762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949446" y="5887543"/>
            <a:ext cx="70123" cy="258657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019568" y="5887543"/>
            <a:ext cx="428895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37856" y="5892952"/>
            <a:ext cx="234046" cy="3688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936" dirty="0"/>
          </a:p>
        </p:txBody>
      </p:sp>
      <p:sp>
        <p:nvSpPr>
          <p:cNvPr id="72" name="Text 70"/>
          <p:cNvSpPr/>
          <p:nvPr/>
        </p:nvSpPr>
        <p:spPr>
          <a:xfrm>
            <a:off x="2246722" y="586467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657600" y="540562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03102" y="558850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75" name="Text 73"/>
          <p:cNvSpPr/>
          <p:nvPr/>
        </p:nvSpPr>
        <p:spPr>
          <a:xfrm>
            <a:off x="5084064" y="555637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64" dirty="0"/>
          </a:p>
        </p:txBody>
      </p:sp>
      <p:sp>
        <p:nvSpPr>
          <p:cNvPr id="76" name="Shape 74"/>
          <p:cNvSpPr/>
          <p:nvPr/>
        </p:nvSpPr>
        <p:spPr>
          <a:xfrm>
            <a:off x="5321697" y="568629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349129" y="546830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5349129" y="5709152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6858000" y="540562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58000" y="540562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喺分母 → 指數加負號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練習一：根式 ↔ 分數指數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★☆☆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寫成分數指數：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22960" y="3315462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38428" y="3262122"/>
            <a:ext cx="184252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60" dirty="0"/>
          </a:p>
        </p:txBody>
      </p:sp>
      <p:sp>
        <p:nvSpPr>
          <p:cNvPr id="13" name="Shape 11"/>
          <p:cNvSpPr/>
          <p:nvPr/>
        </p:nvSpPr>
        <p:spPr>
          <a:xfrm>
            <a:off x="1313467" y="3510153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360086" y="3309595"/>
            <a:ext cx="76063" cy="280568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36149" y="3309595"/>
            <a:ext cx="44756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54437" y="3315462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674335" y="3284792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2" dirty="0"/>
          </a:p>
        </p:txBody>
      </p:sp>
      <p:sp>
        <p:nvSpPr>
          <p:cNvPr id="18" name="Text 16"/>
          <p:cNvSpPr/>
          <p:nvPr/>
        </p:nvSpPr>
        <p:spPr>
          <a:xfrm>
            <a:off x="1901729" y="3315462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2960" y="4116324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138428" y="4311015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85047" y="4156329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1110" y="4156329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79398" y="4116324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598676" y="4116324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4325112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25112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27" name="Text 25"/>
          <p:cNvSpPr/>
          <p:nvPr/>
        </p:nvSpPr>
        <p:spPr>
          <a:xfrm>
            <a:off x="4325112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325112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B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99432" y="25146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14900" y="27092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961519" y="2508733"/>
            <a:ext cx="76063" cy="280568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37582" y="2508733"/>
            <a:ext cx="44756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55870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5275768" y="24839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35" name="Text 33"/>
          <p:cNvSpPr/>
          <p:nvPr/>
        </p:nvSpPr>
        <p:spPr>
          <a:xfrm>
            <a:off x="5540012" y="25146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4599432" y="3467725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4960620" y="3667750"/>
            <a:ext cx="76640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038" y="3332135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48" dirty="0"/>
          </a:p>
        </p:txBody>
      </p:sp>
      <p:sp>
        <p:nvSpPr>
          <p:cNvPr id="39" name="Text 37"/>
          <p:cNvSpPr/>
          <p:nvPr/>
        </p:nvSpPr>
        <p:spPr>
          <a:xfrm>
            <a:off x="4988052" y="3713470"/>
            <a:ext cx="173114" cy="183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9" dirty="0"/>
          </a:p>
        </p:txBody>
      </p:sp>
      <p:sp>
        <p:nvSpPr>
          <p:cNvPr id="40" name="Shape 38"/>
          <p:cNvSpPr/>
          <p:nvPr/>
        </p:nvSpPr>
        <p:spPr>
          <a:xfrm>
            <a:off x="5152510" y="3931737"/>
            <a:ext cx="41025" cy="70409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193535" y="3755246"/>
            <a:ext cx="66935" cy="24690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60471" y="3755246"/>
            <a:ext cx="41887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78759" y="3760409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48" dirty="0"/>
          </a:p>
        </p:txBody>
      </p:sp>
      <p:sp>
        <p:nvSpPr>
          <p:cNvPr id="44" name="Text 42"/>
          <p:cNvSpPr/>
          <p:nvPr/>
        </p:nvSpPr>
        <p:spPr>
          <a:xfrm>
            <a:off x="5481705" y="373341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46" dirty="0"/>
          </a:p>
        </p:txBody>
      </p:sp>
      <p:sp>
        <p:nvSpPr>
          <p:cNvPr id="45" name="Text 43"/>
          <p:cNvSpPr/>
          <p:nvPr/>
        </p:nvSpPr>
        <p:spPr>
          <a:xfrm>
            <a:off x="5772740" y="3467725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4599432" y="4532803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</a:t>
            </a:r>
            <a:endParaRPr lang="en-US" sz="2100" dirty="0"/>
          </a:p>
        </p:txBody>
      </p:sp>
      <p:sp>
        <p:nvSpPr>
          <p:cNvPr id="47" name="Shape 45"/>
          <p:cNvSpPr/>
          <p:nvPr/>
        </p:nvSpPr>
        <p:spPr>
          <a:xfrm>
            <a:off x="4960620" y="4732828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88052" y="4397212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48" dirty="0"/>
          </a:p>
        </p:txBody>
      </p:sp>
      <p:sp>
        <p:nvSpPr>
          <p:cNvPr id="49" name="Text 47"/>
          <p:cNvSpPr/>
          <p:nvPr/>
        </p:nvSpPr>
        <p:spPr>
          <a:xfrm>
            <a:off x="4988052" y="4743343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848" dirty="0"/>
          </a:p>
        </p:txBody>
      </p:sp>
      <p:sp>
        <p:nvSpPr>
          <p:cNvPr id="50" name="Shape 48"/>
          <p:cNvSpPr/>
          <p:nvPr/>
        </p:nvSpPr>
        <p:spPr>
          <a:xfrm>
            <a:off x="5289388" y="4626148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16820" y="4418066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52" name="Text 50"/>
          <p:cNvSpPr/>
          <p:nvPr/>
        </p:nvSpPr>
        <p:spPr>
          <a:xfrm>
            <a:off x="5316820" y="4650041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53" name="Text 51"/>
          <p:cNvSpPr/>
          <p:nvPr/>
        </p:nvSpPr>
        <p:spPr>
          <a:xfrm>
            <a:off x="5572251" y="4532803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8101584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01584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56" name="Text 54"/>
          <p:cNvSpPr/>
          <p:nvPr/>
        </p:nvSpPr>
        <p:spPr>
          <a:xfrm>
            <a:off x="8101584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★★★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8101584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C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8375904" y="2515362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59" name="Text 57"/>
          <p:cNvSpPr/>
          <p:nvPr/>
        </p:nvSpPr>
        <p:spPr>
          <a:xfrm>
            <a:off x="8691372" y="2462022"/>
            <a:ext cx="184252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8866411" y="2710053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8913030" y="2555367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89093" y="2555367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007381" y="2515362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64" name="Text 62"/>
          <p:cNvSpPr/>
          <p:nvPr/>
        </p:nvSpPr>
        <p:spPr>
          <a:xfrm>
            <a:off x="9289809" y="2515362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100" dirty="0"/>
          </a:p>
        </p:txBody>
      </p:sp>
      <p:sp>
        <p:nvSpPr>
          <p:cNvPr id="65" name="Text 63"/>
          <p:cNvSpPr/>
          <p:nvPr/>
        </p:nvSpPr>
        <p:spPr>
          <a:xfrm>
            <a:off x="9674619" y="2462022"/>
            <a:ext cx="277063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260" dirty="0"/>
          </a:p>
        </p:txBody>
      </p:sp>
      <p:sp>
        <p:nvSpPr>
          <p:cNvPr id="66" name="Shape 64"/>
          <p:cNvSpPr/>
          <p:nvPr/>
        </p:nvSpPr>
        <p:spPr>
          <a:xfrm>
            <a:off x="9937829" y="2710053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84448" y="2555367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060511" y="2555367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78799" y="2515362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375904" y="3316224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化成一個</a:t>
            </a:r>
            <a:endParaRPr lang="en-US" sz="2100" dirty="0"/>
          </a:p>
        </p:txBody>
      </p:sp>
      <p:sp>
        <p:nvSpPr>
          <p:cNvPr id="71" name="Text 69"/>
          <p:cNvSpPr/>
          <p:nvPr/>
        </p:nvSpPr>
        <p:spPr>
          <a:xfrm>
            <a:off x="8375904" y="3716274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分數指數冪。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548640" y="58978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每題先問：根指數係幾多？次方係幾多？</a:t>
            </a:r>
            <a:endParaRPr lang="en-US" sz="2000" dirty="0"/>
          </a:p>
        </p:txBody>
      </p:sp>
      <p:sp>
        <p:nvSpPr>
          <p:cNvPr id="73" name="Shape 71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轉換點：自己揀一層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轉咗做指數，法則好簡單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83080" y="16276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 → 指數相加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83080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023023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0455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13" name="Text 11"/>
          <p:cNvSpPr/>
          <p:nvPr/>
        </p:nvSpPr>
        <p:spPr>
          <a:xfrm>
            <a:off x="2050455" y="238764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91" dirty="0"/>
          </a:p>
        </p:txBody>
      </p:sp>
      <p:sp>
        <p:nvSpPr>
          <p:cNvPr id="14" name="Text 12"/>
          <p:cNvSpPr/>
          <p:nvPr/>
        </p:nvSpPr>
        <p:spPr>
          <a:xfrm>
            <a:off x="2301787" y="22738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72627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912570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40002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18" name="Text 16"/>
          <p:cNvSpPr/>
          <p:nvPr/>
        </p:nvSpPr>
        <p:spPr>
          <a:xfrm>
            <a:off x="2940002" y="238764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19" name="Text 17"/>
          <p:cNvSpPr/>
          <p:nvPr/>
        </p:nvSpPr>
        <p:spPr>
          <a:xfrm>
            <a:off x="3191334" y="22738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562174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802117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9549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91" dirty="0"/>
          </a:p>
        </p:txBody>
      </p:sp>
      <p:sp>
        <p:nvSpPr>
          <p:cNvPr id="23" name="Text 21"/>
          <p:cNvSpPr/>
          <p:nvPr/>
        </p:nvSpPr>
        <p:spPr>
          <a:xfrm>
            <a:off x="3829549" y="238764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91" dirty="0"/>
          </a:p>
        </p:txBody>
      </p:sp>
      <p:sp>
        <p:nvSpPr>
          <p:cNvPr id="24" name="Shape 22"/>
          <p:cNvSpPr/>
          <p:nvPr/>
        </p:nvSpPr>
        <p:spPr>
          <a:xfrm>
            <a:off x="548640" y="305409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374136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3741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1783080" y="321868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除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 → 指數相減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783080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2023023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50455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31" name="Text 29"/>
          <p:cNvSpPr/>
          <p:nvPr/>
        </p:nvSpPr>
        <p:spPr>
          <a:xfrm>
            <a:off x="2050455" y="397869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32" name="Text 30"/>
          <p:cNvSpPr/>
          <p:nvPr/>
        </p:nvSpPr>
        <p:spPr>
          <a:xfrm>
            <a:off x="2301787" y="3864864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672627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2912570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40002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36" name="Text 34"/>
          <p:cNvSpPr/>
          <p:nvPr/>
        </p:nvSpPr>
        <p:spPr>
          <a:xfrm>
            <a:off x="2940002" y="397869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37" name="Text 35"/>
          <p:cNvSpPr/>
          <p:nvPr/>
        </p:nvSpPr>
        <p:spPr>
          <a:xfrm>
            <a:off x="3191334" y="3864864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562174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3802117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9549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41" name="Text 39"/>
          <p:cNvSpPr/>
          <p:nvPr/>
        </p:nvSpPr>
        <p:spPr>
          <a:xfrm>
            <a:off x="3829549" y="397869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42" name="Shape 40"/>
          <p:cNvSpPr/>
          <p:nvPr/>
        </p:nvSpPr>
        <p:spPr>
          <a:xfrm>
            <a:off x="548640" y="464515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4965192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9651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1783080" y="4809744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次方再次方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兩個指數相乘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1783080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2021840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2235011" y="5426710"/>
            <a:ext cx="182778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40" dirty="0"/>
          </a:p>
        </p:txBody>
      </p:sp>
      <p:sp>
        <p:nvSpPr>
          <p:cNvPr id="49" name="Text 47"/>
          <p:cNvSpPr/>
          <p:nvPr/>
        </p:nvSpPr>
        <p:spPr>
          <a:xfrm>
            <a:off x="2421445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2661388" y="5544820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88820" y="534664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52" name="Text 50"/>
          <p:cNvSpPr/>
          <p:nvPr/>
        </p:nvSpPr>
        <p:spPr>
          <a:xfrm>
            <a:off x="2688820" y="5569753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53" name="Text 51"/>
          <p:cNvSpPr/>
          <p:nvPr/>
        </p:nvSpPr>
        <p:spPr>
          <a:xfrm>
            <a:off x="2940152" y="5455920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3310992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3455374" y="5426710"/>
            <a:ext cx="356006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× </a:t>
            </a:r>
            <a:endParaRPr lang="en-US" sz="1240" dirty="0"/>
          </a:p>
        </p:txBody>
      </p:sp>
      <p:sp>
        <p:nvSpPr>
          <p:cNvPr id="56" name="Shape 54"/>
          <p:cNvSpPr/>
          <p:nvPr/>
        </p:nvSpPr>
        <p:spPr>
          <a:xfrm>
            <a:off x="3857101" y="5544820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84533" y="534664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58" name="Text 56"/>
          <p:cNvSpPr/>
          <p:nvPr/>
        </p:nvSpPr>
        <p:spPr>
          <a:xfrm>
            <a:off x="3884533" y="5569753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59" name="Text 57"/>
          <p:cNvSpPr/>
          <p:nvPr/>
        </p:nvSpPr>
        <p:spPr>
          <a:xfrm>
            <a:off x="4142985" y="5455920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13825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4726996" y="5426710"/>
            <a:ext cx="182778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示範：求 8</a:t>
            </a:r>
            <a:pPr algn="l" indent="0" marL="0">
              <a:buNone/>
            </a:pPr>
            <a:r>
              <a:rPr lang="en-US" sz="3200" b="1" baseline="30000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2/3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1683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16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2200275"/>
            <a:ext cx="37398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底數寫成同一個數嘅次方：8 = 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24865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468554" y="216960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211683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116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23760" y="2200275"/>
            <a:ext cx="89154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代入：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115300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362046" y="2293620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9478" y="208553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19" name="Text 17"/>
          <p:cNvSpPr/>
          <p:nvPr/>
        </p:nvSpPr>
        <p:spPr>
          <a:xfrm>
            <a:off x="8389478" y="2317513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0" name="Text 18"/>
          <p:cNvSpPr/>
          <p:nvPr/>
        </p:nvSpPr>
        <p:spPr>
          <a:xfrm>
            <a:off x="8644910" y="2200275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029720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27584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495743" y="216960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24" name="Text 22"/>
          <p:cNvSpPr/>
          <p:nvPr/>
        </p:nvSpPr>
        <p:spPr>
          <a:xfrm>
            <a:off x="968683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933582" y="2293620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1014" y="208553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27" name="Text 25"/>
          <p:cNvSpPr/>
          <p:nvPr/>
        </p:nvSpPr>
        <p:spPr>
          <a:xfrm>
            <a:off x="9961014" y="2317513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426567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2656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508760" y="4349115"/>
            <a:ext cx="349986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次方再次方 → 指數相乘：3 × 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5054346" y="4549140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1778" y="4213525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48" dirty="0"/>
          </a:p>
        </p:txBody>
      </p:sp>
      <p:sp>
        <p:nvSpPr>
          <p:cNvPr id="34" name="Text 32"/>
          <p:cNvSpPr/>
          <p:nvPr/>
        </p:nvSpPr>
        <p:spPr>
          <a:xfrm>
            <a:off x="5081778" y="4559656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48" dirty="0"/>
          </a:p>
        </p:txBody>
      </p:sp>
      <p:sp>
        <p:nvSpPr>
          <p:cNvPr id="35" name="Text 33"/>
          <p:cNvSpPr/>
          <p:nvPr/>
        </p:nvSpPr>
        <p:spPr>
          <a:xfrm>
            <a:off x="5382494" y="4349115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2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6263640" y="36118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426567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38" name="Text 36"/>
          <p:cNvSpPr/>
          <p:nvPr/>
        </p:nvSpPr>
        <p:spPr>
          <a:xfrm>
            <a:off x="6492240" y="42656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223760" y="4349115"/>
            <a:ext cx="142494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算出答案：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8648700" y="434911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8868598" y="431844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2" dirty="0"/>
          </a:p>
        </p:txBody>
      </p:sp>
      <p:sp>
        <p:nvSpPr>
          <p:cNvPr id="42" name="Text 40"/>
          <p:cNvSpPr/>
          <p:nvPr/>
        </p:nvSpPr>
        <p:spPr>
          <a:xfrm>
            <a:off x="9059690" y="4349115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4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呢四步，之後每一題都照咁寫，唔使另外諗格式。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三條最易錯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ECE0DB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22704"/>
            <a:ext cx="640080" cy="640080"/>
          </a:xfrm>
          <a:prstGeom prst="ellipse">
            <a:avLst/>
          </a:prstGeom>
          <a:solidFill>
            <a:srgbClr val="8C574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2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91640" y="1670304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　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392680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60904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885637" y="1635252"/>
            <a:ext cx="310652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</a:t>
            </a:r>
            <a:endParaRPr lang="en-US" sz="1488" dirty="0"/>
          </a:p>
        </p:txBody>
      </p:sp>
      <p:sp>
        <p:nvSpPr>
          <p:cNvPr id="13" name="Text 11"/>
          <p:cNvSpPr/>
          <p:nvPr/>
        </p:nvSpPr>
        <p:spPr>
          <a:xfrm>
            <a:off x="3202502" y="1670304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74942" y="1898904"/>
            <a:ext cx="71423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08552" y="1515344"/>
            <a:ext cx="2470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1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112" dirty="0"/>
          </a:p>
        </p:txBody>
      </p:sp>
      <p:sp>
        <p:nvSpPr>
          <p:cNvPr id="16" name="Text 14"/>
          <p:cNvSpPr/>
          <p:nvPr/>
        </p:nvSpPr>
        <p:spPr>
          <a:xfrm>
            <a:off x="3702374" y="1950525"/>
            <a:ext cx="2470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1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112" dirty="0"/>
          </a:p>
        </p:txBody>
      </p:sp>
      <p:sp>
        <p:nvSpPr>
          <p:cNvPr id="17" name="Text 15"/>
          <p:cNvSpPr/>
          <p:nvPr/>
        </p:nvSpPr>
        <p:spPr>
          <a:xfrm>
            <a:off x="3949384" y="1950525"/>
            <a:ext cx="2470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1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12" dirty="0"/>
          </a:p>
        </p:txBody>
      </p:sp>
      <p:sp>
        <p:nvSpPr>
          <p:cNvPr id="18" name="Text 16"/>
          <p:cNvSpPr/>
          <p:nvPr/>
        </p:nvSpPr>
        <p:spPr>
          <a:xfrm>
            <a:off x="4170089" y="191967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9" dirty="0"/>
          </a:p>
        </p:txBody>
      </p:sp>
      <p:sp>
        <p:nvSpPr>
          <p:cNvPr id="19" name="Text 17"/>
          <p:cNvSpPr/>
          <p:nvPr/>
        </p:nvSpPr>
        <p:spPr>
          <a:xfrm>
            <a:off x="1691640" y="2269236"/>
            <a:ext cx="52476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負指數淨係搬 a，個 3 唔跟住落分母 → 應該係 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985000" y="2459736"/>
            <a:ext cx="427145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8032" y="2140102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60" dirty="0"/>
          </a:p>
        </p:txBody>
      </p:sp>
      <p:sp>
        <p:nvSpPr>
          <p:cNvPr id="22" name="Text 20"/>
          <p:cNvSpPr/>
          <p:nvPr/>
        </p:nvSpPr>
        <p:spPr>
          <a:xfrm>
            <a:off x="7012432" y="2510373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760" dirty="0"/>
          </a:p>
        </p:txBody>
      </p:sp>
      <p:sp>
        <p:nvSpPr>
          <p:cNvPr id="23" name="Text 21"/>
          <p:cNvSpPr/>
          <p:nvPr/>
        </p:nvSpPr>
        <p:spPr>
          <a:xfrm>
            <a:off x="7209459" y="2484669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24" name="Shape 22"/>
          <p:cNvSpPr/>
          <p:nvPr/>
        </p:nvSpPr>
        <p:spPr>
          <a:xfrm>
            <a:off x="548640" y="2977896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ECE0DB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291840"/>
            <a:ext cx="640080" cy="640080"/>
          </a:xfrm>
          <a:prstGeom prst="ellipse">
            <a:avLst/>
          </a:prstGeom>
          <a:solidFill>
            <a:srgbClr val="8C574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691640" y="3139440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　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2392680" y="3078480"/>
            <a:ext cx="19751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2580315" y="3361944"/>
            <a:ext cx="53279" cy="9144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633594" y="3132734"/>
            <a:ext cx="86929" cy="32065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20523" y="3132734"/>
            <a:ext cx="481721" cy="0"/>
          </a:xfrm>
          <a:prstGeom prst="line">
            <a:avLst/>
          </a:prstGeom>
          <a:noFill/>
          <a:ln w="15833">
            <a:solidFill>
              <a:srgbClr val="202A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38811" y="3139440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978888" y="3104388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88" dirty="0"/>
          </a:p>
        </p:txBody>
      </p:sp>
      <p:sp>
        <p:nvSpPr>
          <p:cNvPr id="34" name="Text 32"/>
          <p:cNvSpPr/>
          <p:nvPr/>
        </p:nvSpPr>
        <p:spPr>
          <a:xfrm>
            <a:off x="3217605" y="3139440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3644325" y="3139440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3911482" y="3246120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8914" y="3008313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38" name="Text 36"/>
          <p:cNvSpPr/>
          <p:nvPr/>
        </p:nvSpPr>
        <p:spPr>
          <a:xfrm>
            <a:off x="3938914" y="3266895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9" dirty="0"/>
          </a:p>
        </p:txBody>
      </p:sp>
      <p:sp>
        <p:nvSpPr>
          <p:cNvPr id="39" name="Text 37"/>
          <p:cNvSpPr/>
          <p:nvPr/>
        </p:nvSpPr>
        <p:spPr>
          <a:xfrm>
            <a:off x="1691640" y="3738372"/>
            <a:ext cx="480568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落分母、次方 4 上分子 → 應該係 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497320" y="3738372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6737263" y="3827272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4695" y="3629099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91" dirty="0"/>
          </a:p>
        </p:txBody>
      </p:sp>
      <p:sp>
        <p:nvSpPr>
          <p:cNvPr id="43" name="Text 41"/>
          <p:cNvSpPr/>
          <p:nvPr/>
        </p:nvSpPr>
        <p:spPr>
          <a:xfrm>
            <a:off x="6764695" y="385220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44" name="Shape 42"/>
          <p:cNvSpPr/>
          <p:nvPr/>
        </p:nvSpPr>
        <p:spPr>
          <a:xfrm>
            <a:off x="548640" y="4447032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DDE7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4760976"/>
            <a:ext cx="640080" cy="640080"/>
          </a:xfrm>
          <a:prstGeom prst="ellipse">
            <a:avLst/>
          </a:prstGeom>
          <a:solidFill>
            <a:srgbClr val="35604D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47609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1691640" y="4608576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啱　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2392680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2659836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87268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9" dirty="0"/>
          </a:p>
        </p:txBody>
      </p:sp>
      <p:sp>
        <p:nvSpPr>
          <p:cNvPr id="51" name="Text 49"/>
          <p:cNvSpPr/>
          <p:nvPr/>
        </p:nvSpPr>
        <p:spPr>
          <a:xfrm>
            <a:off x="2687268" y="4736031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52" name="Text 50"/>
          <p:cNvSpPr/>
          <p:nvPr/>
        </p:nvSpPr>
        <p:spPr>
          <a:xfrm>
            <a:off x="2954998" y="4608576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3381718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54" name="Shape 52"/>
          <p:cNvSpPr/>
          <p:nvPr/>
        </p:nvSpPr>
        <p:spPr>
          <a:xfrm>
            <a:off x="3648874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76306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9" dirty="0"/>
          </a:p>
        </p:txBody>
      </p:sp>
      <p:sp>
        <p:nvSpPr>
          <p:cNvPr id="56" name="Text 54"/>
          <p:cNvSpPr/>
          <p:nvPr/>
        </p:nvSpPr>
        <p:spPr>
          <a:xfrm>
            <a:off x="3676306" y="4736031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57" name="Text 55"/>
          <p:cNvSpPr/>
          <p:nvPr/>
        </p:nvSpPr>
        <p:spPr>
          <a:xfrm>
            <a:off x="3944035" y="4608576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58" name="Text 56"/>
          <p:cNvSpPr/>
          <p:nvPr/>
        </p:nvSpPr>
        <p:spPr>
          <a:xfrm>
            <a:off x="4370755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59" name="Shape 57"/>
          <p:cNvSpPr/>
          <p:nvPr/>
        </p:nvSpPr>
        <p:spPr>
          <a:xfrm>
            <a:off x="4637912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65344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9" dirty="0"/>
          </a:p>
        </p:txBody>
      </p:sp>
      <p:sp>
        <p:nvSpPr>
          <p:cNvPr id="61" name="Text 59"/>
          <p:cNvSpPr/>
          <p:nvPr/>
        </p:nvSpPr>
        <p:spPr>
          <a:xfrm>
            <a:off x="4665344" y="4736031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62" name="Text 60"/>
          <p:cNvSpPr/>
          <p:nvPr/>
        </p:nvSpPr>
        <p:spPr>
          <a:xfrm>
            <a:off x="1691640" y="5207508"/>
            <a:ext cx="26314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底數一樣，指數相減：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4368800" y="5398008"/>
            <a:ext cx="275946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96232" y="5078374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760" dirty="0"/>
          </a:p>
        </p:txBody>
      </p:sp>
      <p:sp>
        <p:nvSpPr>
          <p:cNvPr id="65" name="Text 63"/>
          <p:cNvSpPr/>
          <p:nvPr/>
        </p:nvSpPr>
        <p:spPr>
          <a:xfrm>
            <a:off x="4396232" y="5410200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60" dirty="0"/>
          </a:p>
        </p:txBody>
      </p:sp>
      <p:sp>
        <p:nvSpPr>
          <p:cNvPr id="66" name="Text 64"/>
          <p:cNvSpPr/>
          <p:nvPr/>
        </p:nvSpPr>
        <p:spPr>
          <a:xfrm>
            <a:off x="4690466" y="52075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− 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5107026" y="5398008"/>
            <a:ext cx="275946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34458" y="5078374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60" dirty="0"/>
          </a:p>
        </p:txBody>
      </p:sp>
      <p:sp>
        <p:nvSpPr>
          <p:cNvPr id="69" name="Text 67"/>
          <p:cNvSpPr/>
          <p:nvPr/>
        </p:nvSpPr>
        <p:spPr>
          <a:xfrm>
            <a:off x="5134458" y="5410200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60" dirty="0"/>
          </a:p>
        </p:txBody>
      </p:sp>
      <p:sp>
        <p:nvSpPr>
          <p:cNvPr id="70" name="Text 68"/>
          <p:cNvSpPr/>
          <p:nvPr/>
        </p:nvSpPr>
        <p:spPr>
          <a:xfrm>
            <a:off x="5428691" y="52075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71" name="Shape 69"/>
          <p:cNvSpPr/>
          <p:nvPr/>
        </p:nvSpPr>
        <p:spPr>
          <a:xfrm>
            <a:off x="5845251" y="5398008"/>
            <a:ext cx="275946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872683" y="5078374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760" dirty="0"/>
          </a:p>
        </p:txBody>
      </p:sp>
      <p:sp>
        <p:nvSpPr>
          <p:cNvPr id="73" name="Text 71"/>
          <p:cNvSpPr/>
          <p:nvPr/>
        </p:nvSpPr>
        <p:spPr>
          <a:xfrm>
            <a:off x="5872683" y="5410200"/>
            <a:ext cx="221082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760" dirty="0"/>
          </a:p>
        </p:txBody>
      </p:sp>
      <p:sp>
        <p:nvSpPr>
          <p:cNvPr id="74" name="Shape 72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轉換點：逐張讀一次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練習二：計出個值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★☆☆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535147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38428" y="25351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385174" y="262849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12606" y="242041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14" name="Text 12"/>
          <p:cNvSpPr/>
          <p:nvPr/>
        </p:nvSpPr>
        <p:spPr>
          <a:xfrm>
            <a:off x="1412606" y="265238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15" name="Text 13"/>
          <p:cNvSpPr/>
          <p:nvPr/>
        </p:nvSpPr>
        <p:spPr>
          <a:xfrm>
            <a:off x="1668038" y="2535147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052848" y="25351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2299594" y="262849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27026" y="242041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19" name="Text 17"/>
          <p:cNvSpPr/>
          <p:nvPr/>
        </p:nvSpPr>
        <p:spPr>
          <a:xfrm>
            <a:off x="2327026" y="265238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20" name="Text 18"/>
          <p:cNvSpPr/>
          <p:nvPr/>
        </p:nvSpPr>
        <p:spPr>
          <a:xfrm>
            <a:off x="2582458" y="2535147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22960" y="3376341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38428" y="33763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384554" y="33763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604452" y="334567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25" name="Text 23"/>
          <p:cNvSpPr/>
          <p:nvPr/>
        </p:nvSpPr>
        <p:spPr>
          <a:xfrm>
            <a:off x="1795544" y="33763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42290" y="3469686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69722" y="326160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28" name="Text 26"/>
          <p:cNvSpPr/>
          <p:nvPr/>
        </p:nvSpPr>
        <p:spPr>
          <a:xfrm>
            <a:off x="2069722" y="349357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9" name="Text 27"/>
          <p:cNvSpPr/>
          <p:nvPr/>
        </p:nvSpPr>
        <p:spPr>
          <a:xfrm>
            <a:off x="2325154" y="3376341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325112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25112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32" name="Text 30"/>
          <p:cNvSpPr/>
          <p:nvPr/>
        </p:nvSpPr>
        <p:spPr>
          <a:xfrm>
            <a:off x="4325112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★★☆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325112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B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99432" y="2535147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914900" y="25351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5161646" y="262849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89078" y="242041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38" name="Text 36"/>
          <p:cNvSpPr/>
          <p:nvPr/>
        </p:nvSpPr>
        <p:spPr>
          <a:xfrm>
            <a:off x="5189078" y="265238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39" name="Text 37"/>
          <p:cNvSpPr/>
          <p:nvPr/>
        </p:nvSpPr>
        <p:spPr>
          <a:xfrm>
            <a:off x="5444510" y="2535147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4599432" y="2955744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（照四步寫）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599432" y="3755844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 = 4，求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599432" y="4176441"/>
            <a:ext cx="42748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5026914" y="41764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5273660" y="4269786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1092" y="406170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46" name="Text 44"/>
          <p:cNvSpPr/>
          <p:nvPr/>
        </p:nvSpPr>
        <p:spPr>
          <a:xfrm>
            <a:off x="5301092" y="429367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46" dirty="0"/>
          </a:p>
        </p:txBody>
      </p:sp>
      <p:sp>
        <p:nvSpPr>
          <p:cNvPr id="47" name="Text 45"/>
          <p:cNvSpPr/>
          <p:nvPr/>
        </p:nvSpPr>
        <p:spPr>
          <a:xfrm>
            <a:off x="5556524" y="4176441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· 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5941334" y="41764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6188080" y="4269786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5512" y="406170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51" name="Text 49"/>
          <p:cNvSpPr/>
          <p:nvPr/>
        </p:nvSpPr>
        <p:spPr>
          <a:xfrm>
            <a:off x="6215512" y="429367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52" name="Text 50"/>
          <p:cNvSpPr/>
          <p:nvPr/>
        </p:nvSpPr>
        <p:spPr>
          <a:xfrm>
            <a:off x="6470944" y="4176441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6855754" y="4176441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7102500" y="4269786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29932" y="406170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56" name="Text 54"/>
          <p:cNvSpPr/>
          <p:nvPr/>
        </p:nvSpPr>
        <p:spPr>
          <a:xfrm>
            <a:off x="7129932" y="429367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57" name="Shape 55"/>
          <p:cNvSpPr/>
          <p:nvPr/>
        </p:nvSpPr>
        <p:spPr>
          <a:xfrm>
            <a:off x="8101584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01584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59" name="Text 57"/>
          <p:cNvSpPr/>
          <p:nvPr/>
        </p:nvSpPr>
        <p:spPr>
          <a:xfrm>
            <a:off x="8101584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★★★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8101584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C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8375904" y="251460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化簡：</a:t>
            </a:r>
            <a:endParaRPr lang="en-US" sz="2100" dirty="0"/>
          </a:p>
        </p:txBody>
      </p:sp>
      <p:sp>
        <p:nvSpPr>
          <p:cNvPr id="62" name="Text 60"/>
          <p:cNvSpPr/>
          <p:nvPr/>
        </p:nvSpPr>
        <p:spPr>
          <a:xfrm>
            <a:off x="8375904" y="2935197"/>
            <a:ext cx="5821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4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8958072" y="293519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64" name="Shape 62"/>
          <p:cNvSpPr/>
          <p:nvPr/>
        </p:nvSpPr>
        <p:spPr>
          <a:xfrm>
            <a:off x="9204818" y="302854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232250" y="282046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66" name="Text 64"/>
          <p:cNvSpPr/>
          <p:nvPr/>
        </p:nvSpPr>
        <p:spPr>
          <a:xfrm>
            <a:off x="9232250" y="305243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67" name="Text 65"/>
          <p:cNvSpPr/>
          <p:nvPr/>
        </p:nvSpPr>
        <p:spPr>
          <a:xfrm>
            <a:off x="9487682" y="293519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9662480" y="2904526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69" name="Shape 67"/>
          <p:cNvSpPr/>
          <p:nvPr/>
        </p:nvSpPr>
        <p:spPr>
          <a:xfrm>
            <a:off x="9895545" y="302854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22977" y="282046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71" name="Text 69"/>
          <p:cNvSpPr/>
          <p:nvPr/>
        </p:nvSpPr>
        <p:spPr>
          <a:xfrm>
            <a:off x="9922977" y="305243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72" name="Text 70"/>
          <p:cNvSpPr/>
          <p:nvPr/>
        </p:nvSpPr>
        <p:spPr>
          <a:xfrm>
            <a:off x="8375904" y="3467747"/>
            <a:ext cx="96088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÷ (−</a:t>
            </a:r>
            <a:endParaRPr lang="en-US" sz="2100" dirty="0"/>
          </a:p>
        </p:txBody>
      </p:sp>
      <p:sp>
        <p:nvSpPr>
          <p:cNvPr id="73" name="Shape 71"/>
          <p:cNvSpPr/>
          <p:nvPr/>
        </p:nvSpPr>
        <p:spPr>
          <a:xfrm>
            <a:off x="9382506" y="3667772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09938" y="3332157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48" dirty="0"/>
          </a:p>
        </p:txBody>
      </p:sp>
      <p:sp>
        <p:nvSpPr>
          <p:cNvPr id="75" name="Text 73"/>
          <p:cNvSpPr/>
          <p:nvPr/>
        </p:nvSpPr>
        <p:spPr>
          <a:xfrm>
            <a:off x="9409938" y="3678287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48" dirty="0"/>
          </a:p>
        </p:txBody>
      </p:sp>
      <p:sp>
        <p:nvSpPr>
          <p:cNvPr id="76" name="Text 74"/>
          <p:cNvSpPr/>
          <p:nvPr/>
        </p:nvSpPr>
        <p:spPr>
          <a:xfrm>
            <a:off x="9710654" y="3467747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· </a:t>
            </a:r>
            <a:endParaRPr lang="en-US" sz="2100" dirty="0"/>
          </a:p>
        </p:txBody>
      </p:sp>
      <p:sp>
        <p:nvSpPr>
          <p:cNvPr id="77" name="Text 75"/>
          <p:cNvSpPr/>
          <p:nvPr/>
        </p:nvSpPr>
        <p:spPr>
          <a:xfrm>
            <a:off x="10095464" y="34677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78" name="Text 76"/>
          <p:cNvSpPr/>
          <p:nvPr/>
        </p:nvSpPr>
        <p:spPr>
          <a:xfrm>
            <a:off x="10270262" y="3437076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79" name="Shape 77"/>
          <p:cNvSpPr/>
          <p:nvPr/>
        </p:nvSpPr>
        <p:spPr>
          <a:xfrm>
            <a:off x="10503327" y="356109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530759" y="335301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81" name="Text 79"/>
          <p:cNvSpPr/>
          <p:nvPr/>
        </p:nvSpPr>
        <p:spPr>
          <a:xfrm>
            <a:off x="10530759" y="358498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82" name="Text 80"/>
          <p:cNvSpPr/>
          <p:nvPr/>
        </p:nvSpPr>
        <p:spPr>
          <a:xfrm>
            <a:off x="10789937" y="34677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100" dirty="0"/>
          </a:p>
        </p:txBody>
      </p:sp>
      <p:sp>
        <p:nvSpPr>
          <p:cNvPr id="83" name="Text 81"/>
          <p:cNvSpPr/>
          <p:nvPr/>
        </p:nvSpPr>
        <p:spPr>
          <a:xfrm>
            <a:off x="10964735" y="3437076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84" name="Shape 82"/>
          <p:cNvSpPr/>
          <p:nvPr/>
        </p:nvSpPr>
        <p:spPr>
          <a:xfrm>
            <a:off x="11197801" y="3561092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1225233" y="3353010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86" name="Text 84"/>
          <p:cNvSpPr/>
          <p:nvPr/>
        </p:nvSpPr>
        <p:spPr>
          <a:xfrm>
            <a:off x="11225233" y="3584985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87" name="Text 85"/>
          <p:cNvSpPr/>
          <p:nvPr/>
        </p:nvSpPr>
        <p:spPr>
          <a:xfrm>
            <a:off x="11484411" y="3467747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88" name="Text 86"/>
          <p:cNvSpPr/>
          <p:nvPr/>
        </p:nvSpPr>
        <p:spPr>
          <a:xfrm>
            <a:off x="548640" y="58978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唔好跳步：先整理指數，最後先計數。</a:t>
            </a:r>
            <a:endParaRPr lang="en-US" sz="2000" dirty="0"/>
          </a:p>
        </p:txBody>
      </p:sp>
      <p:sp>
        <p:nvSpPr>
          <p:cNvPr id="89" name="Shape 87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轉換點：自己揀一層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今日帶走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5E857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根指數落分母，次方上分子 —— 根式即刻變成分數指數。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保底三句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088643"/>
            <a:ext cx="34747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53312" y="4027683"/>
            <a:ext cx="19751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540947" y="4311147"/>
            <a:ext cx="53279" cy="9144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594226" y="4081938"/>
            <a:ext cx="86929" cy="32065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81155" y="4081938"/>
            <a:ext cx="481721" cy="0"/>
          </a:xfrm>
          <a:prstGeom prst="line">
            <a:avLst/>
          </a:prstGeom>
          <a:noFill/>
          <a:ln w="15833">
            <a:solidFill>
              <a:srgbClr val="202A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9443" y="4088643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39520" y="4053591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88" dirty="0"/>
          </a:p>
        </p:txBody>
      </p:sp>
      <p:sp>
        <p:nvSpPr>
          <p:cNvPr id="17" name="Text 15"/>
          <p:cNvSpPr/>
          <p:nvPr/>
        </p:nvSpPr>
        <p:spPr>
          <a:xfrm>
            <a:off x="2178237" y="4088643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604957" y="4088643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2872114" y="4195323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99546" y="3957516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309" dirty="0"/>
          </a:p>
        </p:txBody>
      </p:sp>
      <p:sp>
        <p:nvSpPr>
          <p:cNvPr id="21" name="Text 19"/>
          <p:cNvSpPr/>
          <p:nvPr/>
        </p:nvSpPr>
        <p:spPr>
          <a:xfrm>
            <a:off x="2899546" y="4216098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309" dirty="0"/>
          </a:p>
        </p:txBody>
      </p:sp>
      <p:sp>
        <p:nvSpPr>
          <p:cNvPr id="22" name="Text 20"/>
          <p:cNvSpPr/>
          <p:nvPr/>
        </p:nvSpPr>
        <p:spPr>
          <a:xfrm>
            <a:off x="3167275" y="4088643"/>
            <a:ext cx="31394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：下面開方，上面次方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5840" y="4709236"/>
            <a:ext cx="342595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喺分母 → 指數加負號：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477512" y="4937836"/>
            <a:ext cx="4672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7617" y="4554275"/>
            <a:ext cx="2470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1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112" dirty="0"/>
          </a:p>
        </p:txBody>
      </p:sp>
      <p:sp>
        <p:nvSpPr>
          <p:cNvPr id="26" name="Text 24"/>
          <p:cNvSpPr/>
          <p:nvPr/>
        </p:nvSpPr>
        <p:spPr>
          <a:xfrm>
            <a:off x="4504944" y="4989457"/>
            <a:ext cx="2470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1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12" dirty="0"/>
          </a:p>
        </p:txBody>
      </p:sp>
      <p:sp>
        <p:nvSpPr>
          <p:cNvPr id="27" name="Text 25"/>
          <p:cNvSpPr/>
          <p:nvPr/>
        </p:nvSpPr>
        <p:spPr>
          <a:xfrm>
            <a:off x="4725649" y="4958611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309" dirty="0"/>
          </a:p>
        </p:txBody>
      </p:sp>
      <p:sp>
        <p:nvSpPr>
          <p:cNvPr id="28" name="Text 26"/>
          <p:cNvSpPr/>
          <p:nvPr/>
        </p:nvSpPr>
        <p:spPr>
          <a:xfrm>
            <a:off x="4990452" y="4709236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417172" y="470923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5641905" y="4674184"/>
            <a:ext cx="310652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-n</a:t>
            </a:r>
            <a:endParaRPr lang="en-US" sz="1488" dirty="0"/>
          </a:p>
        </p:txBody>
      </p:sp>
      <p:sp>
        <p:nvSpPr>
          <p:cNvPr id="31" name="Text 29"/>
          <p:cNvSpPr/>
          <p:nvPr/>
        </p:nvSpPr>
        <p:spPr>
          <a:xfrm>
            <a:off x="1005840" y="5310265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轉咗做指數：乘就加、除就減、次方就相乘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44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下一課：指數函數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指數唔再淨係數字，變成變數 x —— y = 2</a:t>
            </a:r>
            <a:pPr algn="ctr" indent="0" marL="0">
              <a:buNone/>
            </a:pPr>
            <a:r>
              <a:rPr lang="en-US" sz="2400" baseline="300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A6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教學調整（Accommodation）：本簡報加入部件對應圖、對照表與分層任務，年級學習標準不變。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2026-08-08T08:25:20Z</dcterms:created>
  <dcterms:modified xsi:type="dcterms:W3CDTF">2026-08-08T08:25:20Z</dcterms:modified>
</cp:coreProperties>
</file>