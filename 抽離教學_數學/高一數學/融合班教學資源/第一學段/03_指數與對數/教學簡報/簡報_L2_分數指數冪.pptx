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分數指數冪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2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帶走一句：根指數落分母，次方上分子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根式相乘，點解咁難計？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557145"/>
            <a:ext cx="193091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2021380" y="2828798"/>
            <a:ext cx="51059" cy="87630"/>
          </a:xfrm>
          <a:prstGeom prst="line">
            <a:avLst/>
          </a:prstGeom>
          <a:noFill/>
          <a:ln w="13794">
            <a:solidFill>
              <a:srgbClr val="2E4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072439" y="2609139"/>
            <a:ext cx="83307" cy="307289"/>
          </a:xfrm>
          <a:prstGeom prst="line">
            <a:avLst/>
          </a:prstGeom>
          <a:noFill/>
          <a:ln w="13794">
            <a:solidFill>
              <a:srgbClr val="2E4A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55746" y="2609139"/>
            <a:ext cx="470336" cy="0"/>
          </a:xfrm>
          <a:prstGeom prst="line">
            <a:avLst/>
          </a:prstGeom>
          <a:noFill/>
          <a:ln w="15173">
            <a:solidFill>
              <a:srgbClr val="2E4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4034" y="2615565"/>
            <a:ext cx="260858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2407385" y="2581974"/>
            <a:ext cx="196479" cy="2716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26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26" dirty="0"/>
          </a:p>
        </p:txBody>
      </p:sp>
      <p:sp>
        <p:nvSpPr>
          <p:cNvPr id="19" name="Text 17"/>
          <p:cNvSpPr/>
          <p:nvPr/>
        </p:nvSpPr>
        <p:spPr>
          <a:xfrm>
            <a:off x="2642328" y="2615565"/>
            <a:ext cx="1411732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點樣變成 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4054060" y="2615565"/>
            <a:ext cx="260858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300" dirty="0"/>
          </a:p>
        </p:txBody>
      </p:sp>
      <p:sp>
        <p:nvSpPr>
          <p:cNvPr id="21" name="Shape 19"/>
          <p:cNvSpPr/>
          <p:nvPr/>
        </p:nvSpPr>
        <p:spPr>
          <a:xfrm>
            <a:off x="4314413" y="2717800"/>
            <a:ext cx="238738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1845" y="2489901"/>
            <a:ext cx="183874" cy="239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5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255" dirty="0"/>
          </a:p>
        </p:txBody>
      </p:sp>
      <p:sp>
        <p:nvSpPr>
          <p:cNvPr id="23" name="Text 21"/>
          <p:cNvSpPr/>
          <p:nvPr/>
        </p:nvSpPr>
        <p:spPr>
          <a:xfrm>
            <a:off x="4341845" y="2739615"/>
            <a:ext cx="183874" cy="239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5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1255" dirty="0"/>
          </a:p>
        </p:txBody>
      </p:sp>
      <p:sp>
        <p:nvSpPr>
          <p:cNvPr id="24" name="Shape 2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轉咗做指數之後，法則好簡單</a:t>
            </a:r>
            <a:endParaRPr lang="en-US" sz="2300" dirty="0"/>
          </a:p>
        </p:txBody>
      </p:sp>
      <p:sp>
        <p:nvSpPr>
          <p:cNvPr id="28" name="Shape 2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06930"/>
            <a:ext cx="224028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27227" y="2461260"/>
            <a:ext cx="66599" cy="114300"/>
          </a:xfrm>
          <a:prstGeom prst="line">
            <a:avLst/>
          </a:prstGeom>
          <a:noFill/>
          <a:ln w="17992">
            <a:solidFill>
              <a:srgbClr val="2E4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193825" y="2240280"/>
            <a:ext cx="108661" cy="335280"/>
          </a:xfrm>
          <a:prstGeom prst="line">
            <a:avLst/>
          </a:prstGeom>
          <a:noFill/>
          <a:ln w="17992">
            <a:solidFill>
              <a:srgbClr val="2E4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02487" y="2240280"/>
            <a:ext cx="348996" cy="0"/>
          </a:xfrm>
          <a:prstGeom prst="line">
            <a:avLst/>
          </a:prstGeom>
          <a:noFill/>
          <a:ln w="19791">
            <a:solidFill>
              <a:srgbClr val="2E4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0775" y="2183130"/>
            <a:ext cx="31242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1661541" y="2183130"/>
            <a:ext cx="51054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172081" y="2106930"/>
            <a:ext cx="356616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10866" y="2461260"/>
            <a:ext cx="66599" cy="114300"/>
          </a:xfrm>
          <a:prstGeom prst="line">
            <a:avLst/>
          </a:prstGeom>
          <a:noFill/>
          <a:ln w="17992">
            <a:solidFill>
              <a:srgbClr val="2E4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2577465" y="2240280"/>
            <a:ext cx="108661" cy="335280"/>
          </a:xfrm>
          <a:prstGeom prst="line">
            <a:avLst/>
          </a:prstGeom>
          <a:noFill/>
          <a:ln w="17992">
            <a:solidFill>
              <a:srgbClr val="2E4A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86126" y="2240280"/>
            <a:ext cx="348996" cy="0"/>
          </a:xfrm>
          <a:prstGeom prst="line">
            <a:avLst/>
          </a:prstGeom>
          <a:noFill/>
          <a:ln w="19791">
            <a:solidFill>
              <a:srgbClr val="2E4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4414" y="2183130"/>
            <a:ext cx="31242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018663" y="2183130"/>
            <a:ext cx="2095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等於幾多？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兩個根指數唔同，用根式冇得直接乘埋，卡住。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但係轉成分數指數，就變返做「指數相加」—— 一行搞掂。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轉換點：一齊試吓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根式 → 分數指數：邊個數去邊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2065" y="2203907"/>
            <a:ext cx="268224" cy="39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26878" y="2676347"/>
            <a:ext cx="88798" cy="152400"/>
          </a:xfrm>
          <a:prstGeom prst="line">
            <a:avLst/>
          </a:prstGeom>
          <a:noFill/>
          <a:ln w="23989">
            <a:solidFill>
              <a:srgbClr val="2E4A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15676" y="2294331"/>
            <a:ext cx="144882" cy="534416"/>
          </a:xfrm>
          <a:prstGeom prst="line">
            <a:avLst/>
          </a:prstGeom>
          <a:noFill/>
          <a:ln w="23989">
            <a:solidFill>
              <a:srgbClr val="2E4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60558" y="2294331"/>
            <a:ext cx="663879" cy="0"/>
          </a:xfrm>
          <a:prstGeom prst="line">
            <a:avLst/>
          </a:prstGeom>
          <a:noFill/>
          <a:ln w="26388">
            <a:solidFill>
              <a:srgbClr val="2E4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78846" y="2305507"/>
            <a:ext cx="38608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26549" y="2247087"/>
            <a:ext cx="274117" cy="472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8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80" dirty="0"/>
          </a:p>
        </p:txBody>
      </p:sp>
      <p:sp>
        <p:nvSpPr>
          <p:cNvPr id="13" name="Text 11"/>
          <p:cNvSpPr/>
          <p:nvPr/>
        </p:nvSpPr>
        <p:spPr>
          <a:xfrm>
            <a:off x="3525656" y="2305507"/>
            <a:ext cx="8636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＝ 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389256" y="2305507"/>
            <a:ext cx="38608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4765266" y="2483307"/>
            <a:ext cx="307060" cy="0"/>
          </a:xfrm>
          <a:prstGeom prst="line">
            <a:avLst/>
          </a:prstGeom>
          <a:noFill/>
          <a:ln w="28575">
            <a:solidFill>
              <a:srgbClr val="2E4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92698" y="2086962"/>
            <a:ext cx="252196" cy="41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82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82" dirty="0"/>
          </a:p>
        </p:txBody>
      </p:sp>
      <p:sp>
        <p:nvSpPr>
          <p:cNvPr id="17" name="Text 15"/>
          <p:cNvSpPr/>
          <p:nvPr/>
        </p:nvSpPr>
        <p:spPr>
          <a:xfrm>
            <a:off x="4792698" y="2487452"/>
            <a:ext cx="252196" cy="41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82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182" dirty="0"/>
          </a:p>
        </p:txBody>
      </p:sp>
      <p:sp>
        <p:nvSpPr>
          <p:cNvPr id="18" name="Shape 16"/>
          <p:cNvSpPr/>
          <p:nvPr/>
        </p:nvSpPr>
        <p:spPr>
          <a:xfrm>
            <a:off x="777240" y="3622853"/>
            <a:ext cx="2811780" cy="877824"/>
          </a:xfrm>
          <a:prstGeom prst="roundRect">
            <a:avLst>
              <a:gd name="adj" fmla="val 8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622853"/>
            <a:ext cx="26289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 3　→　</a:t>
            </a:r>
            <a:pPr algn="ctr" indent="0" marL="0">
              <a:buNone/>
            </a:pPr>
            <a:r>
              <a:rPr lang="en-US" sz="1900" b="1" dirty="0">
                <a:solidFill>
                  <a:srgbClr val="5E85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落去分母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3909060" y="3622853"/>
            <a:ext cx="2811780" cy="877824"/>
          </a:xfrm>
          <a:prstGeom prst="roundRect">
            <a:avLst>
              <a:gd name="adj" fmla="val 8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0500" y="3622853"/>
            <a:ext cx="26289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 2　→　</a:t>
            </a:r>
            <a:pPr algn="ctr" indent="0" marL="0">
              <a:buNone/>
            </a:pPr>
            <a:r>
              <a:rPr lang="en-US" sz="1900" b="1" dirty="0">
                <a:solidFill>
                  <a:srgbClr val="5E85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上去分子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77240" y="465429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下面開方，上面次方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360920" y="1742186"/>
            <a:ext cx="193091" cy="2278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80" dirty="0"/>
          </a:p>
        </p:txBody>
      </p:sp>
      <p:sp>
        <p:nvSpPr>
          <p:cNvPr id="24" name="Shape 22"/>
          <p:cNvSpPr/>
          <p:nvPr/>
        </p:nvSpPr>
        <p:spPr>
          <a:xfrm>
            <a:off x="7544356" y="2013839"/>
            <a:ext cx="51059" cy="87630"/>
          </a:xfrm>
          <a:prstGeom prst="line">
            <a:avLst/>
          </a:prstGeom>
          <a:noFill/>
          <a:ln w="13794">
            <a:solidFill>
              <a:srgbClr val="202A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595415" y="1794180"/>
            <a:ext cx="83307" cy="307289"/>
          </a:xfrm>
          <a:prstGeom prst="line">
            <a:avLst/>
          </a:prstGeom>
          <a:noFill/>
          <a:ln w="13794">
            <a:solidFill>
              <a:srgbClr val="202A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78722" y="1794180"/>
            <a:ext cx="470336" cy="0"/>
          </a:xfrm>
          <a:prstGeom prst="line">
            <a:avLst/>
          </a:prstGeom>
          <a:noFill/>
          <a:ln w="15173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97010" y="1800606"/>
            <a:ext cx="260858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930361" y="1767015"/>
            <a:ext cx="196479" cy="2716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2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26" dirty="0"/>
          </a:p>
        </p:txBody>
      </p:sp>
      <p:sp>
        <p:nvSpPr>
          <p:cNvPr id="29" name="Text 27"/>
          <p:cNvSpPr/>
          <p:nvPr/>
        </p:nvSpPr>
        <p:spPr>
          <a:xfrm>
            <a:off x="8165304" y="1800606"/>
            <a:ext cx="1043686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讀做：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7360920" y="2256282"/>
            <a:ext cx="4251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 嘅平方，開 3 次方」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7360920" y="3202686"/>
            <a:ext cx="4251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 3 → 做分母</a:t>
            </a:r>
            <a:endParaRPr lang="en-US" sz="2300" dirty="0"/>
          </a:p>
        </p:txBody>
      </p:sp>
      <p:sp>
        <p:nvSpPr>
          <p:cNvPr id="32" name="Text 30"/>
          <p:cNvSpPr/>
          <p:nvPr/>
        </p:nvSpPr>
        <p:spPr>
          <a:xfrm>
            <a:off x="7360920" y="4149090"/>
            <a:ext cx="4251960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 2 → 做分子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7360920" y="5113020"/>
            <a:ext cx="1335786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所以寫成 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8696706" y="5113020"/>
            <a:ext cx="260858" cy="438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300" dirty="0"/>
          </a:p>
        </p:txBody>
      </p:sp>
      <p:sp>
        <p:nvSpPr>
          <p:cNvPr id="35" name="Shape 33"/>
          <p:cNvSpPr/>
          <p:nvPr/>
        </p:nvSpPr>
        <p:spPr>
          <a:xfrm>
            <a:off x="8957059" y="5215255"/>
            <a:ext cx="238738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84491" y="4987356"/>
            <a:ext cx="183874" cy="239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5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55" dirty="0"/>
          </a:p>
        </p:txBody>
      </p:sp>
      <p:sp>
        <p:nvSpPr>
          <p:cNvPr id="37" name="Text 35"/>
          <p:cNvSpPr/>
          <p:nvPr/>
        </p:nvSpPr>
        <p:spPr>
          <a:xfrm>
            <a:off x="8984491" y="5237070"/>
            <a:ext cx="183874" cy="2390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55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五個對照，睇熟佢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108960" cy="784860"/>
          </a:xfrm>
          <a:prstGeom prst="rect">
            <a:avLst/>
          </a:prstGeom>
          <a:solidFill>
            <a:srgbClr val="5E8574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310896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根式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3657600" y="1481328"/>
            <a:ext cx="3200400" cy="784860"/>
          </a:xfrm>
          <a:prstGeom prst="rect">
            <a:avLst/>
          </a:prstGeom>
          <a:solidFill>
            <a:srgbClr val="5E8574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81328"/>
            <a:ext cx="320040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分數指數冪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858000" y="1481328"/>
            <a:ext cx="4754880" cy="784860"/>
          </a:xfrm>
          <a:prstGeom prst="rect">
            <a:avLst/>
          </a:prstGeom>
          <a:solidFill>
            <a:srgbClr val="5E8574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8132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點記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548640" y="2266188"/>
            <a:ext cx="310896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392" y="2653030"/>
            <a:ext cx="48839" cy="83820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915231" y="2490978"/>
            <a:ext cx="79685" cy="245872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4916" y="2490978"/>
            <a:ext cx="290068" cy="0"/>
          </a:xfrm>
          <a:prstGeom prst="line">
            <a:avLst/>
          </a:prstGeom>
          <a:noFill/>
          <a:ln w="14513">
            <a:solidFill>
              <a:srgbClr val="202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3204" y="244906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0" y="2266188"/>
            <a:ext cx="320040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7544" y="244906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41093" y="2546858"/>
            <a:ext cx="2347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8525" y="2328868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68525" y="2569712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2266188"/>
            <a:ext cx="475488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226618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冇寫根指數 = 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3051048"/>
            <a:ext cx="310896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95640" y="3178048"/>
            <a:ext cx="188671" cy="2179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1974878" y="3437890"/>
            <a:ext cx="48839" cy="83820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2023717" y="3275838"/>
            <a:ext cx="79685" cy="245872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402" y="3275838"/>
            <a:ext cx="290068" cy="0"/>
          </a:xfrm>
          <a:prstGeom prst="line">
            <a:avLst/>
          </a:prstGeom>
          <a:noFill/>
          <a:ln w="14513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21690" y="323392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3657600" y="3051048"/>
            <a:ext cx="320040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7544" y="323392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5241093" y="3331718"/>
            <a:ext cx="2347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8525" y="3113728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68525" y="3354572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58000" y="3051048"/>
            <a:ext cx="475488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05104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 3 → 分母 3</a:t>
            </a:r>
            <a:endParaRPr lang="en-US" sz="2000" dirty="0"/>
          </a:p>
        </p:txBody>
      </p:sp>
      <p:sp>
        <p:nvSpPr>
          <p:cNvPr id="37" name="Shape 35"/>
          <p:cNvSpPr/>
          <p:nvPr/>
        </p:nvSpPr>
        <p:spPr>
          <a:xfrm>
            <a:off x="548640" y="3835908"/>
            <a:ext cx="310896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11199" y="3962908"/>
            <a:ext cx="188671" cy="2179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1890437" y="4222750"/>
            <a:ext cx="48839" cy="83820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1939276" y="4012641"/>
            <a:ext cx="79685" cy="293929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18961" y="4012641"/>
            <a:ext cx="458951" cy="0"/>
          </a:xfrm>
          <a:prstGeom prst="line">
            <a:avLst/>
          </a:prstGeom>
          <a:noFill/>
          <a:ln w="14513">
            <a:solidFill>
              <a:srgbClr val="202A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37249" y="401878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2263873" y="3986657"/>
            <a:ext cx="191912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64" dirty="0"/>
          </a:p>
        </p:txBody>
      </p:sp>
      <p:sp>
        <p:nvSpPr>
          <p:cNvPr id="44" name="Shape 42"/>
          <p:cNvSpPr/>
          <p:nvPr/>
        </p:nvSpPr>
        <p:spPr>
          <a:xfrm>
            <a:off x="3657600" y="3835908"/>
            <a:ext cx="320040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7544" y="401878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5241093" y="4116578"/>
            <a:ext cx="2347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68525" y="3898588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68525" y="4139432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858000" y="3835908"/>
            <a:ext cx="475488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0" y="383590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再加次方 2 → 分子 2</a:t>
            </a:r>
            <a:endParaRPr lang="en-US" sz="2000" dirty="0"/>
          </a:p>
        </p:txBody>
      </p:sp>
      <p:sp>
        <p:nvSpPr>
          <p:cNvPr id="51" name="Shape 49"/>
          <p:cNvSpPr/>
          <p:nvPr/>
        </p:nvSpPr>
        <p:spPr>
          <a:xfrm>
            <a:off x="548640" y="4620768"/>
            <a:ext cx="310896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81951" y="5007610"/>
            <a:ext cx="48839" cy="83820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1830790" y="4797501"/>
            <a:ext cx="79685" cy="293929"/>
          </a:xfrm>
          <a:prstGeom prst="line">
            <a:avLst/>
          </a:prstGeom>
          <a:noFill/>
          <a:ln w="13194">
            <a:solidFill>
              <a:srgbClr val="202A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10475" y="4797501"/>
            <a:ext cx="458951" cy="0"/>
          </a:xfrm>
          <a:prstGeom prst="line">
            <a:avLst/>
          </a:prstGeom>
          <a:noFill/>
          <a:ln w="14513">
            <a:solidFill>
              <a:srgbClr val="202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28763" y="480364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2155387" y="4771517"/>
            <a:ext cx="191912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64" dirty="0"/>
          </a:p>
        </p:txBody>
      </p:sp>
      <p:sp>
        <p:nvSpPr>
          <p:cNvPr id="57" name="Shape 55"/>
          <p:cNvSpPr/>
          <p:nvPr/>
        </p:nvSpPr>
        <p:spPr>
          <a:xfrm>
            <a:off x="3657600" y="4620768"/>
            <a:ext cx="320040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87544" y="480364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59" name="Shape 57"/>
          <p:cNvSpPr/>
          <p:nvPr/>
        </p:nvSpPr>
        <p:spPr>
          <a:xfrm>
            <a:off x="5241093" y="4901438"/>
            <a:ext cx="2347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68525" y="4683448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68525" y="4924292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858000" y="4620768"/>
            <a:ext cx="4754880" cy="784860"/>
          </a:xfrm>
          <a:prstGeom prst="rect">
            <a:avLst/>
          </a:prstGeom>
          <a:solidFill>
            <a:srgbClr val="F1F4F1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0" y="462076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 2、次方 3</a:t>
            </a:r>
            <a:endParaRPr lang="en-US" sz="2000" dirty="0"/>
          </a:p>
        </p:txBody>
      </p:sp>
      <p:sp>
        <p:nvSpPr>
          <p:cNvPr id="64" name="Shape 62"/>
          <p:cNvSpPr/>
          <p:nvPr/>
        </p:nvSpPr>
        <p:spPr>
          <a:xfrm>
            <a:off x="548640" y="5405628"/>
            <a:ext cx="310896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710882" y="5798058"/>
            <a:ext cx="784476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86097" y="5446461"/>
            <a:ext cx="234046" cy="368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936" dirty="0"/>
          </a:p>
        </p:txBody>
      </p:sp>
      <p:sp>
        <p:nvSpPr>
          <p:cNvPr id="67" name="Text 65"/>
          <p:cNvSpPr/>
          <p:nvPr/>
        </p:nvSpPr>
        <p:spPr>
          <a:xfrm>
            <a:off x="1738314" y="5843778"/>
            <a:ext cx="177003" cy="1917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6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62" dirty="0"/>
          </a:p>
        </p:txBody>
      </p:sp>
      <p:sp>
        <p:nvSpPr>
          <p:cNvPr id="68" name="Shape 66"/>
          <p:cNvSpPr/>
          <p:nvPr/>
        </p:nvSpPr>
        <p:spPr>
          <a:xfrm>
            <a:off x="1906467" y="6072439"/>
            <a:ext cx="42978" cy="73762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949446" y="5887543"/>
            <a:ext cx="70123" cy="258657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019568" y="5887543"/>
            <a:ext cx="428895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037856" y="5892952"/>
            <a:ext cx="234046" cy="3688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3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936" dirty="0"/>
          </a:p>
        </p:txBody>
      </p:sp>
      <p:sp>
        <p:nvSpPr>
          <p:cNvPr id="72" name="Text 70"/>
          <p:cNvSpPr/>
          <p:nvPr/>
        </p:nvSpPr>
        <p:spPr>
          <a:xfrm>
            <a:off x="2246722" y="5864677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3657600" y="5405628"/>
            <a:ext cx="320040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903102" y="5588508"/>
            <a:ext cx="253492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5084064" y="5556377"/>
            <a:ext cx="191912" cy="2598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64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1364" dirty="0"/>
          </a:p>
        </p:txBody>
      </p:sp>
      <p:sp>
        <p:nvSpPr>
          <p:cNvPr id="76" name="Shape 74"/>
          <p:cNvSpPr/>
          <p:nvPr/>
        </p:nvSpPr>
        <p:spPr>
          <a:xfrm>
            <a:off x="5321697" y="5686298"/>
            <a:ext cx="2347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349129" y="5468308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349129" y="5709152"/>
            <a:ext cx="179856" cy="2286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6858000" y="5405628"/>
            <a:ext cx="4754880" cy="7848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58000" y="5405628"/>
            <a:ext cx="475488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喺分母 → 指數加負號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練習一：根式 ↔ 分數指數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寫成分數指數：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" y="33147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38428" y="3261360"/>
            <a:ext cx="184252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60" dirty="0"/>
          </a:p>
        </p:txBody>
      </p:sp>
      <p:sp>
        <p:nvSpPr>
          <p:cNvPr id="13" name="Shape 11"/>
          <p:cNvSpPr/>
          <p:nvPr/>
        </p:nvSpPr>
        <p:spPr>
          <a:xfrm>
            <a:off x="1313467" y="3509391"/>
            <a:ext cx="46619" cy="8001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360086" y="3308833"/>
            <a:ext cx="76063" cy="280568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36149" y="3308833"/>
            <a:ext cx="447566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54437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674335" y="328403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2" dirty="0"/>
          </a:p>
        </p:txBody>
      </p:sp>
      <p:sp>
        <p:nvSpPr>
          <p:cNvPr id="18" name="Text 16"/>
          <p:cNvSpPr/>
          <p:nvPr/>
        </p:nvSpPr>
        <p:spPr>
          <a:xfrm>
            <a:off x="1901729" y="33147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138428" y="4309491"/>
            <a:ext cx="46619" cy="8001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1185047" y="4154805"/>
            <a:ext cx="76063" cy="234696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1110" y="4154805"/>
            <a:ext cx="282702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79398" y="41148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598676" y="41148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27" name="Text 25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99432" y="25146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914900" y="2709291"/>
            <a:ext cx="46619" cy="8001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4961519" y="2508733"/>
            <a:ext cx="76063" cy="280568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37582" y="2508733"/>
            <a:ext cx="447566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55870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5275768" y="248393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2" dirty="0"/>
          </a:p>
        </p:txBody>
      </p:sp>
      <p:sp>
        <p:nvSpPr>
          <p:cNvPr id="35" name="Text 33"/>
          <p:cNvSpPr/>
          <p:nvPr/>
        </p:nvSpPr>
        <p:spPr>
          <a:xfrm>
            <a:off x="5540012" y="25146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36" name="Text 34"/>
          <p:cNvSpPr/>
          <p:nvPr/>
        </p:nvSpPr>
        <p:spPr>
          <a:xfrm>
            <a:off x="4599432" y="33147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endParaRPr lang="en-US" sz="2100" dirty="0"/>
          </a:p>
        </p:txBody>
      </p:sp>
      <p:sp>
        <p:nvSpPr>
          <p:cNvPr id="37" name="Shape 35"/>
          <p:cNvSpPr/>
          <p:nvPr/>
        </p:nvSpPr>
        <p:spPr>
          <a:xfrm>
            <a:off x="4960620" y="3514725"/>
            <a:ext cx="76640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038" y="31791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48" dirty="0"/>
          </a:p>
        </p:txBody>
      </p:sp>
      <p:sp>
        <p:nvSpPr>
          <p:cNvPr id="39" name="Text 37"/>
          <p:cNvSpPr/>
          <p:nvPr/>
        </p:nvSpPr>
        <p:spPr>
          <a:xfrm>
            <a:off x="4988052" y="3560445"/>
            <a:ext cx="173114" cy="183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9" dirty="0"/>
          </a:p>
        </p:txBody>
      </p:sp>
      <p:sp>
        <p:nvSpPr>
          <p:cNvPr id="40" name="Shape 38"/>
          <p:cNvSpPr/>
          <p:nvPr/>
        </p:nvSpPr>
        <p:spPr>
          <a:xfrm>
            <a:off x="5152510" y="3778712"/>
            <a:ext cx="41025" cy="70409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193535" y="3602221"/>
            <a:ext cx="66935" cy="24690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260471" y="3602221"/>
            <a:ext cx="418876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78759" y="3607384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848" dirty="0"/>
          </a:p>
        </p:txBody>
      </p:sp>
      <p:sp>
        <p:nvSpPr>
          <p:cNvPr id="44" name="Text 42"/>
          <p:cNvSpPr/>
          <p:nvPr/>
        </p:nvSpPr>
        <p:spPr>
          <a:xfrm>
            <a:off x="5481705" y="358039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46" dirty="0"/>
          </a:p>
        </p:txBody>
      </p:sp>
      <p:sp>
        <p:nvSpPr>
          <p:cNvPr id="45" name="Text 43"/>
          <p:cNvSpPr/>
          <p:nvPr/>
        </p:nvSpPr>
        <p:spPr>
          <a:xfrm>
            <a:off x="5772740" y="33147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4599432" y="41148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</a:t>
            </a:r>
            <a:endParaRPr lang="en-US" sz="2100" dirty="0"/>
          </a:p>
        </p:txBody>
      </p:sp>
      <p:sp>
        <p:nvSpPr>
          <p:cNvPr id="47" name="Shape 45"/>
          <p:cNvSpPr/>
          <p:nvPr/>
        </p:nvSpPr>
        <p:spPr>
          <a:xfrm>
            <a:off x="4960620" y="4314825"/>
            <a:ext cx="282428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88052" y="39792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48" dirty="0"/>
          </a:p>
        </p:txBody>
      </p:sp>
      <p:sp>
        <p:nvSpPr>
          <p:cNvPr id="49" name="Text 47"/>
          <p:cNvSpPr/>
          <p:nvPr/>
        </p:nvSpPr>
        <p:spPr>
          <a:xfrm>
            <a:off x="4988052" y="4325341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848" dirty="0"/>
          </a:p>
        </p:txBody>
      </p:sp>
      <p:sp>
        <p:nvSpPr>
          <p:cNvPr id="50" name="Shape 48"/>
          <p:cNvSpPr/>
          <p:nvPr/>
        </p:nvSpPr>
        <p:spPr>
          <a:xfrm>
            <a:off x="5289388" y="42081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16820" y="40000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52" name="Text 50"/>
          <p:cNvSpPr/>
          <p:nvPr/>
        </p:nvSpPr>
        <p:spPr>
          <a:xfrm>
            <a:off x="5316820" y="42320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53" name="Text 51"/>
          <p:cNvSpPr/>
          <p:nvPr/>
        </p:nvSpPr>
        <p:spPr>
          <a:xfrm>
            <a:off x="5572251" y="41148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56" name="Text 54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8375904" y="25146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8691372" y="2461260"/>
            <a:ext cx="184252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8866411" y="2709291"/>
            <a:ext cx="46619" cy="8001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8913030" y="2554605"/>
            <a:ext cx="76063" cy="234696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989093" y="2554605"/>
            <a:ext cx="282702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007381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64" name="Text 62"/>
          <p:cNvSpPr/>
          <p:nvPr/>
        </p:nvSpPr>
        <p:spPr>
          <a:xfrm>
            <a:off x="9289809" y="25146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</a:t>
            </a:r>
            <a:endParaRPr lang="en-US" sz="2100" dirty="0"/>
          </a:p>
        </p:txBody>
      </p:sp>
      <p:sp>
        <p:nvSpPr>
          <p:cNvPr id="65" name="Text 63"/>
          <p:cNvSpPr/>
          <p:nvPr/>
        </p:nvSpPr>
        <p:spPr>
          <a:xfrm>
            <a:off x="9674619" y="2461260"/>
            <a:ext cx="277063" cy="2080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260" dirty="0"/>
          </a:p>
        </p:txBody>
      </p:sp>
      <p:sp>
        <p:nvSpPr>
          <p:cNvPr id="66" name="Shape 64"/>
          <p:cNvSpPr/>
          <p:nvPr/>
        </p:nvSpPr>
        <p:spPr>
          <a:xfrm>
            <a:off x="9937829" y="2709291"/>
            <a:ext cx="46619" cy="80010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984448" y="2554605"/>
            <a:ext cx="76063" cy="234696"/>
          </a:xfrm>
          <a:prstGeom prst="line">
            <a:avLst/>
          </a:prstGeom>
          <a:noFill/>
          <a:ln w="12700">
            <a:solidFill>
              <a:srgbClr val="202A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060511" y="2554605"/>
            <a:ext cx="282702" cy="0"/>
          </a:xfrm>
          <a:prstGeom prst="line">
            <a:avLst/>
          </a:prstGeom>
          <a:noFill/>
          <a:ln w="13970">
            <a:solidFill>
              <a:srgbClr val="202A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78799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70" name="Text 68"/>
          <p:cNvSpPr/>
          <p:nvPr/>
        </p:nvSpPr>
        <p:spPr>
          <a:xfrm>
            <a:off x="8375904" y="331470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化成一個</a:t>
            </a:r>
            <a:endParaRPr lang="en-US" sz="2100" dirty="0"/>
          </a:p>
        </p:txBody>
      </p:sp>
      <p:sp>
        <p:nvSpPr>
          <p:cNvPr id="71" name="Text 69"/>
          <p:cNvSpPr/>
          <p:nvPr/>
        </p:nvSpPr>
        <p:spPr>
          <a:xfrm>
            <a:off x="8375904" y="371475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分數指數冪。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每題先問：根指數係幾多？次方係幾多？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轉咗做指數，法則好簡單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 → 指數相加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73808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023023" y="2362708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50455" y="2164535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91" dirty="0"/>
          </a:p>
        </p:txBody>
      </p:sp>
      <p:sp>
        <p:nvSpPr>
          <p:cNvPr id="13" name="Text 11"/>
          <p:cNvSpPr/>
          <p:nvPr/>
        </p:nvSpPr>
        <p:spPr>
          <a:xfrm>
            <a:off x="2050455" y="238764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91" dirty="0"/>
          </a:p>
        </p:txBody>
      </p:sp>
      <p:sp>
        <p:nvSpPr>
          <p:cNvPr id="14" name="Text 12"/>
          <p:cNvSpPr/>
          <p:nvPr/>
        </p:nvSpPr>
        <p:spPr>
          <a:xfrm>
            <a:off x="2301787" y="2273808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672627" y="2273808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912570" y="2362708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40002" y="2164535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91" dirty="0"/>
          </a:p>
        </p:txBody>
      </p:sp>
      <p:sp>
        <p:nvSpPr>
          <p:cNvPr id="18" name="Text 16"/>
          <p:cNvSpPr/>
          <p:nvPr/>
        </p:nvSpPr>
        <p:spPr>
          <a:xfrm>
            <a:off x="2940002" y="238764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19" name="Text 17"/>
          <p:cNvSpPr/>
          <p:nvPr/>
        </p:nvSpPr>
        <p:spPr>
          <a:xfrm>
            <a:off x="3191334" y="2273808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62174" y="2273808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802117" y="2362708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29549" y="2164535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91" dirty="0"/>
          </a:p>
        </p:txBody>
      </p:sp>
      <p:sp>
        <p:nvSpPr>
          <p:cNvPr id="23" name="Text 21"/>
          <p:cNvSpPr/>
          <p:nvPr/>
        </p:nvSpPr>
        <p:spPr>
          <a:xfrm>
            <a:off x="3829549" y="238764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91" dirty="0"/>
          </a:p>
        </p:txBody>
      </p:sp>
      <p:sp>
        <p:nvSpPr>
          <p:cNvPr id="24" name="Shape 22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 → 指數相減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783080" y="3864864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2023023" y="3953764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0455" y="375559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91" dirty="0"/>
          </a:p>
        </p:txBody>
      </p:sp>
      <p:sp>
        <p:nvSpPr>
          <p:cNvPr id="31" name="Text 29"/>
          <p:cNvSpPr/>
          <p:nvPr/>
        </p:nvSpPr>
        <p:spPr>
          <a:xfrm>
            <a:off x="2050455" y="3978697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32" name="Text 30"/>
          <p:cNvSpPr/>
          <p:nvPr/>
        </p:nvSpPr>
        <p:spPr>
          <a:xfrm>
            <a:off x="2301787" y="3864864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672627" y="3864864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2912570" y="3953764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40002" y="375559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91" dirty="0"/>
          </a:p>
        </p:txBody>
      </p:sp>
      <p:sp>
        <p:nvSpPr>
          <p:cNvPr id="36" name="Text 34"/>
          <p:cNvSpPr/>
          <p:nvPr/>
        </p:nvSpPr>
        <p:spPr>
          <a:xfrm>
            <a:off x="2940002" y="3978697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37" name="Text 35"/>
          <p:cNvSpPr/>
          <p:nvPr/>
        </p:nvSpPr>
        <p:spPr>
          <a:xfrm>
            <a:off x="3191334" y="3864864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562174" y="3864864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3802117" y="3953764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29549" y="3755591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91" dirty="0"/>
          </a:p>
        </p:txBody>
      </p:sp>
      <p:sp>
        <p:nvSpPr>
          <p:cNvPr id="41" name="Text 39"/>
          <p:cNvSpPr/>
          <p:nvPr/>
        </p:nvSpPr>
        <p:spPr>
          <a:xfrm>
            <a:off x="3829549" y="3978697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42" name="Shape 40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次方再次方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兩個指數相乘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1783080" y="5455920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2021840" y="5455920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2235011" y="5426710"/>
            <a:ext cx="182778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240" dirty="0"/>
          </a:p>
        </p:txBody>
      </p:sp>
      <p:sp>
        <p:nvSpPr>
          <p:cNvPr id="49" name="Text 47"/>
          <p:cNvSpPr/>
          <p:nvPr/>
        </p:nvSpPr>
        <p:spPr>
          <a:xfrm>
            <a:off x="2421445" y="5455920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000" dirty="0"/>
          </a:p>
        </p:txBody>
      </p:sp>
      <p:sp>
        <p:nvSpPr>
          <p:cNvPr id="50" name="Shape 48"/>
          <p:cNvSpPr/>
          <p:nvPr/>
        </p:nvSpPr>
        <p:spPr>
          <a:xfrm>
            <a:off x="2661388" y="5544820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88820" y="5346647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91" dirty="0"/>
          </a:p>
        </p:txBody>
      </p:sp>
      <p:sp>
        <p:nvSpPr>
          <p:cNvPr id="52" name="Text 50"/>
          <p:cNvSpPr/>
          <p:nvPr/>
        </p:nvSpPr>
        <p:spPr>
          <a:xfrm>
            <a:off x="2688820" y="5569753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53" name="Text 51"/>
          <p:cNvSpPr/>
          <p:nvPr/>
        </p:nvSpPr>
        <p:spPr>
          <a:xfrm>
            <a:off x="2940152" y="5455920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3310992" y="5455920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3455374" y="5426710"/>
            <a:ext cx="356006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× </a:t>
            </a:r>
            <a:endParaRPr lang="en-US" sz="1240" dirty="0"/>
          </a:p>
        </p:txBody>
      </p:sp>
      <p:sp>
        <p:nvSpPr>
          <p:cNvPr id="56" name="Shape 54"/>
          <p:cNvSpPr/>
          <p:nvPr/>
        </p:nvSpPr>
        <p:spPr>
          <a:xfrm>
            <a:off x="3857101" y="5544820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84533" y="5346647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91" dirty="0"/>
          </a:p>
        </p:txBody>
      </p:sp>
      <p:sp>
        <p:nvSpPr>
          <p:cNvPr id="58" name="Text 56"/>
          <p:cNvSpPr/>
          <p:nvPr/>
        </p:nvSpPr>
        <p:spPr>
          <a:xfrm>
            <a:off x="3884533" y="5569753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59" name="Text 57"/>
          <p:cNvSpPr/>
          <p:nvPr/>
        </p:nvSpPr>
        <p:spPr>
          <a:xfrm>
            <a:off x="4142985" y="5455920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13825" y="5455920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4726996" y="5426710"/>
            <a:ext cx="182778" cy="2362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2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示範：求 8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2/3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2200275"/>
            <a:ext cx="37398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底數寫成同一個數嘅次方：8 =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248656" y="220027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68554" y="2169605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2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223760" y="2200275"/>
            <a:ext cx="89154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代入：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115300" y="220027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8362046" y="2293620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89478" y="2085539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19" name="Text 17"/>
          <p:cNvSpPr/>
          <p:nvPr/>
        </p:nvSpPr>
        <p:spPr>
          <a:xfrm>
            <a:off x="8389478" y="2317513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20" name="Text 18"/>
          <p:cNvSpPr/>
          <p:nvPr/>
        </p:nvSpPr>
        <p:spPr>
          <a:xfrm>
            <a:off x="8644910" y="2200275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029720" y="220027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275846" y="220027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495743" y="2169605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2" dirty="0"/>
          </a:p>
        </p:txBody>
      </p:sp>
      <p:sp>
        <p:nvSpPr>
          <p:cNvPr id="24" name="Text 22"/>
          <p:cNvSpPr/>
          <p:nvPr/>
        </p:nvSpPr>
        <p:spPr>
          <a:xfrm>
            <a:off x="9686836" y="220027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</p:txBody>
      </p:sp>
      <p:sp>
        <p:nvSpPr>
          <p:cNvPr id="25" name="Shape 23"/>
          <p:cNvSpPr/>
          <p:nvPr/>
        </p:nvSpPr>
        <p:spPr>
          <a:xfrm>
            <a:off x="9933582" y="2293620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1014" y="2085539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27" name="Text 25"/>
          <p:cNvSpPr/>
          <p:nvPr/>
        </p:nvSpPr>
        <p:spPr>
          <a:xfrm>
            <a:off x="9961014" y="2317513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28" name="Shape 26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508760" y="4349115"/>
            <a:ext cx="349986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次方再次方 → 指數相乘：3 × 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5054346" y="4549140"/>
            <a:ext cx="282428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1778" y="4213525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48" dirty="0"/>
          </a:p>
        </p:txBody>
      </p:sp>
      <p:sp>
        <p:nvSpPr>
          <p:cNvPr id="34" name="Text 32"/>
          <p:cNvSpPr/>
          <p:nvPr/>
        </p:nvSpPr>
        <p:spPr>
          <a:xfrm>
            <a:off x="5081778" y="4559656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48" dirty="0"/>
          </a:p>
        </p:txBody>
      </p:sp>
      <p:sp>
        <p:nvSpPr>
          <p:cNvPr id="35" name="Text 33"/>
          <p:cNvSpPr/>
          <p:nvPr/>
        </p:nvSpPr>
        <p:spPr>
          <a:xfrm>
            <a:off x="5382494" y="4349115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2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38" name="Text 36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7223760" y="4349115"/>
            <a:ext cx="142494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算出答案：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8648700" y="4349115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8868598" y="4318445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2" dirty="0"/>
          </a:p>
        </p:txBody>
      </p:sp>
      <p:sp>
        <p:nvSpPr>
          <p:cNvPr id="42" name="Text 40"/>
          <p:cNvSpPr/>
          <p:nvPr/>
        </p:nvSpPr>
        <p:spPr>
          <a:xfrm>
            <a:off x="9059690" y="4349115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4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呢四步，之後每一題都照咁寫，唔使另外諗格式。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三條最易錯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670304"/>
            <a:ext cx="701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92680" y="1670304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660904" y="1670304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85637" y="1635252"/>
            <a:ext cx="3106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-2</a:t>
            </a:r>
            <a:endParaRPr lang="en-US" sz="1488" dirty="0"/>
          </a:p>
        </p:txBody>
      </p:sp>
      <p:sp>
        <p:nvSpPr>
          <p:cNvPr id="13" name="Text 11"/>
          <p:cNvSpPr/>
          <p:nvPr/>
        </p:nvSpPr>
        <p:spPr>
          <a:xfrm>
            <a:off x="3202502" y="1670304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74942" y="1898904"/>
            <a:ext cx="71423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08552" y="1515344"/>
            <a:ext cx="2470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1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112" dirty="0"/>
          </a:p>
        </p:txBody>
      </p:sp>
      <p:sp>
        <p:nvSpPr>
          <p:cNvPr id="16" name="Text 14"/>
          <p:cNvSpPr/>
          <p:nvPr/>
        </p:nvSpPr>
        <p:spPr>
          <a:xfrm>
            <a:off x="3702374" y="1950525"/>
            <a:ext cx="2470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1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112" dirty="0"/>
          </a:p>
        </p:txBody>
      </p:sp>
      <p:sp>
        <p:nvSpPr>
          <p:cNvPr id="17" name="Text 15"/>
          <p:cNvSpPr/>
          <p:nvPr/>
        </p:nvSpPr>
        <p:spPr>
          <a:xfrm>
            <a:off x="3949384" y="1950525"/>
            <a:ext cx="2470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1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12" dirty="0"/>
          </a:p>
        </p:txBody>
      </p:sp>
      <p:sp>
        <p:nvSpPr>
          <p:cNvPr id="18" name="Text 16"/>
          <p:cNvSpPr/>
          <p:nvPr/>
        </p:nvSpPr>
        <p:spPr>
          <a:xfrm>
            <a:off x="4170089" y="1919679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9" dirty="0"/>
          </a:p>
        </p:txBody>
      </p:sp>
      <p:sp>
        <p:nvSpPr>
          <p:cNvPr id="19" name="Text 17"/>
          <p:cNvSpPr/>
          <p:nvPr/>
        </p:nvSpPr>
        <p:spPr>
          <a:xfrm>
            <a:off x="1691640" y="2269236"/>
            <a:ext cx="52476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負指數淨係搬 a，個 3 唔跟住落分母 → 應該係 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85000" y="2459736"/>
            <a:ext cx="427145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8032" y="2140102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60" dirty="0"/>
          </a:p>
        </p:txBody>
      </p:sp>
      <p:sp>
        <p:nvSpPr>
          <p:cNvPr id="22" name="Text 20"/>
          <p:cNvSpPr/>
          <p:nvPr/>
        </p:nvSpPr>
        <p:spPr>
          <a:xfrm>
            <a:off x="7012432" y="2510373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1760" dirty="0"/>
          </a:p>
        </p:txBody>
      </p:sp>
      <p:sp>
        <p:nvSpPr>
          <p:cNvPr id="23" name="Text 21"/>
          <p:cNvSpPr/>
          <p:nvPr/>
        </p:nvSpPr>
        <p:spPr>
          <a:xfrm>
            <a:off x="7209459" y="2484669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91" dirty="0"/>
          </a:p>
        </p:txBody>
      </p:sp>
      <p:sp>
        <p:nvSpPr>
          <p:cNvPr id="24" name="Shape 22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1691640" y="3139440"/>
            <a:ext cx="701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2392680" y="3078480"/>
            <a:ext cx="19751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40" dirty="0"/>
          </a:p>
        </p:txBody>
      </p:sp>
      <p:sp>
        <p:nvSpPr>
          <p:cNvPr id="29" name="Shape 27"/>
          <p:cNvSpPr/>
          <p:nvPr/>
        </p:nvSpPr>
        <p:spPr>
          <a:xfrm>
            <a:off x="2580315" y="3361944"/>
            <a:ext cx="53279" cy="91440"/>
          </a:xfrm>
          <a:prstGeom prst="line">
            <a:avLst/>
          </a:prstGeom>
          <a:noFill/>
          <a:ln w="14393">
            <a:solidFill>
              <a:srgbClr val="202A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633594" y="3132734"/>
            <a:ext cx="86929" cy="320650"/>
          </a:xfrm>
          <a:prstGeom prst="line">
            <a:avLst/>
          </a:prstGeom>
          <a:noFill/>
          <a:ln w="14393">
            <a:solidFill>
              <a:srgbClr val="202A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20523" y="3132734"/>
            <a:ext cx="481721" cy="0"/>
          </a:xfrm>
          <a:prstGeom prst="line">
            <a:avLst/>
          </a:prstGeom>
          <a:noFill/>
          <a:ln w="15833">
            <a:solidFill>
              <a:srgbClr val="202A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38811" y="3139440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2978888" y="3104388"/>
            <a:ext cx="20104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88" dirty="0"/>
          </a:p>
        </p:txBody>
      </p:sp>
      <p:sp>
        <p:nvSpPr>
          <p:cNvPr id="34" name="Text 32"/>
          <p:cNvSpPr/>
          <p:nvPr/>
        </p:nvSpPr>
        <p:spPr>
          <a:xfrm>
            <a:off x="3217605" y="3139440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644325" y="3139440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3911482" y="3246120"/>
            <a:ext cx="24275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8914" y="3008313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9" dirty="0"/>
          </a:p>
        </p:txBody>
      </p:sp>
      <p:sp>
        <p:nvSpPr>
          <p:cNvPr id="38" name="Text 36"/>
          <p:cNvSpPr/>
          <p:nvPr/>
        </p:nvSpPr>
        <p:spPr>
          <a:xfrm>
            <a:off x="3938914" y="3266895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309" dirty="0"/>
          </a:p>
        </p:txBody>
      </p:sp>
      <p:sp>
        <p:nvSpPr>
          <p:cNvPr id="39" name="Text 37"/>
          <p:cNvSpPr/>
          <p:nvPr/>
        </p:nvSpPr>
        <p:spPr>
          <a:xfrm>
            <a:off x="1691640" y="3738372"/>
            <a:ext cx="480568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 3 落分母、次方 4 上分子 → 應該係 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497320" y="3738372"/>
            <a:ext cx="23876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737263" y="3827272"/>
            <a:ext cx="226682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4695" y="3629099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91" dirty="0"/>
          </a:p>
        </p:txBody>
      </p:sp>
      <p:sp>
        <p:nvSpPr>
          <p:cNvPr id="43" name="Text 41"/>
          <p:cNvSpPr/>
          <p:nvPr/>
        </p:nvSpPr>
        <p:spPr>
          <a:xfrm>
            <a:off x="6764695" y="3852205"/>
            <a:ext cx="171818" cy="2078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1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91" dirty="0"/>
          </a:p>
        </p:txBody>
      </p:sp>
      <p:sp>
        <p:nvSpPr>
          <p:cNvPr id="44" name="Shape 4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46" name="Text 4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1691640" y="4608576"/>
            <a:ext cx="7010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2392680" y="4608576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49" name="Shape 47"/>
          <p:cNvSpPr/>
          <p:nvPr/>
        </p:nvSpPr>
        <p:spPr>
          <a:xfrm>
            <a:off x="2659836" y="4715256"/>
            <a:ext cx="24275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87268" y="4477449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9" dirty="0"/>
          </a:p>
        </p:txBody>
      </p:sp>
      <p:sp>
        <p:nvSpPr>
          <p:cNvPr id="51" name="Text 49"/>
          <p:cNvSpPr/>
          <p:nvPr/>
        </p:nvSpPr>
        <p:spPr>
          <a:xfrm>
            <a:off x="2687268" y="4736031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9" dirty="0"/>
          </a:p>
        </p:txBody>
      </p:sp>
      <p:sp>
        <p:nvSpPr>
          <p:cNvPr id="52" name="Text 50"/>
          <p:cNvSpPr/>
          <p:nvPr/>
        </p:nvSpPr>
        <p:spPr>
          <a:xfrm>
            <a:off x="2954998" y="4608576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3381718" y="4608576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54" name="Shape 52"/>
          <p:cNvSpPr/>
          <p:nvPr/>
        </p:nvSpPr>
        <p:spPr>
          <a:xfrm>
            <a:off x="3648874" y="4715256"/>
            <a:ext cx="24275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76306" y="4477449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9" dirty="0"/>
          </a:p>
        </p:txBody>
      </p:sp>
      <p:sp>
        <p:nvSpPr>
          <p:cNvPr id="56" name="Text 54"/>
          <p:cNvSpPr/>
          <p:nvPr/>
        </p:nvSpPr>
        <p:spPr>
          <a:xfrm>
            <a:off x="3676306" y="4736031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9" dirty="0"/>
          </a:p>
        </p:txBody>
      </p:sp>
      <p:sp>
        <p:nvSpPr>
          <p:cNvPr id="57" name="Text 55"/>
          <p:cNvSpPr/>
          <p:nvPr/>
        </p:nvSpPr>
        <p:spPr>
          <a:xfrm>
            <a:off x="3944035" y="4608576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4370755" y="4608576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4637912" y="4715256"/>
            <a:ext cx="24275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5344" y="4477449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9" dirty="0"/>
          </a:p>
        </p:txBody>
      </p:sp>
      <p:sp>
        <p:nvSpPr>
          <p:cNvPr id="61" name="Text 59"/>
          <p:cNvSpPr/>
          <p:nvPr/>
        </p:nvSpPr>
        <p:spPr>
          <a:xfrm>
            <a:off x="4665344" y="4736031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9" dirty="0"/>
          </a:p>
        </p:txBody>
      </p:sp>
      <p:sp>
        <p:nvSpPr>
          <p:cNvPr id="62" name="Text 60"/>
          <p:cNvSpPr/>
          <p:nvPr/>
        </p:nvSpPr>
        <p:spPr>
          <a:xfrm>
            <a:off x="1691640" y="5207508"/>
            <a:ext cx="26314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底數一樣，指數相減：</a:t>
            </a:r>
            <a:endParaRPr lang="en-US" sz="2000" dirty="0"/>
          </a:p>
        </p:txBody>
      </p:sp>
      <p:sp>
        <p:nvSpPr>
          <p:cNvPr id="63" name="Shape 61"/>
          <p:cNvSpPr/>
          <p:nvPr/>
        </p:nvSpPr>
        <p:spPr>
          <a:xfrm>
            <a:off x="4368800" y="5398008"/>
            <a:ext cx="275946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96232" y="5078374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60" dirty="0"/>
          </a:p>
        </p:txBody>
      </p:sp>
      <p:sp>
        <p:nvSpPr>
          <p:cNvPr id="65" name="Text 63"/>
          <p:cNvSpPr/>
          <p:nvPr/>
        </p:nvSpPr>
        <p:spPr>
          <a:xfrm>
            <a:off x="4396232" y="5410200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60" dirty="0"/>
          </a:p>
        </p:txBody>
      </p:sp>
      <p:sp>
        <p:nvSpPr>
          <p:cNvPr id="66" name="Text 64"/>
          <p:cNvSpPr/>
          <p:nvPr/>
        </p:nvSpPr>
        <p:spPr>
          <a:xfrm>
            <a:off x="4690466" y="5207508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− </a:t>
            </a:r>
            <a:endParaRPr lang="en-US" sz="2000" dirty="0"/>
          </a:p>
        </p:txBody>
      </p:sp>
      <p:sp>
        <p:nvSpPr>
          <p:cNvPr id="67" name="Shape 65"/>
          <p:cNvSpPr/>
          <p:nvPr/>
        </p:nvSpPr>
        <p:spPr>
          <a:xfrm>
            <a:off x="5107026" y="5398008"/>
            <a:ext cx="275946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34458" y="5078374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60" dirty="0"/>
          </a:p>
        </p:txBody>
      </p:sp>
      <p:sp>
        <p:nvSpPr>
          <p:cNvPr id="69" name="Text 67"/>
          <p:cNvSpPr/>
          <p:nvPr/>
        </p:nvSpPr>
        <p:spPr>
          <a:xfrm>
            <a:off x="5134458" y="5410200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60" dirty="0"/>
          </a:p>
        </p:txBody>
      </p:sp>
      <p:sp>
        <p:nvSpPr>
          <p:cNvPr id="70" name="Text 68"/>
          <p:cNvSpPr/>
          <p:nvPr/>
        </p:nvSpPr>
        <p:spPr>
          <a:xfrm>
            <a:off x="5428691" y="5207508"/>
            <a:ext cx="37084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000" dirty="0"/>
          </a:p>
        </p:txBody>
      </p:sp>
      <p:sp>
        <p:nvSpPr>
          <p:cNvPr id="71" name="Shape 69"/>
          <p:cNvSpPr/>
          <p:nvPr/>
        </p:nvSpPr>
        <p:spPr>
          <a:xfrm>
            <a:off x="5845251" y="5398008"/>
            <a:ext cx="275946" cy="0"/>
          </a:xfrm>
          <a:prstGeom prst="line">
            <a:avLst/>
          </a:prstGeom>
          <a:noFill/>
          <a:ln w="28575">
            <a:solidFill>
              <a:srgbClr val="4E5C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72683" y="5078374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760" dirty="0"/>
          </a:p>
        </p:txBody>
      </p:sp>
      <p:sp>
        <p:nvSpPr>
          <p:cNvPr id="73" name="Text 71"/>
          <p:cNvSpPr/>
          <p:nvPr/>
        </p:nvSpPr>
        <p:spPr>
          <a:xfrm>
            <a:off x="5872683" y="5410200"/>
            <a:ext cx="221082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6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60" dirty="0"/>
          </a:p>
        </p:txBody>
      </p:sp>
      <p:sp>
        <p:nvSpPr>
          <p:cNvPr id="74" name="Shape 7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轉換點：逐張讀一次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練習二：計出個值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38428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85174" y="26079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2606" y="23998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14" name="Text 12"/>
          <p:cNvSpPr/>
          <p:nvPr/>
        </p:nvSpPr>
        <p:spPr>
          <a:xfrm>
            <a:off x="1412606" y="26318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15" name="Text 13"/>
          <p:cNvSpPr/>
          <p:nvPr/>
        </p:nvSpPr>
        <p:spPr>
          <a:xfrm>
            <a:off x="1668038" y="25146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× 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052848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2299594" y="26079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27026" y="23998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19" name="Text 17"/>
          <p:cNvSpPr/>
          <p:nvPr/>
        </p:nvSpPr>
        <p:spPr>
          <a:xfrm>
            <a:off x="2327026" y="26318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20" name="Text 18"/>
          <p:cNvSpPr/>
          <p:nvPr/>
        </p:nvSpPr>
        <p:spPr>
          <a:xfrm>
            <a:off x="2582458" y="25146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822960" y="33147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138428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384554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604452" y="328403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2" dirty="0"/>
          </a:p>
        </p:txBody>
      </p:sp>
      <p:sp>
        <p:nvSpPr>
          <p:cNvPr id="25" name="Text 23"/>
          <p:cNvSpPr/>
          <p:nvPr/>
        </p:nvSpPr>
        <p:spPr>
          <a:xfrm>
            <a:off x="1795544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2042290" y="34080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69722" y="31999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28" name="Text 26"/>
          <p:cNvSpPr/>
          <p:nvPr/>
        </p:nvSpPr>
        <p:spPr>
          <a:xfrm>
            <a:off x="2069722" y="34319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29" name="Text 27"/>
          <p:cNvSpPr/>
          <p:nvPr/>
        </p:nvSpPr>
        <p:spPr>
          <a:xfrm>
            <a:off x="2325154" y="33147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32" name="Text 30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99432" y="2514600"/>
            <a:ext cx="3154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4914900" y="25146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2100" dirty="0"/>
          </a:p>
        </p:txBody>
      </p:sp>
      <p:sp>
        <p:nvSpPr>
          <p:cNvPr id="36" name="Shape 34"/>
          <p:cNvSpPr/>
          <p:nvPr/>
        </p:nvSpPr>
        <p:spPr>
          <a:xfrm>
            <a:off x="5161646" y="26079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89078" y="23998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38" name="Text 36"/>
          <p:cNvSpPr/>
          <p:nvPr/>
        </p:nvSpPr>
        <p:spPr>
          <a:xfrm>
            <a:off x="5189078" y="26318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39" name="Text 37"/>
          <p:cNvSpPr/>
          <p:nvPr/>
        </p:nvSpPr>
        <p:spPr>
          <a:xfrm>
            <a:off x="5444510" y="2514600"/>
            <a:ext cx="53949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?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4599432" y="291465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（照四步寫）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4599432" y="371475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 = 4，求</a:t>
            </a:r>
            <a:endParaRPr lang="en-US" sz="2100" dirty="0"/>
          </a:p>
        </p:txBody>
      </p:sp>
      <p:sp>
        <p:nvSpPr>
          <p:cNvPr id="42" name="Text 40"/>
          <p:cNvSpPr/>
          <p:nvPr/>
        </p:nvSpPr>
        <p:spPr>
          <a:xfrm>
            <a:off x="4599432" y="4114800"/>
            <a:ext cx="4274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</a:t>
            </a:r>
            <a:endParaRPr lang="en-US" sz="2100" dirty="0"/>
          </a:p>
        </p:txBody>
      </p:sp>
      <p:sp>
        <p:nvSpPr>
          <p:cNvPr id="43" name="Text 41"/>
          <p:cNvSpPr/>
          <p:nvPr/>
        </p:nvSpPr>
        <p:spPr>
          <a:xfrm>
            <a:off x="5026914" y="41148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44" name="Shape 42"/>
          <p:cNvSpPr/>
          <p:nvPr/>
        </p:nvSpPr>
        <p:spPr>
          <a:xfrm>
            <a:off x="5273660" y="42081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1092" y="40000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46" name="Text 44"/>
          <p:cNvSpPr/>
          <p:nvPr/>
        </p:nvSpPr>
        <p:spPr>
          <a:xfrm>
            <a:off x="5301092" y="42320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46" dirty="0"/>
          </a:p>
        </p:txBody>
      </p:sp>
      <p:sp>
        <p:nvSpPr>
          <p:cNvPr id="47" name="Text 45"/>
          <p:cNvSpPr/>
          <p:nvPr/>
        </p:nvSpPr>
        <p:spPr>
          <a:xfrm>
            <a:off x="5556524" y="41148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endParaRPr lang="en-US" sz="2100" dirty="0"/>
          </a:p>
        </p:txBody>
      </p:sp>
      <p:sp>
        <p:nvSpPr>
          <p:cNvPr id="48" name="Text 46"/>
          <p:cNvSpPr/>
          <p:nvPr/>
        </p:nvSpPr>
        <p:spPr>
          <a:xfrm>
            <a:off x="5941334" y="41148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49" name="Shape 47"/>
          <p:cNvSpPr/>
          <p:nvPr/>
        </p:nvSpPr>
        <p:spPr>
          <a:xfrm>
            <a:off x="6188080" y="42081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5512" y="40000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51" name="Text 49"/>
          <p:cNvSpPr/>
          <p:nvPr/>
        </p:nvSpPr>
        <p:spPr>
          <a:xfrm>
            <a:off x="6215512" y="42320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52" name="Text 50"/>
          <p:cNvSpPr/>
          <p:nvPr/>
        </p:nvSpPr>
        <p:spPr>
          <a:xfrm>
            <a:off x="6470944" y="41148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÷ 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6855754" y="41148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54" name="Shape 52"/>
          <p:cNvSpPr/>
          <p:nvPr/>
        </p:nvSpPr>
        <p:spPr>
          <a:xfrm>
            <a:off x="7102500" y="42081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29932" y="40000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56" name="Text 54"/>
          <p:cNvSpPr/>
          <p:nvPr/>
        </p:nvSpPr>
        <p:spPr>
          <a:xfrm>
            <a:off x="7129932" y="42320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57" name="Shape 55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59" name="Text 57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8375904" y="2514600"/>
            <a:ext cx="295351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化簡：</a:t>
            </a:r>
            <a:endParaRPr lang="en-US" sz="2100" dirty="0"/>
          </a:p>
        </p:txBody>
      </p:sp>
      <p:sp>
        <p:nvSpPr>
          <p:cNvPr id="62" name="Text 60"/>
          <p:cNvSpPr/>
          <p:nvPr/>
        </p:nvSpPr>
        <p:spPr>
          <a:xfrm>
            <a:off x="8375904" y="2914650"/>
            <a:ext cx="582168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4</a:t>
            </a:r>
            <a:endParaRPr lang="en-US" sz="2100" dirty="0"/>
          </a:p>
        </p:txBody>
      </p:sp>
      <p:sp>
        <p:nvSpPr>
          <p:cNvPr id="63" name="Text 61"/>
          <p:cNvSpPr/>
          <p:nvPr/>
        </p:nvSpPr>
        <p:spPr>
          <a:xfrm>
            <a:off x="8958072" y="291465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64" name="Shape 62"/>
          <p:cNvSpPr/>
          <p:nvPr/>
        </p:nvSpPr>
        <p:spPr>
          <a:xfrm>
            <a:off x="9204818" y="300799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32250" y="279991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46" dirty="0"/>
          </a:p>
        </p:txBody>
      </p:sp>
      <p:sp>
        <p:nvSpPr>
          <p:cNvPr id="66" name="Text 64"/>
          <p:cNvSpPr/>
          <p:nvPr/>
        </p:nvSpPr>
        <p:spPr>
          <a:xfrm>
            <a:off x="9232250" y="303188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67" name="Text 65"/>
          <p:cNvSpPr/>
          <p:nvPr/>
        </p:nvSpPr>
        <p:spPr>
          <a:xfrm>
            <a:off x="9487682" y="291465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100" dirty="0"/>
          </a:p>
        </p:txBody>
      </p:sp>
      <p:sp>
        <p:nvSpPr>
          <p:cNvPr id="68" name="Text 66"/>
          <p:cNvSpPr/>
          <p:nvPr/>
        </p:nvSpPr>
        <p:spPr>
          <a:xfrm>
            <a:off x="9662480" y="288398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1302" dirty="0"/>
          </a:p>
        </p:txBody>
      </p:sp>
      <p:sp>
        <p:nvSpPr>
          <p:cNvPr id="69" name="Shape 67"/>
          <p:cNvSpPr/>
          <p:nvPr/>
        </p:nvSpPr>
        <p:spPr>
          <a:xfrm>
            <a:off x="9895545" y="300799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922977" y="279991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71" name="Text 69"/>
          <p:cNvSpPr/>
          <p:nvPr/>
        </p:nvSpPr>
        <p:spPr>
          <a:xfrm>
            <a:off x="9922977" y="303188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72" name="Text 70"/>
          <p:cNvSpPr/>
          <p:nvPr/>
        </p:nvSpPr>
        <p:spPr>
          <a:xfrm>
            <a:off x="8375904" y="3314700"/>
            <a:ext cx="960882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÷ (−</a:t>
            </a:r>
            <a:endParaRPr lang="en-US" sz="2100" dirty="0"/>
          </a:p>
        </p:txBody>
      </p:sp>
      <p:sp>
        <p:nvSpPr>
          <p:cNvPr id="73" name="Shape 71"/>
          <p:cNvSpPr/>
          <p:nvPr/>
        </p:nvSpPr>
        <p:spPr>
          <a:xfrm>
            <a:off x="9382506" y="3514725"/>
            <a:ext cx="282428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09938" y="3179110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48" dirty="0"/>
          </a:p>
        </p:txBody>
      </p:sp>
      <p:sp>
        <p:nvSpPr>
          <p:cNvPr id="75" name="Text 73"/>
          <p:cNvSpPr/>
          <p:nvPr/>
        </p:nvSpPr>
        <p:spPr>
          <a:xfrm>
            <a:off x="9409938" y="3525241"/>
            <a:ext cx="227564" cy="3520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4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48" dirty="0"/>
          </a:p>
        </p:txBody>
      </p:sp>
      <p:sp>
        <p:nvSpPr>
          <p:cNvPr id="76" name="Text 74"/>
          <p:cNvSpPr/>
          <p:nvPr/>
        </p:nvSpPr>
        <p:spPr>
          <a:xfrm>
            <a:off x="9710654" y="3314700"/>
            <a:ext cx="38481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endParaRPr lang="en-US" sz="2100" dirty="0"/>
          </a:p>
        </p:txBody>
      </p:sp>
      <p:sp>
        <p:nvSpPr>
          <p:cNvPr id="77" name="Text 75"/>
          <p:cNvSpPr/>
          <p:nvPr/>
        </p:nvSpPr>
        <p:spPr>
          <a:xfrm>
            <a:off x="10095464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00" dirty="0"/>
          </a:p>
        </p:txBody>
      </p:sp>
      <p:sp>
        <p:nvSpPr>
          <p:cNvPr id="78" name="Text 76"/>
          <p:cNvSpPr/>
          <p:nvPr/>
        </p:nvSpPr>
        <p:spPr>
          <a:xfrm>
            <a:off x="10270262" y="328403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1302" dirty="0"/>
          </a:p>
        </p:txBody>
      </p:sp>
      <p:sp>
        <p:nvSpPr>
          <p:cNvPr id="79" name="Shape 77"/>
          <p:cNvSpPr/>
          <p:nvPr/>
        </p:nvSpPr>
        <p:spPr>
          <a:xfrm>
            <a:off x="10503327" y="34080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0530759" y="31999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81" name="Text 79"/>
          <p:cNvSpPr/>
          <p:nvPr/>
        </p:nvSpPr>
        <p:spPr>
          <a:xfrm>
            <a:off x="10530759" y="34319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82" name="Text 80"/>
          <p:cNvSpPr/>
          <p:nvPr/>
        </p:nvSpPr>
        <p:spPr>
          <a:xfrm>
            <a:off x="10789937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2100" dirty="0"/>
          </a:p>
        </p:txBody>
      </p:sp>
      <p:sp>
        <p:nvSpPr>
          <p:cNvPr id="83" name="Text 81"/>
          <p:cNvSpPr/>
          <p:nvPr/>
        </p:nvSpPr>
        <p:spPr>
          <a:xfrm>
            <a:off x="10964735" y="3284030"/>
            <a:ext cx="187345" cy="2480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1302" dirty="0"/>
          </a:p>
        </p:txBody>
      </p:sp>
      <p:sp>
        <p:nvSpPr>
          <p:cNvPr id="84" name="Shape 82"/>
          <p:cNvSpPr/>
          <p:nvPr/>
        </p:nvSpPr>
        <p:spPr>
          <a:xfrm>
            <a:off x="11197801" y="3408045"/>
            <a:ext cx="230701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225233" y="3199964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146" dirty="0"/>
          </a:p>
        </p:txBody>
      </p:sp>
      <p:sp>
        <p:nvSpPr>
          <p:cNvPr id="86" name="Text 84"/>
          <p:cNvSpPr/>
          <p:nvPr/>
        </p:nvSpPr>
        <p:spPr>
          <a:xfrm>
            <a:off x="11225233" y="3431938"/>
            <a:ext cx="175837" cy="2182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6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46" dirty="0"/>
          </a:p>
        </p:txBody>
      </p:sp>
      <p:sp>
        <p:nvSpPr>
          <p:cNvPr id="87" name="Text 85"/>
          <p:cNvSpPr/>
          <p:nvPr/>
        </p:nvSpPr>
        <p:spPr>
          <a:xfrm>
            <a:off x="11484411" y="3314700"/>
            <a:ext cx="246126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)</a:t>
            </a:r>
            <a:endParaRPr lang="en-US" sz="2100" dirty="0"/>
          </a:p>
        </p:txBody>
      </p:sp>
      <p:sp>
        <p:nvSpPr>
          <p:cNvPr id="88" name="Text 86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唔好跳步：先整理指數，最後先計數。</a:t>
            </a:r>
            <a:endParaRPr lang="en-US" sz="2000" dirty="0"/>
          </a:p>
        </p:txBody>
      </p:sp>
      <p:sp>
        <p:nvSpPr>
          <p:cNvPr id="89" name="Shape 87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分數指數冪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根指數落分母，次方上分子 —— 根式即刻變成分數指數。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87368"/>
            <a:ext cx="3474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53312" y="4026408"/>
            <a:ext cx="197510" cy="237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1440" dirty="0"/>
          </a:p>
        </p:txBody>
      </p:sp>
      <p:sp>
        <p:nvSpPr>
          <p:cNvPr id="12" name="Shape 10"/>
          <p:cNvSpPr/>
          <p:nvPr/>
        </p:nvSpPr>
        <p:spPr>
          <a:xfrm>
            <a:off x="1540947" y="4309872"/>
            <a:ext cx="53279" cy="91440"/>
          </a:xfrm>
          <a:prstGeom prst="line">
            <a:avLst/>
          </a:prstGeom>
          <a:noFill/>
          <a:ln w="14393">
            <a:solidFill>
              <a:srgbClr val="202A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594226" y="4080662"/>
            <a:ext cx="86929" cy="320650"/>
          </a:xfrm>
          <a:prstGeom prst="line">
            <a:avLst/>
          </a:prstGeom>
          <a:noFill/>
          <a:ln w="14393">
            <a:solidFill>
              <a:srgbClr val="202A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81155" y="4080662"/>
            <a:ext cx="481721" cy="0"/>
          </a:xfrm>
          <a:prstGeom prst="line">
            <a:avLst/>
          </a:prstGeom>
          <a:noFill/>
          <a:ln w="15833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99443" y="4087368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39520" y="4052316"/>
            <a:ext cx="201046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488" dirty="0"/>
          </a:p>
        </p:txBody>
      </p:sp>
      <p:sp>
        <p:nvSpPr>
          <p:cNvPr id="17" name="Text 15"/>
          <p:cNvSpPr/>
          <p:nvPr/>
        </p:nvSpPr>
        <p:spPr>
          <a:xfrm>
            <a:off x="2178237" y="4087368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604957" y="4087368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872114" y="4194048"/>
            <a:ext cx="242757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9546" y="3956241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</a:t>
            </a:r>
            <a:endParaRPr lang="en-US" sz="1309" dirty="0"/>
          </a:p>
        </p:txBody>
      </p:sp>
      <p:sp>
        <p:nvSpPr>
          <p:cNvPr id="21" name="Text 19"/>
          <p:cNvSpPr/>
          <p:nvPr/>
        </p:nvSpPr>
        <p:spPr>
          <a:xfrm>
            <a:off x="2899546" y="4214823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1309" dirty="0"/>
          </a:p>
        </p:txBody>
      </p:sp>
      <p:sp>
        <p:nvSpPr>
          <p:cNvPr id="22" name="Text 20"/>
          <p:cNvSpPr/>
          <p:nvPr/>
        </p:nvSpPr>
        <p:spPr>
          <a:xfrm>
            <a:off x="3167275" y="4087368"/>
            <a:ext cx="31394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：下面開方，上面次方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005840" y="4581144"/>
            <a:ext cx="342595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喺分母 → 指數加負號：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477512" y="4809744"/>
            <a:ext cx="467220" cy="0"/>
          </a:xfrm>
          <a:prstGeom prst="line">
            <a:avLst/>
          </a:prstGeom>
          <a:noFill/>
          <a:ln w="28575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7617" y="4426184"/>
            <a:ext cx="2470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1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112" dirty="0"/>
          </a:p>
        </p:txBody>
      </p:sp>
      <p:sp>
        <p:nvSpPr>
          <p:cNvPr id="26" name="Text 24"/>
          <p:cNvSpPr/>
          <p:nvPr/>
        </p:nvSpPr>
        <p:spPr>
          <a:xfrm>
            <a:off x="4504944" y="4861365"/>
            <a:ext cx="247010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12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112" dirty="0"/>
          </a:p>
        </p:txBody>
      </p:sp>
      <p:sp>
        <p:nvSpPr>
          <p:cNvPr id="27" name="Text 25"/>
          <p:cNvSpPr/>
          <p:nvPr/>
        </p:nvSpPr>
        <p:spPr>
          <a:xfrm>
            <a:off x="4725649" y="4830519"/>
            <a:ext cx="187893" cy="249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9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</a:t>
            </a:r>
            <a:endParaRPr lang="en-US" sz="1309" dirty="0"/>
          </a:p>
        </p:txBody>
      </p:sp>
      <p:sp>
        <p:nvSpPr>
          <p:cNvPr id="28" name="Text 26"/>
          <p:cNvSpPr/>
          <p:nvPr/>
        </p:nvSpPr>
        <p:spPr>
          <a:xfrm>
            <a:off x="4990452" y="4581144"/>
            <a:ext cx="4267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= 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417172" y="4581144"/>
            <a:ext cx="26822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41905" y="4546092"/>
            <a:ext cx="310652" cy="2834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88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-n</a:t>
            </a:r>
            <a:endParaRPr lang="en-US" sz="1488" dirty="0"/>
          </a:p>
        </p:txBody>
      </p:sp>
      <p:sp>
        <p:nvSpPr>
          <p:cNvPr id="31" name="Text 29"/>
          <p:cNvSpPr/>
          <p:nvPr/>
        </p:nvSpPr>
        <p:spPr>
          <a:xfrm>
            <a:off x="1005840" y="5056632"/>
            <a:ext cx="10149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轉咗做指數：乘就加、除就減、次方就相乘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下一課：指數函數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指數唔再淨係數字，變成變數 x —— y = 2</a:t>
            </a:r>
            <a:pPr algn="ctr" indent="0" marL="0">
              <a:buNone/>
            </a:pPr>
            <a:r>
              <a:rPr lang="en-US" sz="2400" baseline="300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教學調整（Accommodation）：本簡報加入部件對應圖、對照表與分層任務，年級學習標準不變。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2026-08-08T08:19:22Z</dcterms:created>
  <dcterms:modified xsi:type="dcterms:W3CDTF">2026-08-08T08:19:22Z</dcterms:modified>
</cp:coreProperties>
</file>