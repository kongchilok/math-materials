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0" y="548640"/>
            <a:ext cx="5120640" cy="57607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18000" dirty="0">
                <a:solidFill>
                  <a:srgbClr val="3E534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{ }</a:t>
            </a:r>
            <a:endParaRPr lang="en-US" sz="18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一元二次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不等式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388620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抽離小組 · 第 8 課（40 分鐘）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70916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9DBAA9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帶走一句：大於取兩邊，細過取中間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今日課堂流程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563624" y="1508760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37944" y="1508760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由「等於 0」去到「大過 0」</a:t>
            </a:r>
            <a:endParaRPr lang="en-US" sz="2300" dirty="0"/>
          </a:p>
        </p:txBody>
      </p:sp>
      <p:sp>
        <p:nvSpPr>
          <p:cNvPr id="10" name="Shape 8"/>
          <p:cNvSpPr/>
          <p:nvPr/>
        </p:nvSpPr>
        <p:spPr>
          <a:xfrm>
            <a:off x="548640" y="2441448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44144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3000" dirty="0"/>
          </a:p>
        </p:txBody>
      </p:sp>
      <p:sp>
        <p:nvSpPr>
          <p:cNvPr id="12" name="Shape 10"/>
          <p:cNvSpPr/>
          <p:nvPr/>
        </p:nvSpPr>
        <p:spPr>
          <a:xfrm>
            <a:off x="1563624" y="2441448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37944" y="2441448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睇圖搵解集</a:t>
            </a:r>
            <a:endParaRPr lang="en-US" sz="230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74136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563624" y="3374136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37944" y="3374136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解題流程：五步</a:t>
            </a:r>
            <a:endParaRPr lang="en-US" sz="2300" dirty="0"/>
          </a:p>
        </p:txBody>
      </p:sp>
      <p:sp>
        <p:nvSpPr>
          <p:cNvPr id="18" name="Shape 16"/>
          <p:cNvSpPr/>
          <p:nvPr/>
        </p:nvSpPr>
        <p:spPr>
          <a:xfrm>
            <a:off x="548640" y="4306824"/>
            <a:ext cx="786384" cy="786384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4306824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1563624" y="4306824"/>
            <a:ext cx="10049256" cy="786384"/>
          </a:xfrm>
          <a:prstGeom prst="roundRect">
            <a:avLst>
              <a:gd name="adj" fmla="val 93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37944" y="4306824"/>
            <a:ext cx="9500616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自己揀一層做練習</a:t>
            </a:r>
            <a:endParaRPr lang="en-US" sz="2300" dirty="0"/>
          </a:p>
        </p:txBody>
      </p:sp>
      <p:sp>
        <p:nvSpPr>
          <p:cNvPr id="22" name="Text 20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中間會停低三次，一齊做。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先想一想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上一課解 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= 0，答案係 x = 2 或 3。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咁 x</a:t>
            </a:r>
            <a:pPr algn="l" indent="0" marL="0">
              <a:buNone/>
            </a:pPr>
            <a:r>
              <a:rPr lang="en-US" sz="23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&gt; 0 呢？答案會係啲乜嘢樣？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唔再係幾個數 —— 而係一整段範圍。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大過 0，即係圖象喺邊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具體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04672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想像條拋物線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有啲位喺 x 軸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上面，有啲喺下面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表徵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81144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&gt;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即係「喺 x 軸上面」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用眼睇得出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抽象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57616" y="2286000"/>
            <a:ext cx="2990088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&gt; 0</a:t>
            </a:r>
            <a:endParaRPr lang="en-US" sz="2100" dirty="0"/>
          </a:p>
          <a:p>
            <a:pPr algn="l" indent="0" marL="0">
              <a:buNone/>
            </a:pP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即係搵晒</a:t>
            </a:r>
            <a:endParaRPr lang="en-US" sz="2100" dirty="0"/>
          </a:p>
          <a:p>
            <a:pPr algn="l" indent="0" marL="0"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所有令 y&gt;0 嘅 x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↓ 解不等式 = 睇圖象喺 x 軸邊一邊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y = x</a:t>
            </a:r>
            <a:pPr algn="l" indent="0" marL="0">
              <a:buNone/>
            </a:pPr>
            <a:r>
              <a:rPr lang="en-US" sz="3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−5x+6 條線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32104" y="3530188"/>
            <a:ext cx="5833872" cy="0"/>
          </a:xfrm>
          <a:prstGeom prst="line">
            <a:avLst/>
          </a:prstGeom>
          <a:noFill/>
          <a:ln w="19050">
            <a:solidFill>
              <a:srgbClr val="202A26"/>
            </a:solidFill>
            <a:prstDash val="solid"/>
            <a:tailEnd type="triangle"/>
          </a:ln>
        </p:spPr>
      </p:sp>
      <p:sp>
        <p:nvSpPr>
          <p:cNvPr id="8" name="Text 6"/>
          <p:cNvSpPr/>
          <p:nvPr/>
        </p:nvSpPr>
        <p:spPr>
          <a:xfrm>
            <a:off x="6336792" y="35484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728216" y="1988180"/>
            <a:ext cx="168402" cy="32207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96618" y="2310255"/>
            <a:ext cx="168402" cy="29406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65020" y="2604324"/>
            <a:ext cx="168402" cy="26606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33422" y="2870386"/>
            <a:ext cx="168402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01824" y="3108442"/>
            <a:ext cx="168402" cy="21004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0226" y="3318491"/>
            <a:ext cx="168402" cy="18204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738628" y="3500534"/>
            <a:ext cx="168402" cy="15403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907030" y="3654570"/>
            <a:ext cx="168402" cy="12602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75432" y="3780599"/>
            <a:ext cx="168402" cy="9802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3834" y="3878622"/>
            <a:ext cx="168402" cy="7001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12236" y="3948638"/>
            <a:ext cx="168402" cy="4201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80638" y="3990648"/>
            <a:ext cx="168402" cy="1400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V="1">
            <a:off x="3749040" y="3990648"/>
            <a:ext cx="168402" cy="1400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V="1">
            <a:off x="3917442" y="3948638"/>
            <a:ext cx="168402" cy="42010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V="1">
            <a:off x="4085844" y="3878622"/>
            <a:ext cx="168402" cy="7001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4254246" y="3780599"/>
            <a:ext cx="168402" cy="9802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4422648" y="3654570"/>
            <a:ext cx="168402" cy="12602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4591050" y="3500534"/>
            <a:ext cx="168402" cy="15403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4759452" y="3318491"/>
            <a:ext cx="168402" cy="182043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4927854" y="3108442"/>
            <a:ext cx="168402" cy="21004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flipV="1">
            <a:off x="5096256" y="2870386"/>
            <a:ext cx="168402" cy="238056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flipV="1">
            <a:off x="5264658" y="2604324"/>
            <a:ext cx="168402" cy="266062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5433060" y="2310255"/>
            <a:ext cx="168402" cy="294069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V="1">
            <a:off x="5601462" y="1988180"/>
            <a:ext cx="168402" cy="322075"/>
          </a:xfrm>
          <a:prstGeom prst="line">
            <a:avLst/>
          </a:prstGeom>
          <a:noFill/>
          <a:ln w="34925">
            <a:solidFill>
              <a:srgbClr val="5E857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91072" y="3452464"/>
            <a:ext cx="155448" cy="155448"/>
          </a:xfrm>
          <a:prstGeom prst="ellipse">
            <a:avLst/>
          </a:prstGeom>
          <a:solidFill>
            <a:srgbClr val="202A26"/>
          </a:solidFill>
          <a:ln/>
        </p:spPr>
      </p:sp>
      <p:sp>
        <p:nvSpPr>
          <p:cNvPr id="34" name="Text 32"/>
          <p:cNvSpPr/>
          <p:nvPr/>
        </p:nvSpPr>
        <p:spPr>
          <a:xfrm>
            <a:off x="2357316" y="36216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700" dirty="0"/>
          </a:p>
        </p:txBody>
      </p:sp>
      <p:sp>
        <p:nvSpPr>
          <p:cNvPr id="35" name="Shape 33"/>
          <p:cNvSpPr/>
          <p:nvPr/>
        </p:nvSpPr>
        <p:spPr>
          <a:xfrm>
            <a:off x="4651560" y="3452464"/>
            <a:ext cx="155448" cy="155448"/>
          </a:xfrm>
          <a:prstGeom prst="ellipse">
            <a:avLst/>
          </a:prstGeom>
          <a:solidFill>
            <a:srgbClr val="202A26"/>
          </a:solidFill>
          <a:ln/>
        </p:spPr>
      </p:sp>
      <p:sp>
        <p:nvSpPr>
          <p:cNvPr id="36" name="Text 34"/>
          <p:cNvSpPr/>
          <p:nvPr/>
        </p:nvSpPr>
        <p:spPr>
          <a:xfrm>
            <a:off x="4317804" y="3621628"/>
            <a:ext cx="822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548640" y="489204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根：2 同 3　開口向上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7360920" y="1783080"/>
            <a:ext cx="42519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&lt; 2 嗰邊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條線喺 x 軸上面 → y &gt;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&lt; x &lt; 3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條線跌咗落 x 軸下面 → y &lt; 0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&gt; 3 嗰邊</a:t>
            </a:r>
            <a:endParaRPr lang="en-US" sz="23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　又返到 x 軸上面 → y &gt; 0</a:t>
            </a:r>
            <a:endParaRPr lang="en-US" sz="2300" dirty="0"/>
          </a:p>
        </p:txBody>
      </p:sp>
      <p:sp>
        <p:nvSpPr>
          <p:cNvPr id="39" name="Shape 37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轉換點：一齊指住幅圖講一次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兩種問法，兩個答案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0（取兩邊）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23544" y="3136319"/>
            <a:ext cx="981085" cy="256032"/>
          </a:xfrm>
          <a:prstGeom prst="rect">
            <a:avLst/>
          </a:prstGeom>
          <a:solidFill>
            <a:srgbClr val="5E8574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2694803" y="3136319"/>
            <a:ext cx="981085" cy="256032"/>
          </a:xfrm>
          <a:prstGeom prst="rect">
            <a:avLst/>
          </a:prstGeom>
          <a:solidFill>
            <a:srgbClr val="5E8574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" y="3264335"/>
            <a:ext cx="3081528" cy="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  <a:headEnd type="triangl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813189" y="3172895"/>
            <a:ext cx="182880" cy="182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01709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603363" y="3172895"/>
            <a:ext cx="182880" cy="182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91883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77240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&lt; 2　或　x &gt; 3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25112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19" name="Text 17"/>
          <p:cNvSpPr/>
          <p:nvPr/>
        </p:nvSpPr>
        <p:spPr>
          <a:xfrm>
            <a:off x="4325112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&lt; 0（取中間）</a:t>
            </a:r>
            <a:endParaRPr lang="en-US" sz="2100" dirty="0"/>
          </a:p>
        </p:txBody>
      </p:sp>
      <p:sp>
        <p:nvSpPr>
          <p:cNvPr id="20" name="Shape 18"/>
          <p:cNvSpPr/>
          <p:nvPr/>
        </p:nvSpPr>
        <p:spPr>
          <a:xfrm>
            <a:off x="5681101" y="3136319"/>
            <a:ext cx="790173" cy="256032"/>
          </a:xfrm>
          <a:prstGeom prst="rect">
            <a:avLst/>
          </a:prstGeom>
          <a:solidFill>
            <a:srgbClr val="5E8574">
              <a:alpha val="6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35424" y="3264335"/>
            <a:ext cx="3081528" cy="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  <a:headEnd type="triangl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589661" y="3172895"/>
            <a:ext cx="182880" cy="182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78181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6379835" y="3172895"/>
            <a:ext cx="182880" cy="182880"/>
          </a:xfrm>
          <a:prstGeom prst="ellipse">
            <a:avLst/>
          </a:prstGeom>
          <a:solidFill>
            <a:srgbClr val="FFFFFF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68355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4553712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&lt; x &lt; 3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089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101584" y="1463040"/>
            <a:ext cx="3502152" cy="566928"/>
          </a:xfrm>
          <a:prstGeom prst="roundRect">
            <a:avLst>
              <a:gd name="adj" fmla="val 12903"/>
            </a:avLst>
          </a:prstGeom>
          <a:solidFill>
            <a:srgbClr val="5E8574"/>
          </a:solidFill>
          <a:ln/>
        </p:spPr>
      </p:sp>
      <p:sp>
        <p:nvSpPr>
          <p:cNvPr id="29" name="Text 27"/>
          <p:cNvSpPr/>
          <p:nvPr/>
        </p:nvSpPr>
        <p:spPr>
          <a:xfrm>
            <a:off x="8101584" y="1463040"/>
            <a:ext cx="350215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0（連根一齊）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8476488" y="3136319"/>
            <a:ext cx="981085" cy="256032"/>
          </a:xfrm>
          <a:prstGeom prst="rect">
            <a:avLst/>
          </a:prstGeom>
          <a:solidFill>
            <a:srgbClr val="5E8574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247747" y="3136319"/>
            <a:ext cx="981085" cy="256032"/>
          </a:xfrm>
          <a:prstGeom prst="rect">
            <a:avLst/>
          </a:prstGeom>
          <a:solidFill>
            <a:srgbClr val="5E8574">
              <a:alpha val="60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8311896" y="3264335"/>
            <a:ext cx="3081528" cy="0"/>
          </a:xfrm>
          <a:prstGeom prst="line">
            <a:avLst/>
          </a:prstGeom>
          <a:noFill/>
          <a:ln w="25400">
            <a:solidFill>
              <a:srgbClr val="202A26"/>
            </a:solidFill>
            <a:prstDash val="solid"/>
            <a:headEnd type="triangl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366133" y="3172895"/>
            <a:ext cx="182880" cy="182880"/>
          </a:xfrm>
          <a:prstGeom prst="ellipse">
            <a:avLst/>
          </a:prstGeom>
          <a:solidFill>
            <a:srgbClr val="202A26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954653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000" dirty="0"/>
          </a:p>
        </p:txBody>
      </p:sp>
      <p:sp>
        <p:nvSpPr>
          <p:cNvPr id="35" name="Shape 33"/>
          <p:cNvSpPr/>
          <p:nvPr/>
        </p:nvSpPr>
        <p:spPr>
          <a:xfrm>
            <a:off x="10156307" y="3172895"/>
            <a:ext cx="182880" cy="182880"/>
          </a:xfrm>
          <a:prstGeom prst="ellipse">
            <a:avLst/>
          </a:prstGeom>
          <a:solidFill>
            <a:srgbClr val="202A26"/>
          </a:solidFill>
          <a:ln w="28575">
            <a:solidFill>
              <a:srgbClr val="202A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744827" y="3410639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330184" y="4526280"/>
            <a:ext cx="30449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 ≤ 2　或　x ≥ 3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548640" y="56235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大於取兩邊，細過取中間　·　空心圈唔包括個根，實心圈包括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寫解集，邊個啱？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822704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27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691640" y="1508760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{x | x &lt; 2，或 x &gt;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兩邊分開寫，中間用「或」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2977896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ECE0DB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640080" cy="640080"/>
          </a:xfrm>
          <a:prstGeom prst="ellipse">
            <a:avLst/>
          </a:prstGeom>
          <a:solidFill>
            <a:srgbClr val="8C574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✗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691640" y="2977896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錯　{x | 3 &lt; x &lt; 2}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寫唔通 —— 冇數會同時大過 3 又細過 2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4447032"/>
            <a:ext cx="11064240" cy="1267968"/>
          </a:xfrm>
          <a:prstGeom prst="roundRect">
            <a:avLst>
              <a:gd name="adj" fmla="val 5769"/>
            </a:avLst>
          </a:prstGeom>
          <a:solidFill>
            <a:srgbClr val="DDE7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4760976"/>
            <a:ext cx="640080" cy="640080"/>
          </a:xfrm>
          <a:prstGeom prst="ellipse">
            <a:avLst/>
          </a:prstGeom>
          <a:solidFill>
            <a:srgbClr val="35604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760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✓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691640" y="4447032"/>
            <a:ext cx="9692640" cy="1267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啱　{x | 2 &lt; x &lt; 3}</a:t>
            </a:r>
            <a:endParaRPr lang="en-US" sz="24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呢個係「&lt; 0」嘅答案，唔好撈亂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轉換點：再一頁講流程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解不等式：四步走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08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搬埋一邊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右邊要係 0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11683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1168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7223760" y="164592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 a 嘅正負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係負數就成條乘 −1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（不等號要反向！）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508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解方程搵根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因式分解或者公式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6263640" y="3611880"/>
            <a:ext cx="5349240" cy="1874520"/>
          </a:xfrm>
          <a:prstGeom prst="roundRect">
            <a:avLst>
              <a:gd name="adj" fmla="val 3902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92240" y="4265676"/>
            <a:ext cx="566928" cy="566928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42656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223760" y="3794760"/>
            <a:ext cx="41605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睇問號揀範圍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0 取兩邊，&lt; 0 取中間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 2 步最易漏 —— 乘負數，不等號一定要調轉。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轉換點：照住四步做一次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係負數嗰陣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11064240" cy="2194560"/>
          </a:xfrm>
          <a:prstGeom prst="roundRect">
            <a:avLst>
              <a:gd name="adj" fmla="val 4167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65960"/>
            <a:ext cx="10332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</a:t>
            </a:r>
            <a:pPr algn="l" indent="0" marL="0">
              <a:buNone/>
            </a:pPr>
            <a:r>
              <a:rPr lang="en-US" sz="30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3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+4x−3 &gt; 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3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= −1，係負數 → 先成條式乘 −1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 −1 之後：x</a:t>
            </a:r>
            <a:pPr algn="l" indent="0" marL="0">
              <a:buNone/>
            </a:pPr>
            <a:r>
              <a:rPr lang="en-US" sz="2200" b="1" baseline="30000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buNone/>
            </a:pPr>
            <a:r>
              <a:rPr lang="en-US" sz="2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−4x+3 &lt; 0（不等號由 &gt; 變 &lt;）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慢鏡：四步行一次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81328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4206240"/>
                <a:gridCol w="5852160"/>
              </a:tblGrid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步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做咩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結果</a:t>
                      </a:r>
                      <a:endParaRPr lang="en-US" sz="21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E8574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已經係一邊 =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+4x−3 &gt;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a&lt;0 → 乘 −1、反向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</a:t>
                      </a:r>
                      <a:pPr algn="l" indent="0" marL="0">
                        <a:buNone/>
                      </a:pPr>
                      <a:r>
                        <a:rPr lang="en-US" sz="2000" baseline="30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−4x+3 &lt; 0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因式分解搵根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(x−1)(x−3) = 0 → 1、3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000" b="1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&lt; 0 → 取中間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000" dirty="0">
                          <a:solidFill>
                            <a:srgbClr val="202A26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{x | 1 &lt; x &lt; 3}</a:t>
                      </a:r>
                      <a:endParaRPr lang="en-US" sz="2000" dirty="0">
                        <a:latin typeface="Microsoft JhengHei" charset="0"/>
                        <a:ea typeface="Microsoft JhengHei" charset="0"/>
                        <a:cs typeface="Microsoft JhengHei" charset="0"/>
                      </a:endParaRPr>
                    </a:p>
                  </a:txBody>
                  <a:tcPr marL="76200" marR="76200" marT="25400" marB="25400" anchor="ctr">
                    <a:lnL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D3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最容易錯嘅三個位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783080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83080" y="1627632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冇反向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乘或者除負數，不等號要調轉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783080" y="22128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呢一步錯，答案完全相反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3054096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3374136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37413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783080" y="3218688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揀錯邊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睇清楚係 &gt; 定 &lt;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783080" y="3803904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大於兩邊、細過中間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645152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2960" y="4965192"/>
            <a:ext cx="731520" cy="7315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9651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1783080" y="4809744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圈畫錯　</a:t>
            </a:r>
            <a:pPr algn="l" indent="0" marL="0">
              <a:buNone/>
            </a:pPr>
            <a:r>
              <a:rPr lang="en-US" sz="22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≥ 同 ≤ 先包括個根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783080" y="5394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&gt; 同 &lt; 用空心圈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轉換點：再一頁就落手做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揀一層，做做看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★☆☆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(x−1)(x−4) &gt;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（已經分解好）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兩個根：__、__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解集：________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325112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25112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3" name="Text 11"/>
          <p:cNvSpPr/>
          <p:nvPr/>
        </p:nvSpPr>
        <p:spPr>
          <a:xfrm>
            <a:off x="4325112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★★☆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325112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B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99432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−x−6 &lt;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先因式分解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再揀範圍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8101584" y="1463040"/>
            <a:ext cx="3502152" cy="3977640"/>
          </a:xfrm>
          <a:prstGeom prst="roundRect">
            <a:avLst>
              <a:gd name="adj" fmla="val 2611"/>
            </a:avLst>
          </a:prstGeom>
          <a:solidFill>
            <a:srgbClr val="FFFFF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01584" y="1463040"/>
            <a:ext cx="3502152" cy="868680"/>
          </a:xfrm>
          <a:prstGeom prst="roundRect">
            <a:avLst>
              <a:gd name="adj" fmla="val 10526"/>
            </a:avLst>
          </a:prstGeom>
          <a:solidFill>
            <a:srgbClr val="DCE6DF"/>
          </a:solidFill>
          <a:ln/>
        </p:spPr>
      </p:sp>
      <p:sp>
        <p:nvSpPr>
          <p:cNvPr id="18" name="Text 16"/>
          <p:cNvSpPr/>
          <p:nvPr/>
        </p:nvSpPr>
        <p:spPr>
          <a:xfrm>
            <a:off x="8101584" y="1572768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★★★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101584" y="1920240"/>
            <a:ext cx="3502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練習 C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375904" y="2514600"/>
            <a:ext cx="295351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−x</a:t>
            </a:r>
            <a:pPr algn="l" indent="0" marL="0">
              <a:lnSpc>
                <a:spcPct val="125000"/>
              </a:lnSpc>
              <a:buNone/>
            </a:pPr>
            <a:r>
              <a:rPr lang="en-US" sz="2100" baseline="300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+4x−3 &gt; 0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 係負數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記得反向</a:t>
            </a: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endParaRPr lang="en-US" sz="21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2100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（同例題一樣做法）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548640" y="5897880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做完 A 想再試，就上 B、C —— 自己揀就得。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40880" y="5870448"/>
            <a:ext cx="4572000" cy="457200"/>
          </a:xfrm>
          <a:prstGeom prst="roundRect">
            <a:avLst>
              <a:gd name="adj" fmla="val 20000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40880" y="587044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▶ 轉換點：揀一層，開始做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1F4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3737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高一數學 · 一元二次不等式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1247120" y="64373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7A7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475488"/>
            <a:ext cx="274320" cy="274320"/>
          </a:xfrm>
          <a:prstGeom prst="ellipse">
            <a:avLst/>
          </a:prstGeom>
          <a:solidFill>
            <a:srgbClr val="5E8574"/>
          </a:solidFill>
          <a:ln/>
        </p:spPr>
      </p:sp>
      <p:sp>
        <p:nvSpPr>
          <p:cNvPr id="5" name="Text 3"/>
          <p:cNvSpPr/>
          <p:nvPr/>
        </p:nvSpPr>
        <p:spPr>
          <a:xfrm>
            <a:off x="932688" y="347472"/>
            <a:ext cx="10698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E4A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今日帶走</a:t>
            </a:r>
            <a:pPr algn="l" indent="0" marL="0">
              <a:buNone/>
            </a:pPr>
            <a:r>
              <a:rPr lang="en-US" sz="3200" b="1" dirty="0">
                <a:solidFill>
                  <a:srgbClr val="46564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 ★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554480"/>
          </a:xfrm>
          <a:prstGeom prst="roundRect">
            <a:avLst>
              <a:gd name="adj" fmla="val 5882"/>
            </a:avLst>
          </a:prstGeom>
          <a:solidFill>
            <a:srgbClr val="5E857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600200"/>
            <a:ext cx="10332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大於取兩邊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細過取中間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E5C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保底三句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886200"/>
            <a:ext cx="11064240" cy="2148840"/>
          </a:xfrm>
          <a:prstGeom prst="roundRect">
            <a:avLst>
              <a:gd name="adj" fmla="val 4255"/>
            </a:avLst>
          </a:prstGeom>
          <a:solidFill>
            <a:srgbClr val="DCE6DF"/>
          </a:solidFill>
          <a:ln w="12700">
            <a:solidFill>
              <a:srgbClr val="C4D3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069080"/>
            <a:ext cx="101498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① 先搬到一邊 = 0，再睇 a 嘅正負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② a 係負數：乘 −1，不等號反向</a:t>
            </a:r>
            <a:endParaRPr lang="en-US" sz="24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2400" b="1" dirty="0">
                <a:solidFill>
                  <a:srgbClr val="202A2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③ 解方程搵根，再對住幅圖揀範圍</a:t>
            </a:r>
            <a:endParaRPr lang="en-US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449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你今日識咗用幅圖解不等式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D6C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落堂前，同隔離位講一次：大於取兩邊，細過取中間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A69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教學調整（Accommodation）：本簡報加入圖象與數線表徵、步驟卡與分層任務，年級學習標準不變。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2026-07-19T10:07:56Z</dcterms:created>
  <dcterms:modified xsi:type="dcterms:W3CDTF">2026-07-19T10:07:56Z</dcterms:modified>
</cp:coreProperties>
</file>