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開場定調：今天學三種新方程，看似不同，其實同一個念頭——把未知數放出來。但放出來有代價，所以每一站最後都要驗根。三站節奏一致，做完一站休息一下。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先給地圖：讓學生知道整節課的結構，減少焦慮。三站的第一步都不同，但最後一步都是驗根——這句話今天要重複三次。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這一頁是全課的錨。三個方框只是「未知數被關在哪」的差別，做法同一個念頭。最後那句「放出來有代價」要講慢——它解釋了為什麼今天每題都要驗根，而不是老師囉嗦。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站①開始。先講目標，讓學生知道這一段要帶走什麼。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左邊手順卡逐字沿用講義，令簡報與講義同一套措辭。右邊範例示範書寫規範：一行一個等號、分兩支寫「或」、末行用「∴」。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 序：具體（分餅）→ 表徵（數線挖點）→ 抽象（x≠0 的限制）。抽象階仍保留前一階的視覺線索。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三層同頁呈現、學生自選，不由教師點名分派（減少標籤化）。C 層開放式，留空間給能力較強的學生。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圖表規範：類別上限 3（多過就合併「其他」）、每根柱直接標值、文字永不穿系列色。三個系列色已通過色盲安全驗證。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帶走一句話＋保底版：保底版更具體、更操作性，是融合生至少要能說出的版本。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33856"/>
            <a:ext cx="3246120" cy="621792"/>
          </a:xfrm>
          <a:prstGeom prst="roundRect">
            <a:avLst>
              <a:gd name="adj" fmla="val 51471"/>
            </a:avLst>
          </a:prstGeom>
          <a:solidFill>
            <a:srgbClr val="3E6E5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33856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75104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spc="12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三種新方程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98094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100" kern="0" dirty="0">
                <a:solidFill>
                  <a:srgbClr val="B7CE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把未知數放出來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877056"/>
            <a:ext cx="2011680" cy="9144"/>
          </a:xfrm>
          <a:prstGeom prst="line">
            <a:avLst/>
          </a:prstGeom>
          <a:noFill/>
          <a:ln w="38100">
            <a:solidFill>
              <a:srgbClr val="7DAB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78224"/>
            <a:ext cx="34290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spc="8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分式方程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739896" y="4078224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DAB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60520" y="4078224"/>
            <a:ext cx="34290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spc="8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無理方程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351776" y="4078224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DAB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0" y="4078224"/>
            <a:ext cx="34290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spc="8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二元二次方程組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8595360" cy="786384"/>
          </a:xfrm>
          <a:prstGeom prst="roundRect">
            <a:avLst>
              <a:gd name="adj" fmla="val 16279"/>
            </a:avLst>
          </a:prstGeom>
          <a:solidFill>
            <a:srgbClr val="16302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90118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200" b="1" spc="8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三站共用同一條生死線：驗根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1109441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116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3E6E5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16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70048" y="1847088"/>
            <a:ext cx="87169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70048" y="2322576"/>
            <a:ext cx="871697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未知數在分母裡 → 去分母 → 驗根（怕增根）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9441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383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3E6E58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83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0048" y="3218688"/>
            <a:ext cx="87169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70048" y="3694176"/>
            <a:ext cx="871697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未知數在根號裡 → 兩邊平方 → 驗根（怕假根）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48640" y="4443984"/>
            <a:ext cx="1109441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7548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3E6E58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7548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670048" y="4590288"/>
            <a:ext cx="87169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二元二次方程組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670048" y="5065776"/>
            <a:ext cx="871697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兩條方程 → 代入消元 → 回代求另一個未知數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48640" y="5870448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每一站都一樣：學一招 → 看範例 → 挑星星練習 ★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全課主線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三種方程，同一個念頭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45738" cy="186537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3545738" cy="548640"/>
          </a:xfrm>
          <a:prstGeom prst="roundRect">
            <a:avLst>
              <a:gd name="adj" fmla="val 23333"/>
            </a:avLst>
          </a:prstGeom>
          <a:solidFill>
            <a:srgbClr val="CFE1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55648"/>
            <a:ext cx="3545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3545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未知數在分母裡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371600" y="2790063"/>
            <a:ext cx="33502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444752" y="3118104"/>
            <a:ext cx="188722" cy="9144"/>
          </a:xfrm>
          <a:prstGeom prst="line">
            <a:avLst/>
          </a:prstGeom>
          <a:noFill/>
          <a:ln w="19050">
            <a:solidFill>
              <a:srgbClr val="1E37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154680"/>
            <a:ext cx="33502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4058" y="2761488"/>
            <a:ext cx="158800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322978" y="1755648"/>
            <a:ext cx="3545738" cy="186537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2978" y="1755648"/>
            <a:ext cx="3545738" cy="548640"/>
          </a:xfrm>
          <a:prstGeom prst="roundRect">
            <a:avLst>
              <a:gd name="adj" fmla="val 23333"/>
            </a:avLst>
          </a:prstGeom>
          <a:solidFill>
            <a:srgbClr val="CFE1D8"/>
          </a:solidFill>
          <a:ln/>
        </p:spPr>
      </p:sp>
      <p:sp>
        <p:nvSpPr>
          <p:cNvPr id="16" name="Text 14"/>
          <p:cNvSpPr/>
          <p:nvPr/>
        </p:nvSpPr>
        <p:spPr>
          <a:xfrm>
            <a:off x="4322978" y="1755648"/>
            <a:ext cx="3545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無理方程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22978" y="2340864"/>
            <a:ext cx="3545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未知數在根號裡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460138" y="2743200"/>
            <a:ext cx="327141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√(x + 2) = x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8097317" y="1755648"/>
            <a:ext cx="3545738" cy="186537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7317" y="1755648"/>
            <a:ext cx="3545738" cy="548640"/>
          </a:xfrm>
          <a:prstGeom prst="roundRect">
            <a:avLst>
              <a:gd name="adj" fmla="val 23333"/>
            </a:avLst>
          </a:prstGeom>
          <a:solidFill>
            <a:srgbClr val="CFE1D8"/>
          </a:solidFill>
          <a:ln/>
        </p:spPr>
      </p:sp>
      <p:sp>
        <p:nvSpPr>
          <p:cNvPr id="21" name="Text 19"/>
          <p:cNvSpPr/>
          <p:nvPr/>
        </p:nvSpPr>
        <p:spPr>
          <a:xfrm>
            <a:off x="8097317" y="1755648"/>
            <a:ext cx="3545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97317" y="2340864"/>
            <a:ext cx="3545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被另一條方程綁住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234477" y="2743200"/>
            <a:ext cx="327141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+ 1</a:t>
            </a:r>
            <a:endParaRPr lang="en-US" sz="2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y² = 25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548640" y="3895344"/>
            <a:ext cx="11094415" cy="868680"/>
          </a:xfrm>
          <a:prstGeom prst="roundRect">
            <a:avLst>
              <a:gd name="adj" fmla="val 14737"/>
            </a:avLst>
          </a:prstGeom>
          <a:solidFill>
            <a:srgbClr val="2F574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895344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做法都一樣：想辦法把未知數放出來，變回會解的一元二次方程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48640" y="4956048"/>
            <a:ext cx="11094415" cy="932688"/>
          </a:xfrm>
          <a:prstGeom prst="roundRect">
            <a:avLst>
              <a:gd name="adj" fmla="val 13725"/>
            </a:avLst>
          </a:prstGeom>
          <a:solidFill>
            <a:srgbClr val="F7F2E9"/>
          </a:solidFill>
          <a:ln w="19050">
            <a:solidFill>
              <a:srgbClr val="D2BE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56048"/>
            <a:ext cx="1063721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E59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但放出來有代價：</a:t>
            </a:r>
            <a:pPr algn="l" indent="0" marL="0"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去分母、平方，都可能多生出「假的解」。所以三站的最後一步都是——驗根。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4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7CE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B7CEC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377440" cy="987552"/>
          </a:xfrm>
          <a:prstGeom prst="roundRect">
            <a:avLst>
              <a:gd name="adj" fmla="val 32407"/>
            </a:avLst>
          </a:prstGeom>
          <a:solidFill>
            <a:srgbClr val="3E6E5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46120" y="1847088"/>
            <a:ext cx="8396935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12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11094415" cy="1170432"/>
          </a:xfrm>
          <a:prstGeom prst="roundRect">
            <a:avLst>
              <a:gd name="adj" fmla="val 10938"/>
            </a:avLst>
          </a:prstGeom>
          <a:solidFill>
            <a:srgbClr val="1630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10128"/>
            <a:ext cx="10637215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80" kern="0" dirty="0">
                <a:solidFill>
                  <a:srgbClr val="7DAB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3200" spc="80" kern="0" dirty="0">
                <a:solidFill>
                  <a:srgbClr val="EAF2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把未知數從分母裡放出來，並且知道為什麼一定要驗根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方法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分式方程：四步做完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754880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4754880" cy="658368"/>
          </a:xfrm>
          <a:prstGeom prst="roundRect">
            <a:avLst>
              <a:gd name="adj" fmla="val 19444"/>
            </a:avLst>
          </a:prstGeom>
          <a:solidFill>
            <a:srgbClr val="3E6E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86384" y="2648331"/>
            <a:ext cx="420624" cy="420624"/>
          </a:xfrm>
          <a:prstGeom prst="ellipse">
            <a:avLst/>
          </a:prstGeom>
          <a:solidFill>
            <a:srgbClr val="2F5747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64833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53312" y="2441448"/>
            <a:ext cx="371246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找出最簡公分母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86384" y="3482721"/>
            <a:ext cx="420624" cy="420624"/>
          </a:xfrm>
          <a:prstGeom prst="ellipse">
            <a:avLst/>
          </a:prstGeom>
          <a:solidFill>
            <a:srgbClr val="2F5747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8272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353312" y="3275838"/>
            <a:ext cx="371246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兩邊同乘公分母，去掉分母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86384" y="4317111"/>
            <a:ext cx="420624" cy="420624"/>
          </a:xfrm>
          <a:prstGeom prst="ellipse">
            <a:avLst/>
          </a:prstGeom>
          <a:solidFill>
            <a:srgbClr val="2F5747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31711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353312" y="4110228"/>
            <a:ext cx="371246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解出這條整式方程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786384" y="5151501"/>
            <a:ext cx="420624" cy="420624"/>
          </a:xfrm>
          <a:prstGeom prst="ellipse">
            <a:avLst/>
          </a:prstGeom>
          <a:solidFill>
            <a:srgbClr val="2F5747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515150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353312" y="4944618"/>
            <a:ext cx="371246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把答案代回原方程驗根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669280" y="1645920"/>
            <a:ext cx="5973775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645920"/>
            <a:ext cx="5973775" cy="658368"/>
          </a:xfrm>
          <a:prstGeom prst="roundRect">
            <a:avLst>
              <a:gd name="adj" fmla="val 19444"/>
            </a:avLst>
          </a:prstGeom>
          <a:solidFill>
            <a:srgbClr val="3E6E5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1645920"/>
            <a:ext cx="5973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 · 一行一個等號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5806440" y="2374392"/>
            <a:ext cx="3429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879592" y="2719578"/>
            <a:ext cx="196596" cy="9144"/>
          </a:xfrm>
          <a:prstGeom prst="line">
            <a:avLst/>
          </a:prstGeom>
          <a:noFill/>
          <a:ln w="19050">
            <a:solidFill>
              <a:srgbClr val="1E37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756154"/>
            <a:ext cx="3429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76772" y="2441448"/>
            <a:ext cx="1839976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- 2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492496" y="2441448"/>
            <a:ext cx="2031084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5806440" y="2997708"/>
            <a:ext cx="3703741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= x(x - 2)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9492496" y="2997708"/>
            <a:ext cx="2031084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兩邊乘 x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5806440" y="3553968"/>
            <a:ext cx="3703741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- 2x - 3 = 0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9492496" y="3553968"/>
            <a:ext cx="2031084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5806440" y="4110228"/>
            <a:ext cx="3703741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- 3)(x + 1) = 0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9492496" y="4110228"/>
            <a:ext cx="2031084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5806440" y="4666488"/>
            <a:ext cx="3703741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　或　x = -1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9492496" y="4666488"/>
            <a:ext cx="2031084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分兩支寫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5806440" y="5222748"/>
            <a:ext cx="3703741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x = 3 或 x = -1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9492496" y="5222748"/>
            <a:ext cx="2031084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驗根後作答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548640" y="5888736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驗根：x = -1 代回原方程，分母不為 0，兩根都保留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概念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為什麼會多出「假的解」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4573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3545738" cy="658368"/>
          </a:xfrm>
          <a:prstGeom prst="roundRect">
            <a:avLst>
              <a:gd name="adj" fmla="val 19444"/>
            </a:avLst>
          </a:prstGeom>
          <a:solidFill>
            <a:srgbClr val="3E6E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55648"/>
            <a:ext cx="35457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2642616"/>
            <a:ext cx="3271418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個餅分給 x 個人。</a:t>
            </a:r>
            <a:endParaRPr lang="en-US" sz="2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x = 0，</a:t>
            </a:r>
            <a:endParaRPr lang="en-US" sz="2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這句話講不通。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322978" y="1755648"/>
            <a:ext cx="354573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2978" y="1755648"/>
            <a:ext cx="3545738" cy="658368"/>
          </a:xfrm>
          <a:prstGeom prst="roundRect">
            <a:avLst>
              <a:gd name="adj" fmla="val 19444"/>
            </a:avLst>
          </a:prstGeom>
          <a:solidFill>
            <a:srgbClr val="3E6E58"/>
          </a:solidFill>
          <a:ln/>
        </p:spPr>
      </p:sp>
      <p:sp>
        <p:nvSpPr>
          <p:cNvPr id="12" name="Text 10"/>
          <p:cNvSpPr/>
          <p:nvPr/>
        </p:nvSpPr>
        <p:spPr>
          <a:xfrm>
            <a:off x="4322978" y="1755648"/>
            <a:ext cx="35457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460138" y="2642616"/>
            <a:ext cx="3271418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數線上把 x = 0</a:t>
            </a:r>
            <a:endParaRPr lang="en-US" sz="2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挖走，變成空心點。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97317" y="1755648"/>
            <a:ext cx="354573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7317" y="1755648"/>
            <a:ext cx="3545738" cy="658368"/>
          </a:xfrm>
          <a:prstGeom prst="roundRect">
            <a:avLst>
              <a:gd name="adj" fmla="val 19444"/>
            </a:avLst>
          </a:prstGeom>
          <a:solidFill>
            <a:srgbClr val="3E6E58"/>
          </a:solidFill>
          <a:ln/>
        </p:spPr>
      </p:sp>
      <p:sp>
        <p:nvSpPr>
          <p:cNvPr id="16" name="Text 14"/>
          <p:cNvSpPr/>
          <p:nvPr/>
        </p:nvSpPr>
        <p:spPr>
          <a:xfrm>
            <a:off x="8097317" y="1755648"/>
            <a:ext cx="35457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234477" y="2642616"/>
            <a:ext cx="3271418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≠ 0 是原方程</a:t>
            </a:r>
            <a:endParaRPr lang="en-US" sz="2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自帶的限制。</a:t>
            </a:r>
            <a:endParaRPr lang="en-US" sz="2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去分母後就消失了。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4415" cy="841248"/>
          </a:xfrm>
          <a:prstGeom prst="roundRect">
            <a:avLst>
              <a:gd name="adj" fmla="val 15217"/>
            </a:avLst>
          </a:prstGeom>
          <a:solidFill>
            <a:srgbClr val="2F574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54880"/>
            <a:ext cx="106372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去分母令方程「變寬」了：新方程的解，不一定是原方程的解</a:t>
            </a:r>
            <a:endParaRPr lang="en-US" sz="2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練習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挑一個開始做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45738" cy="361188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3545738" cy="786384"/>
          </a:xfrm>
          <a:prstGeom prst="roundRect">
            <a:avLst>
              <a:gd name="adj" fmla="val 16279"/>
            </a:avLst>
          </a:prstGeom>
          <a:solidFill>
            <a:srgbClr val="CFE1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10512"/>
            <a:ext cx="3545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5457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2770632"/>
            <a:ext cx="3271418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3425571"/>
            <a:ext cx="33502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" y="3753612"/>
            <a:ext cx="188722" cy="9144"/>
          </a:xfrm>
          <a:prstGeom prst="line">
            <a:avLst/>
          </a:prstGeom>
          <a:noFill/>
          <a:ln w="19050">
            <a:solidFill>
              <a:srgbClr val="1E37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90188"/>
            <a:ext cx="33502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8258" y="3357372"/>
            <a:ext cx="1052576" cy="792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4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85800" y="4199382"/>
            <a:ext cx="3271418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提示：先兩邊乘 x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322978" y="1755648"/>
            <a:ext cx="3545738" cy="361188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2978" y="1755648"/>
            <a:ext cx="3545738" cy="786384"/>
          </a:xfrm>
          <a:prstGeom prst="roundRect">
            <a:avLst>
              <a:gd name="adj" fmla="val 16279"/>
            </a:avLst>
          </a:prstGeom>
          <a:solidFill>
            <a:srgbClr val="CFE1D8"/>
          </a:solidFill>
          <a:ln/>
        </p:spPr>
      </p:sp>
      <p:sp>
        <p:nvSpPr>
          <p:cNvPr id="18" name="Text 16"/>
          <p:cNvSpPr/>
          <p:nvPr/>
        </p:nvSpPr>
        <p:spPr>
          <a:xfrm>
            <a:off x="4322978" y="1810512"/>
            <a:ext cx="3545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322978" y="2176272"/>
            <a:ext cx="35457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460138" y="2770632"/>
            <a:ext cx="3271418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解：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60138" y="3425571"/>
            <a:ext cx="60274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33290" y="3753612"/>
            <a:ext cx="456438" cy="9144"/>
          </a:xfrm>
          <a:prstGeom prst="line">
            <a:avLst/>
          </a:prstGeom>
          <a:noFill/>
          <a:ln w="19050">
            <a:solidFill>
              <a:srgbClr val="1E37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0138" y="3790188"/>
            <a:ext cx="60274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90312" y="3357372"/>
            <a:ext cx="1839976" cy="792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 + 1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4460138" y="4199382"/>
            <a:ext cx="3271418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記得驗根。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097317" y="1755648"/>
            <a:ext cx="3545738" cy="361188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7317" y="1755648"/>
            <a:ext cx="3545738" cy="786384"/>
          </a:xfrm>
          <a:prstGeom prst="roundRect">
            <a:avLst>
              <a:gd name="adj" fmla="val 16279"/>
            </a:avLst>
          </a:prstGeom>
          <a:solidFill>
            <a:srgbClr val="CFE1D8"/>
          </a:solidFill>
          <a:ln/>
        </p:spPr>
      </p:sp>
      <p:sp>
        <p:nvSpPr>
          <p:cNvPr id="28" name="Text 26"/>
          <p:cNvSpPr/>
          <p:nvPr/>
        </p:nvSpPr>
        <p:spPr>
          <a:xfrm>
            <a:off x="8097317" y="1810512"/>
            <a:ext cx="3545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097317" y="2176272"/>
            <a:ext cx="35457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8234477" y="2770632"/>
            <a:ext cx="3271418" cy="1485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設計一條分式方程，</a:t>
            </a:r>
            <a:endParaRPr lang="en-US" sz="2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去分母後有兩個解，</a:t>
            </a:r>
            <a:endParaRPr lang="en-US" sz="2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其中一個是增根。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548640" y="5504688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7F2E9"/>
          </a:solidFill>
          <a:ln w="19050">
            <a:solidFill>
              <a:srgbClr val="D2BE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04688"/>
            <a:ext cx="10637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做完先自己核對：分母有沒有變成 0？有的話那個解要刪走。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圖表組件示範（概率初步）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 60 次的實驗結果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7406640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4645152"/>
            <a:ext cx="6400800" cy="9144"/>
          </a:xfrm>
          <a:prstGeom prst="line">
            <a:avLst/>
          </a:prstGeom>
          <a:noFill/>
          <a:ln w="12700">
            <a:solidFill>
              <a:srgbClr val="AECB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560320"/>
            <a:ext cx="1981200" cy="2084832"/>
          </a:xfrm>
          <a:prstGeom prst="roundRect">
            <a:avLst>
              <a:gd name="adj" fmla="val 2538"/>
            </a:avLst>
          </a:prstGeom>
          <a:solidFill>
            <a:srgbClr val="006C9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57984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次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51560" y="4700016"/>
            <a:ext cx="1981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紅球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3261360" y="3023616"/>
            <a:ext cx="1981200" cy="1621536"/>
          </a:xfrm>
          <a:prstGeom prst="roundRect">
            <a:avLst>
              <a:gd name="adj" fmla="val 3102"/>
            </a:avLst>
          </a:prstGeom>
          <a:solidFill>
            <a:srgbClr val="D5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61360" y="262128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次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261360" y="4700016"/>
            <a:ext cx="1981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藍球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5471160" y="3718560"/>
            <a:ext cx="1981200" cy="926592"/>
          </a:xfrm>
          <a:prstGeom prst="roundRect">
            <a:avLst>
              <a:gd name="adj" fmla="val 5428"/>
            </a:avLst>
          </a:prstGeom>
          <a:solidFill>
            <a:srgbClr val="00916A"/>
          </a:solidFill>
          <a:ln/>
        </p:spPr>
      </p:sp>
      <p:sp>
        <p:nvSpPr>
          <p:cNvPr id="15" name="Text 13"/>
          <p:cNvSpPr/>
          <p:nvPr/>
        </p:nvSpPr>
        <p:spPr>
          <a:xfrm>
            <a:off x="5471160" y="3316224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次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471160" y="4700016"/>
            <a:ext cx="1981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黃球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8275320" y="1755648"/>
            <a:ext cx="3367735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65376"/>
            <a:ext cx="336773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75320" y="2686050"/>
            <a:ext cx="3367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總抽取次數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015234"/>
            <a:ext cx="33677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每次抽完放回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75320" y="3648456"/>
            <a:ext cx="3367735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758184"/>
            <a:ext cx="3367735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75320" y="4593946"/>
            <a:ext cx="3367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A5F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紅球的頻率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8275320" y="4923130"/>
            <a:ext cx="33677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÷ 60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541264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每根柱都直接標了次數 —— 就算印黑白、或看不清顏色，資料仍然讀得到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分式方程・無理方程・二元二次方程組（抽離小組·融合版）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820095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86C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2F57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106372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三種方程，同一個念頭：把未知數放出來，代價是可能生出假解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3035808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3E6E5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03580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2944368"/>
            <a:ext cx="8945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分母裡 → 去分母 → 驗根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3913632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3E6E58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91363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23160" y="3822192"/>
            <a:ext cx="8945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根號裡 → 兩邊平方 → 驗根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AECB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479145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3E6E58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7914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F2F7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423160" y="4700016"/>
            <a:ext cx="8945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兩條方程 → 代入消元 → 回代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48640" y="5614416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CFE1D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614416"/>
            <a:ext cx="10637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57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保底版：</a:t>
            </a:r>
            <a:pPr algn="l" indent="0" marL="0">
              <a:buNone/>
            </a:pPr>
            <a:r>
              <a:rPr lang="en-US" sz="2600" dirty="0">
                <a:solidFill>
                  <a:srgbClr val="1E37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解完之後，一定要把答案代回原本那條方程檢查一次。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分式方程・無理方程・二元二次方程組（融合抽離版・美化試驗）</dc:title>
  <dc:subject>PptxGenJS Presentation</dc:subject>
  <dc:creator>初三數學抽離小組</dc:creator>
  <cp:lastModifiedBy>初三數學抽離小組</cp:lastModifiedBy>
  <cp:revision>1</cp:revision>
  <dcterms:created xsi:type="dcterms:W3CDTF">2026-08-13T06:53:03Z</dcterms:created>
  <dcterms:modified xsi:type="dcterms:W3CDTF">2026-08-13T06:53:03Z</dcterms:modified>
</cp:coreProperties>
</file>